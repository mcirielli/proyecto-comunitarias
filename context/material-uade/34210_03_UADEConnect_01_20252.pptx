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54"/>
  </p:notesMasterIdLst>
  <p:handoutMasterIdLst>
    <p:handoutMasterId r:id="rId55"/>
  </p:handoutMasterIdLst>
  <p:sldIdLst>
    <p:sldId id="344" r:id="rId7"/>
    <p:sldId id="346" r:id="rId8"/>
    <p:sldId id="258" r:id="rId9"/>
    <p:sldId id="326" r:id="rId10"/>
    <p:sldId id="348" r:id="rId11"/>
    <p:sldId id="347" r:id="rId12"/>
    <p:sldId id="386" r:id="rId13"/>
    <p:sldId id="349" r:id="rId14"/>
    <p:sldId id="350" r:id="rId15"/>
    <p:sldId id="351" r:id="rId16"/>
    <p:sldId id="352" r:id="rId17"/>
    <p:sldId id="355" r:id="rId18"/>
    <p:sldId id="357" r:id="rId19"/>
    <p:sldId id="356" r:id="rId20"/>
    <p:sldId id="358" r:id="rId21"/>
    <p:sldId id="359" r:id="rId22"/>
    <p:sldId id="360" r:id="rId23"/>
    <p:sldId id="361" r:id="rId24"/>
    <p:sldId id="362" r:id="rId25"/>
    <p:sldId id="364" r:id="rId26"/>
    <p:sldId id="363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9" r:id="rId41"/>
    <p:sldId id="378" r:id="rId42"/>
    <p:sldId id="380" r:id="rId43"/>
    <p:sldId id="381" r:id="rId44"/>
    <p:sldId id="382" r:id="rId45"/>
    <p:sldId id="383" r:id="rId46"/>
    <p:sldId id="384" r:id="rId47"/>
    <p:sldId id="385" r:id="rId48"/>
    <p:sldId id="354" r:id="rId49"/>
    <p:sldId id="353" r:id="rId50"/>
    <p:sldId id="387" r:id="rId51"/>
    <p:sldId id="316" r:id="rId52"/>
    <p:sldId id="272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750015-3652-02A8-0D0A-71379D6E28F1}" v="5" dt="2025-10-22T15:02:59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82" autoAdjust="0"/>
    <p:restoredTop sz="96654" autoAdjust="0"/>
  </p:normalViewPr>
  <p:slideViewPr>
    <p:cSldViewPr snapToGrid="0">
      <p:cViewPr varScale="1">
        <p:scale>
          <a:sx n="69" d="100"/>
          <a:sy n="69" d="100"/>
        </p:scale>
        <p:origin x="6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microsoft.com/office/2018/10/relationships/authors" Target="author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FD1FCA-8EC3-4099-93EE-EEA94EE59154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s-AR"/>
        </a:p>
      </dgm:t>
    </dgm:pt>
    <dgm:pt modelId="{41AE5BDA-4518-452E-A0D5-B6640394D8ED}">
      <dgm:prSet/>
      <dgm:spPr/>
      <dgm:t>
        <a:bodyPr/>
        <a:lstStyle/>
        <a:p>
          <a:pPr algn="just"/>
          <a:r>
            <a:rPr lang="es-ES" b="1"/>
            <a:t>• El comportamiento de una entidad debe poder ser alterado sin tener que modificar su propio código fuente. </a:t>
          </a:r>
          <a:endParaRPr lang="es-AR" b="1"/>
        </a:p>
      </dgm:t>
    </dgm:pt>
    <dgm:pt modelId="{D898A1F2-EE0E-49E6-85D4-7A56C9651C21}" type="parTrans" cxnId="{FE1FD32F-82C9-4804-9E30-196C73895668}">
      <dgm:prSet/>
      <dgm:spPr/>
      <dgm:t>
        <a:bodyPr/>
        <a:lstStyle/>
        <a:p>
          <a:pPr algn="just"/>
          <a:endParaRPr lang="es-AR" b="1"/>
        </a:p>
      </dgm:t>
    </dgm:pt>
    <dgm:pt modelId="{BC9FA492-4DB4-4C44-9E9E-7E4E2CF3A078}" type="sibTrans" cxnId="{FE1FD32F-82C9-4804-9E30-196C73895668}">
      <dgm:prSet/>
      <dgm:spPr/>
      <dgm:t>
        <a:bodyPr/>
        <a:lstStyle/>
        <a:p>
          <a:pPr algn="just"/>
          <a:endParaRPr lang="es-AR" b="1"/>
        </a:p>
      </dgm:t>
    </dgm:pt>
    <dgm:pt modelId="{BB65B024-4FCC-4278-84BD-00C17933AEE1}">
      <dgm:prSet/>
      <dgm:spPr/>
      <dgm:t>
        <a:bodyPr/>
        <a:lstStyle/>
        <a:p>
          <a:pPr algn="just"/>
          <a:r>
            <a:rPr lang="es-ES" b="1"/>
            <a:t>• Una clase no se puede modificar, pero si se puede extender haciendo uso de la herencia. </a:t>
          </a:r>
          <a:endParaRPr lang="es-AR" b="1"/>
        </a:p>
      </dgm:t>
    </dgm:pt>
    <dgm:pt modelId="{EC54634A-3DE3-4A40-811E-40B7A43E8A84}" type="parTrans" cxnId="{36A93615-CC12-4F2F-A49C-5301CF7B9F9C}">
      <dgm:prSet/>
      <dgm:spPr/>
      <dgm:t>
        <a:bodyPr/>
        <a:lstStyle/>
        <a:p>
          <a:pPr algn="just"/>
          <a:endParaRPr lang="es-AR" b="1"/>
        </a:p>
      </dgm:t>
    </dgm:pt>
    <dgm:pt modelId="{BBD55668-BEA7-4022-9CAB-E9AD4EE16442}" type="sibTrans" cxnId="{36A93615-CC12-4F2F-A49C-5301CF7B9F9C}">
      <dgm:prSet/>
      <dgm:spPr/>
      <dgm:t>
        <a:bodyPr/>
        <a:lstStyle/>
        <a:p>
          <a:pPr algn="just"/>
          <a:endParaRPr lang="es-AR" b="1"/>
        </a:p>
      </dgm:t>
    </dgm:pt>
    <dgm:pt modelId="{87D19FB9-0E2A-4D20-97FF-B0D09C759AD4}">
      <dgm:prSet/>
      <dgm:spPr/>
      <dgm:t>
        <a:bodyPr/>
        <a:lstStyle/>
        <a:p>
          <a:pPr algn="just"/>
          <a:r>
            <a:rPr lang="es-ES" b="1"/>
            <a:t>• Se centra en mantener bajo el acoplamiento.</a:t>
          </a:r>
          <a:endParaRPr lang="es-AR" b="1"/>
        </a:p>
      </dgm:t>
    </dgm:pt>
    <dgm:pt modelId="{FDE5FFE5-42DF-44E4-8ACD-6C492A721563}" type="parTrans" cxnId="{F7FF99A0-CF85-472F-881C-247D1239BFBA}">
      <dgm:prSet/>
      <dgm:spPr/>
      <dgm:t>
        <a:bodyPr/>
        <a:lstStyle/>
        <a:p>
          <a:pPr algn="just"/>
          <a:endParaRPr lang="es-AR" b="1"/>
        </a:p>
      </dgm:t>
    </dgm:pt>
    <dgm:pt modelId="{CD57D787-3CE5-4A77-9AD4-1105909C60C6}" type="sibTrans" cxnId="{F7FF99A0-CF85-472F-881C-247D1239BFBA}">
      <dgm:prSet/>
      <dgm:spPr/>
      <dgm:t>
        <a:bodyPr/>
        <a:lstStyle/>
        <a:p>
          <a:pPr algn="just"/>
          <a:endParaRPr lang="es-AR" b="1"/>
        </a:p>
      </dgm:t>
    </dgm:pt>
    <dgm:pt modelId="{E77F3D34-12E3-4721-988C-7537D5821A08}" type="pres">
      <dgm:prSet presAssocID="{84FD1FCA-8EC3-4099-93EE-EEA94EE59154}" presName="linear" presStyleCnt="0">
        <dgm:presLayoutVars>
          <dgm:animLvl val="lvl"/>
          <dgm:resizeHandles val="exact"/>
        </dgm:presLayoutVars>
      </dgm:prSet>
      <dgm:spPr/>
    </dgm:pt>
    <dgm:pt modelId="{FCF024F7-CB74-4CC0-8F12-4A3C4D9CD33B}" type="pres">
      <dgm:prSet presAssocID="{41AE5BDA-4518-452E-A0D5-B6640394D8E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5B3B2F-807A-4B24-B77B-7BC6A7E219B8}" type="pres">
      <dgm:prSet presAssocID="{BC9FA492-4DB4-4C44-9E9E-7E4E2CF3A078}" presName="spacer" presStyleCnt="0"/>
      <dgm:spPr/>
    </dgm:pt>
    <dgm:pt modelId="{884CC0CB-9F39-45C4-843D-537B14403B43}" type="pres">
      <dgm:prSet presAssocID="{BB65B024-4FCC-4278-84BD-00C17933AE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12A99F-6195-4DB8-8CCF-DD08D49987D7}" type="pres">
      <dgm:prSet presAssocID="{BBD55668-BEA7-4022-9CAB-E9AD4EE16442}" presName="spacer" presStyleCnt="0"/>
      <dgm:spPr/>
    </dgm:pt>
    <dgm:pt modelId="{6B346F51-F6AF-46AB-8E68-CF3A6A6910D9}" type="pres">
      <dgm:prSet presAssocID="{87D19FB9-0E2A-4D20-97FF-B0D09C759A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74BF810-DC2D-497D-BCDD-A24C59C07F50}" type="presOf" srcId="{87D19FB9-0E2A-4D20-97FF-B0D09C759AD4}" destId="{6B346F51-F6AF-46AB-8E68-CF3A6A6910D9}" srcOrd="0" destOrd="0" presId="urn:microsoft.com/office/officeart/2005/8/layout/vList2"/>
    <dgm:cxn modelId="{6C801612-7665-4433-A3E4-7EA248E1505B}" type="presOf" srcId="{BB65B024-4FCC-4278-84BD-00C17933AEE1}" destId="{884CC0CB-9F39-45C4-843D-537B14403B43}" srcOrd="0" destOrd="0" presId="urn:microsoft.com/office/officeart/2005/8/layout/vList2"/>
    <dgm:cxn modelId="{36A93615-CC12-4F2F-A49C-5301CF7B9F9C}" srcId="{84FD1FCA-8EC3-4099-93EE-EEA94EE59154}" destId="{BB65B024-4FCC-4278-84BD-00C17933AEE1}" srcOrd="1" destOrd="0" parTransId="{EC54634A-3DE3-4A40-811E-40B7A43E8A84}" sibTransId="{BBD55668-BEA7-4022-9CAB-E9AD4EE16442}"/>
    <dgm:cxn modelId="{4D791A21-1122-4128-A334-4ABB05112E9D}" type="presOf" srcId="{84FD1FCA-8EC3-4099-93EE-EEA94EE59154}" destId="{E77F3D34-12E3-4721-988C-7537D5821A08}" srcOrd="0" destOrd="0" presId="urn:microsoft.com/office/officeart/2005/8/layout/vList2"/>
    <dgm:cxn modelId="{408A1D2C-52FC-4974-9909-AB2866424D4B}" type="presOf" srcId="{41AE5BDA-4518-452E-A0D5-B6640394D8ED}" destId="{FCF024F7-CB74-4CC0-8F12-4A3C4D9CD33B}" srcOrd="0" destOrd="0" presId="urn:microsoft.com/office/officeart/2005/8/layout/vList2"/>
    <dgm:cxn modelId="{FE1FD32F-82C9-4804-9E30-196C73895668}" srcId="{84FD1FCA-8EC3-4099-93EE-EEA94EE59154}" destId="{41AE5BDA-4518-452E-A0D5-B6640394D8ED}" srcOrd="0" destOrd="0" parTransId="{D898A1F2-EE0E-49E6-85D4-7A56C9651C21}" sibTransId="{BC9FA492-4DB4-4C44-9E9E-7E4E2CF3A078}"/>
    <dgm:cxn modelId="{F7FF99A0-CF85-472F-881C-247D1239BFBA}" srcId="{84FD1FCA-8EC3-4099-93EE-EEA94EE59154}" destId="{87D19FB9-0E2A-4D20-97FF-B0D09C759AD4}" srcOrd="2" destOrd="0" parTransId="{FDE5FFE5-42DF-44E4-8ACD-6C492A721563}" sibTransId="{CD57D787-3CE5-4A77-9AD4-1105909C60C6}"/>
    <dgm:cxn modelId="{C00CB340-287F-4682-82E2-A772A4D5FE28}" type="presParOf" srcId="{E77F3D34-12E3-4721-988C-7537D5821A08}" destId="{FCF024F7-CB74-4CC0-8F12-4A3C4D9CD33B}" srcOrd="0" destOrd="0" presId="urn:microsoft.com/office/officeart/2005/8/layout/vList2"/>
    <dgm:cxn modelId="{FA5E72C3-8325-4F8E-AF19-50BAA81B0BFA}" type="presParOf" srcId="{E77F3D34-12E3-4721-988C-7537D5821A08}" destId="{B25B3B2F-807A-4B24-B77B-7BC6A7E219B8}" srcOrd="1" destOrd="0" presId="urn:microsoft.com/office/officeart/2005/8/layout/vList2"/>
    <dgm:cxn modelId="{A6A85D9A-61E3-4D89-83EA-436118228955}" type="presParOf" srcId="{E77F3D34-12E3-4721-988C-7537D5821A08}" destId="{884CC0CB-9F39-45C4-843D-537B14403B43}" srcOrd="2" destOrd="0" presId="urn:microsoft.com/office/officeart/2005/8/layout/vList2"/>
    <dgm:cxn modelId="{DB15557B-78E5-453F-9457-163FF2B26EDA}" type="presParOf" srcId="{E77F3D34-12E3-4721-988C-7537D5821A08}" destId="{2712A99F-6195-4DB8-8CCF-DD08D49987D7}" srcOrd="3" destOrd="0" presId="urn:microsoft.com/office/officeart/2005/8/layout/vList2"/>
    <dgm:cxn modelId="{6A509675-707F-4D9E-9E01-F3A1884FD421}" type="presParOf" srcId="{E77F3D34-12E3-4721-988C-7537D5821A08}" destId="{6B346F51-F6AF-46AB-8E68-CF3A6A6910D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70448A-4537-4FE8-90E8-69449D78D88B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4893C211-E0E6-434E-915F-B08D7836B735}">
      <dgm:prSet custT="1"/>
      <dgm:spPr/>
      <dgm:t>
        <a:bodyPr/>
        <a:lstStyle/>
        <a:p>
          <a:r>
            <a:rPr lang="es-ES" sz="2400" b="1" dirty="0"/>
            <a:t>• Extensión del principio </a:t>
          </a:r>
          <a:r>
            <a:rPr lang="es-ES" sz="2400" b="1" i="1" dirty="0"/>
            <a:t>open/</a:t>
          </a:r>
          <a:r>
            <a:rPr lang="es-ES" sz="2400" b="1" i="1" dirty="0" err="1"/>
            <a:t>closed</a:t>
          </a:r>
          <a:r>
            <a:rPr lang="es-ES" sz="2400" b="1" dirty="0"/>
            <a:t>. </a:t>
          </a:r>
          <a:endParaRPr lang="es-AR" sz="2400" b="1" dirty="0"/>
        </a:p>
      </dgm:t>
    </dgm:pt>
    <dgm:pt modelId="{B189281C-B886-4526-87AD-3306E51CCE71}" type="parTrans" cxnId="{19E32D62-7AD8-4409-B005-EA19DE886A24}">
      <dgm:prSet/>
      <dgm:spPr/>
      <dgm:t>
        <a:bodyPr/>
        <a:lstStyle/>
        <a:p>
          <a:endParaRPr lang="es-AR" sz="2400" b="1"/>
        </a:p>
      </dgm:t>
    </dgm:pt>
    <dgm:pt modelId="{A433FD08-6969-4D30-9D1C-0B1D66BC2077}" type="sibTrans" cxnId="{19E32D62-7AD8-4409-B005-EA19DE886A24}">
      <dgm:prSet/>
      <dgm:spPr/>
      <dgm:t>
        <a:bodyPr/>
        <a:lstStyle/>
        <a:p>
          <a:endParaRPr lang="es-AR" sz="2400" b="1"/>
        </a:p>
      </dgm:t>
    </dgm:pt>
    <dgm:pt modelId="{528BABBB-0F07-479B-BBBB-70180A3F9D26}">
      <dgm:prSet custT="1"/>
      <dgm:spPr/>
      <dgm:t>
        <a:bodyPr/>
        <a:lstStyle/>
        <a:p>
          <a:r>
            <a:rPr lang="es-ES" sz="2400" b="1" dirty="0"/>
            <a:t>• Una clase derivada puede ser reemplazada por cualquier otra que use su clase base sin alterar el correcto funcionamiento de un programa. </a:t>
          </a:r>
          <a:endParaRPr lang="es-AR" sz="2400" b="1" dirty="0"/>
        </a:p>
      </dgm:t>
    </dgm:pt>
    <dgm:pt modelId="{8F2B836B-3498-47B6-9087-5A17F76E0EE8}" type="parTrans" cxnId="{F2B23545-5555-4981-A6D1-B7E9CF03FCAF}">
      <dgm:prSet/>
      <dgm:spPr/>
      <dgm:t>
        <a:bodyPr/>
        <a:lstStyle/>
        <a:p>
          <a:endParaRPr lang="es-AR" sz="2400" b="1"/>
        </a:p>
      </dgm:t>
    </dgm:pt>
    <dgm:pt modelId="{2DA32FDA-E6BE-48E9-B944-289B29CE24BE}" type="sibTrans" cxnId="{F2B23545-5555-4981-A6D1-B7E9CF03FCAF}">
      <dgm:prSet/>
      <dgm:spPr/>
      <dgm:t>
        <a:bodyPr/>
        <a:lstStyle/>
        <a:p>
          <a:endParaRPr lang="es-AR" sz="2400" b="1"/>
        </a:p>
      </dgm:t>
    </dgm:pt>
    <dgm:pt modelId="{F21590F9-5351-49DA-95B7-D6A2CA649023}">
      <dgm:prSet custT="1"/>
      <dgm:spPr/>
      <dgm:t>
        <a:bodyPr/>
        <a:lstStyle/>
        <a:p>
          <a:r>
            <a:rPr lang="es-ES" sz="2400" b="1"/>
            <a:t>• Si una función espera como parámetro una clase base esta puede ser reemplazada por cualquier clase derivada. </a:t>
          </a:r>
          <a:endParaRPr lang="es-AR" sz="2400" b="1"/>
        </a:p>
      </dgm:t>
    </dgm:pt>
    <dgm:pt modelId="{88C4E10F-3995-4169-8EC6-B9C3C18AD1BA}" type="parTrans" cxnId="{A0BECF5C-5B1D-48A2-B878-675A17D2A608}">
      <dgm:prSet/>
      <dgm:spPr/>
      <dgm:t>
        <a:bodyPr/>
        <a:lstStyle/>
        <a:p>
          <a:endParaRPr lang="es-AR" sz="2400" b="1"/>
        </a:p>
      </dgm:t>
    </dgm:pt>
    <dgm:pt modelId="{130314A5-9AC1-40A1-A865-485D5D3DA7E2}" type="sibTrans" cxnId="{A0BECF5C-5B1D-48A2-B878-675A17D2A608}">
      <dgm:prSet/>
      <dgm:spPr/>
      <dgm:t>
        <a:bodyPr/>
        <a:lstStyle/>
        <a:p>
          <a:endParaRPr lang="es-AR" sz="2400" b="1"/>
        </a:p>
      </dgm:t>
    </dgm:pt>
    <dgm:pt modelId="{5B1BD9E2-8ACF-40B7-B8AF-A07BC809C1C7}">
      <dgm:prSet custT="1"/>
      <dgm:spPr/>
      <dgm:t>
        <a:bodyPr/>
        <a:lstStyle/>
        <a:p>
          <a:r>
            <a:rPr lang="es-ES" sz="2400" b="1"/>
            <a:t>• Una subclase no debe remover ni modificar comportamiento de la clase base, no debe conocer a los demás subtipos. </a:t>
          </a:r>
          <a:endParaRPr lang="es-AR" sz="2400" b="1"/>
        </a:p>
      </dgm:t>
    </dgm:pt>
    <dgm:pt modelId="{6CF12406-EFB9-4F6A-BF19-B93BBBD61A02}" type="parTrans" cxnId="{C32EDB68-EDB8-4161-8BE9-C652D0F286F4}">
      <dgm:prSet/>
      <dgm:spPr/>
      <dgm:t>
        <a:bodyPr/>
        <a:lstStyle/>
        <a:p>
          <a:endParaRPr lang="es-AR" sz="2400" b="1"/>
        </a:p>
      </dgm:t>
    </dgm:pt>
    <dgm:pt modelId="{25D0421A-CF99-4C43-B744-DFAB83626F70}" type="sibTrans" cxnId="{C32EDB68-EDB8-4161-8BE9-C652D0F286F4}">
      <dgm:prSet/>
      <dgm:spPr/>
      <dgm:t>
        <a:bodyPr/>
        <a:lstStyle/>
        <a:p>
          <a:endParaRPr lang="es-AR" sz="2400" b="1"/>
        </a:p>
      </dgm:t>
    </dgm:pt>
    <dgm:pt modelId="{AEB22506-BA5B-490A-8115-59C1DA510139}">
      <dgm:prSet custT="1"/>
      <dgm:spPr/>
      <dgm:t>
        <a:bodyPr/>
        <a:lstStyle/>
        <a:p>
          <a:r>
            <a:rPr lang="es-ES" sz="2400" b="1"/>
            <a:t>• Si un subtipo hace algo que el cliente del supertipo no espera, es una violación al principio. </a:t>
          </a:r>
          <a:endParaRPr lang="es-AR" sz="2400" b="1"/>
        </a:p>
      </dgm:t>
    </dgm:pt>
    <dgm:pt modelId="{5BB802AB-6C9E-4FD4-9D7D-07834ECBF671}" type="parTrans" cxnId="{D495A73E-20D8-4DCE-904C-8135FB02EB27}">
      <dgm:prSet/>
      <dgm:spPr/>
      <dgm:t>
        <a:bodyPr/>
        <a:lstStyle/>
        <a:p>
          <a:endParaRPr lang="es-AR" sz="2400" b="1"/>
        </a:p>
      </dgm:t>
    </dgm:pt>
    <dgm:pt modelId="{F2FE2838-CAD8-41FE-BE49-B33515DA681B}" type="sibTrans" cxnId="{D495A73E-20D8-4DCE-904C-8135FB02EB27}">
      <dgm:prSet/>
      <dgm:spPr/>
      <dgm:t>
        <a:bodyPr/>
        <a:lstStyle/>
        <a:p>
          <a:endParaRPr lang="es-AR" sz="2400" b="1"/>
        </a:p>
      </dgm:t>
    </dgm:pt>
    <dgm:pt modelId="{5FB24B28-0AF3-4B39-866B-45A7401BE9E0}" type="pres">
      <dgm:prSet presAssocID="{F670448A-4537-4FE8-90E8-69449D78D88B}" presName="linear" presStyleCnt="0">
        <dgm:presLayoutVars>
          <dgm:animLvl val="lvl"/>
          <dgm:resizeHandles val="exact"/>
        </dgm:presLayoutVars>
      </dgm:prSet>
      <dgm:spPr/>
    </dgm:pt>
    <dgm:pt modelId="{6AF529D8-C923-4647-8F2A-9DAC0E487F35}" type="pres">
      <dgm:prSet presAssocID="{4893C211-E0E6-434E-915F-B08D7836B73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13EEC6C-4359-4DF4-BA73-7452EF4EFC5B}" type="pres">
      <dgm:prSet presAssocID="{A433FD08-6969-4D30-9D1C-0B1D66BC2077}" presName="spacer" presStyleCnt="0"/>
      <dgm:spPr/>
    </dgm:pt>
    <dgm:pt modelId="{77E6EA2D-238E-408E-9535-1FF8653E3AAC}" type="pres">
      <dgm:prSet presAssocID="{528BABBB-0F07-479B-BBBB-70180A3F9D26}" presName="parentText" presStyleLbl="node1" presStyleIdx="1" presStyleCnt="5" custScaleY="148379">
        <dgm:presLayoutVars>
          <dgm:chMax val="0"/>
          <dgm:bulletEnabled val="1"/>
        </dgm:presLayoutVars>
      </dgm:prSet>
      <dgm:spPr/>
    </dgm:pt>
    <dgm:pt modelId="{CC48734D-CE7B-4C9C-92A4-9FA0B065062D}" type="pres">
      <dgm:prSet presAssocID="{2DA32FDA-E6BE-48E9-B944-289B29CE24BE}" presName="spacer" presStyleCnt="0"/>
      <dgm:spPr/>
    </dgm:pt>
    <dgm:pt modelId="{B3C42D26-4CB9-48A6-9B86-5F5897F009E0}" type="pres">
      <dgm:prSet presAssocID="{F21590F9-5351-49DA-95B7-D6A2CA64902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A4415E0-9FD4-4042-8391-174EF35E92EA}" type="pres">
      <dgm:prSet presAssocID="{130314A5-9AC1-40A1-A865-485D5D3DA7E2}" presName="spacer" presStyleCnt="0"/>
      <dgm:spPr/>
    </dgm:pt>
    <dgm:pt modelId="{EE87F078-62D4-4395-98A4-61E75E8F95B1}" type="pres">
      <dgm:prSet presAssocID="{5B1BD9E2-8ACF-40B7-B8AF-A07BC809C1C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54935CC-347F-4E98-8EDD-2388CCA8138B}" type="pres">
      <dgm:prSet presAssocID="{25D0421A-CF99-4C43-B744-DFAB83626F70}" presName="spacer" presStyleCnt="0"/>
      <dgm:spPr/>
    </dgm:pt>
    <dgm:pt modelId="{8AA15250-A0E1-4CE5-8C2D-070755F83AFB}" type="pres">
      <dgm:prSet presAssocID="{AEB22506-BA5B-490A-8115-59C1DA51013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8096430-33FD-4574-8B19-146AE1B77A4E}" type="presOf" srcId="{528BABBB-0F07-479B-BBBB-70180A3F9D26}" destId="{77E6EA2D-238E-408E-9535-1FF8653E3AAC}" srcOrd="0" destOrd="0" presId="urn:microsoft.com/office/officeart/2005/8/layout/vList2"/>
    <dgm:cxn modelId="{F6390736-2A8A-40E3-91A4-EE080F2225AC}" type="presOf" srcId="{F670448A-4537-4FE8-90E8-69449D78D88B}" destId="{5FB24B28-0AF3-4B39-866B-45A7401BE9E0}" srcOrd="0" destOrd="0" presId="urn:microsoft.com/office/officeart/2005/8/layout/vList2"/>
    <dgm:cxn modelId="{D495A73E-20D8-4DCE-904C-8135FB02EB27}" srcId="{F670448A-4537-4FE8-90E8-69449D78D88B}" destId="{AEB22506-BA5B-490A-8115-59C1DA510139}" srcOrd="4" destOrd="0" parTransId="{5BB802AB-6C9E-4FD4-9D7D-07834ECBF671}" sibTransId="{F2FE2838-CAD8-41FE-BE49-B33515DA681B}"/>
    <dgm:cxn modelId="{A0BECF5C-5B1D-48A2-B878-675A17D2A608}" srcId="{F670448A-4537-4FE8-90E8-69449D78D88B}" destId="{F21590F9-5351-49DA-95B7-D6A2CA649023}" srcOrd="2" destOrd="0" parTransId="{88C4E10F-3995-4169-8EC6-B9C3C18AD1BA}" sibTransId="{130314A5-9AC1-40A1-A865-485D5D3DA7E2}"/>
    <dgm:cxn modelId="{19E32D62-7AD8-4409-B005-EA19DE886A24}" srcId="{F670448A-4537-4FE8-90E8-69449D78D88B}" destId="{4893C211-E0E6-434E-915F-B08D7836B735}" srcOrd="0" destOrd="0" parTransId="{B189281C-B886-4526-87AD-3306E51CCE71}" sibTransId="{A433FD08-6969-4D30-9D1C-0B1D66BC2077}"/>
    <dgm:cxn modelId="{F2B23545-5555-4981-A6D1-B7E9CF03FCAF}" srcId="{F670448A-4537-4FE8-90E8-69449D78D88B}" destId="{528BABBB-0F07-479B-BBBB-70180A3F9D26}" srcOrd="1" destOrd="0" parTransId="{8F2B836B-3498-47B6-9087-5A17F76E0EE8}" sibTransId="{2DA32FDA-E6BE-48E9-B944-289B29CE24BE}"/>
    <dgm:cxn modelId="{C32EDB68-EDB8-4161-8BE9-C652D0F286F4}" srcId="{F670448A-4537-4FE8-90E8-69449D78D88B}" destId="{5B1BD9E2-8ACF-40B7-B8AF-A07BC809C1C7}" srcOrd="3" destOrd="0" parTransId="{6CF12406-EFB9-4F6A-BF19-B93BBBD61A02}" sibTransId="{25D0421A-CF99-4C43-B744-DFAB83626F70}"/>
    <dgm:cxn modelId="{E71E0D4F-19E4-424F-893D-535EEDB6A242}" type="presOf" srcId="{4893C211-E0E6-434E-915F-B08D7836B735}" destId="{6AF529D8-C923-4647-8F2A-9DAC0E487F35}" srcOrd="0" destOrd="0" presId="urn:microsoft.com/office/officeart/2005/8/layout/vList2"/>
    <dgm:cxn modelId="{2679A186-1770-4F42-AB35-FB75806782DD}" type="presOf" srcId="{5B1BD9E2-8ACF-40B7-B8AF-A07BC809C1C7}" destId="{EE87F078-62D4-4395-98A4-61E75E8F95B1}" srcOrd="0" destOrd="0" presId="urn:microsoft.com/office/officeart/2005/8/layout/vList2"/>
    <dgm:cxn modelId="{657B2FC6-A778-4FCA-807F-A58E09845AE3}" type="presOf" srcId="{AEB22506-BA5B-490A-8115-59C1DA510139}" destId="{8AA15250-A0E1-4CE5-8C2D-070755F83AFB}" srcOrd="0" destOrd="0" presId="urn:microsoft.com/office/officeart/2005/8/layout/vList2"/>
    <dgm:cxn modelId="{959D82E5-AF04-43E2-B826-D2ACA4C6568E}" type="presOf" srcId="{F21590F9-5351-49DA-95B7-D6A2CA649023}" destId="{B3C42D26-4CB9-48A6-9B86-5F5897F009E0}" srcOrd="0" destOrd="0" presId="urn:microsoft.com/office/officeart/2005/8/layout/vList2"/>
    <dgm:cxn modelId="{8332B397-A843-48DD-A86E-A6CAED3B898D}" type="presParOf" srcId="{5FB24B28-0AF3-4B39-866B-45A7401BE9E0}" destId="{6AF529D8-C923-4647-8F2A-9DAC0E487F35}" srcOrd="0" destOrd="0" presId="urn:microsoft.com/office/officeart/2005/8/layout/vList2"/>
    <dgm:cxn modelId="{84FAC58C-69C5-49F6-A34F-3A3DE18AE08B}" type="presParOf" srcId="{5FB24B28-0AF3-4B39-866B-45A7401BE9E0}" destId="{013EEC6C-4359-4DF4-BA73-7452EF4EFC5B}" srcOrd="1" destOrd="0" presId="urn:microsoft.com/office/officeart/2005/8/layout/vList2"/>
    <dgm:cxn modelId="{5ADDD38C-EF2F-43A4-91BC-CA02A5B2B9D9}" type="presParOf" srcId="{5FB24B28-0AF3-4B39-866B-45A7401BE9E0}" destId="{77E6EA2D-238E-408E-9535-1FF8653E3AAC}" srcOrd="2" destOrd="0" presId="urn:microsoft.com/office/officeart/2005/8/layout/vList2"/>
    <dgm:cxn modelId="{03D2A23D-0DF4-42CF-8345-FFEA3D37C117}" type="presParOf" srcId="{5FB24B28-0AF3-4B39-866B-45A7401BE9E0}" destId="{CC48734D-CE7B-4C9C-92A4-9FA0B065062D}" srcOrd="3" destOrd="0" presId="urn:microsoft.com/office/officeart/2005/8/layout/vList2"/>
    <dgm:cxn modelId="{96699740-2964-4A3C-AE6D-92ECE4A2CA9B}" type="presParOf" srcId="{5FB24B28-0AF3-4B39-866B-45A7401BE9E0}" destId="{B3C42D26-4CB9-48A6-9B86-5F5897F009E0}" srcOrd="4" destOrd="0" presId="urn:microsoft.com/office/officeart/2005/8/layout/vList2"/>
    <dgm:cxn modelId="{EEE69309-7D77-458C-AF38-FBCF453450E2}" type="presParOf" srcId="{5FB24B28-0AF3-4B39-866B-45A7401BE9E0}" destId="{9A4415E0-9FD4-4042-8391-174EF35E92EA}" srcOrd="5" destOrd="0" presId="urn:microsoft.com/office/officeart/2005/8/layout/vList2"/>
    <dgm:cxn modelId="{3690FDA8-9EA5-47FB-B582-9CD409F0772D}" type="presParOf" srcId="{5FB24B28-0AF3-4B39-866B-45A7401BE9E0}" destId="{EE87F078-62D4-4395-98A4-61E75E8F95B1}" srcOrd="6" destOrd="0" presId="urn:microsoft.com/office/officeart/2005/8/layout/vList2"/>
    <dgm:cxn modelId="{31192305-5769-47D0-8C19-9525CCEE8EF6}" type="presParOf" srcId="{5FB24B28-0AF3-4B39-866B-45A7401BE9E0}" destId="{754935CC-347F-4E98-8EDD-2388CCA8138B}" srcOrd="7" destOrd="0" presId="urn:microsoft.com/office/officeart/2005/8/layout/vList2"/>
    <dgm:cxn modelId="{79242A36-D5CB-460D-BFAE-75B4399D69AA}" type="presParOf" srcId="{5FB24B28-0AF3-4B39-866B-45A7401BE9E0}" destId="{8AA15250-A0E1-4CE5-8C2D-070755F83AF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8643BA-E912-4C4F-BE28-3A8387AEF814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s-AR"/>
        </a:p>
      </dgm:t>
    </dgm:pt>
    <dgm:pt modelId="{A75DD448-3127-44B1-A3AD-5E3E673B555E}">
      <dgm:prSet/>
      <dgm:spPr/>
      <dgm:t>
        <a:bodyPr/>
        <a:lstStyle/>
        <a:p>
          <a:pPr algn="just"/>
          <a:r>
            <a:rPr lang="es-ES" b="1"/>
            <a:t>• Los clientes no deben estar forzados a implementar interfaces que no usan. </a:t>
          </a:r>
          <a:endParaRPr lang="es-AR" b="1"/>
        </a:p>
      </dgm:t>
    </dgm:pt>
    <dgm:pt modelId="{A0E7379E-F131-4315-B04A-DA6FAD61DD53}" type="parTrans" cxnId="{20842B8D-55A6-4A2A-A7EF-8016E2D0F969}">
      <dgm:prSet/>
      <dgm:spPr/>
      <dgm:t>
        <a:bodyPr/>
        <a:lstStyle/>
        <a:p>
          <a:pPr algn="just"/>
          <a:endParaRPr lang="es-AR" b="1"/>
        </a:p>
      </dgm:t>
    </dgm:pt>
    <dgm:pt modelId="{1CA1E9A0-BD27-4822-B083-D074270769E0}" type="sibTrans" cxnId="{20842B8D-55A6-4A2A-A7EF-8016E2D0F969}">
      <dgm:prSet/>
      <dgm:spPr/>
      <dgm:t>
        <a:bodyPr/>
        <a:lstStyle/>
        <a:p>
          <a:pPr algn="just"/>
          <a:endParaRPr lang="es-AR" b="1"/>
        </a:p>
      </dgm:t>
    </dgm:pt>
    <dgm:pt modelId="{3E920CA1-C4AE-46DD-B957-0258C18635E1}">
      <dgm:prSet/>
      <dgm:spPr/>
      <dgm:t>
        <a:bodyPr/>
        <a:lstStyle/>
        <a:p>
          <a:pPr algn="just"/>
          <a:r>
            <a:rPr lang="es-ES" b="1"/>
            <a:t>• Guarda relación con la cohesión de las aplicaciones. </a:t>
          </a:r>
          <a:endParaRPr lang="es-AR" b="1"/>
        </a:p>
      </dgm:t>
    </dgm:pt>
    <dgm:pt modelId="{6D78DCEF-ED6B-412D-842A-635C0A4B6DB3}" type="parTrans" cxnId="{203F70A3-F2B2-4F78-806E-80826946F7C1}">
      <dgm:prSet/>
      <dgm:spPr/>
      <dgm:t>
        <a:bodyPr/>
        <a:lstStyle/>
        <a:p>
          <a:pPr algn="just"/>
          <a:endParaRPr lang="es-AR" b="1"/>
        </a:p>
      </dgm:t>
    </dgm:pt>
    <dgm:pt modelId="{4EDA5852-2498-4524-AA0B-1D0E955B33C0}" type="sibTrans" cxnId="{203F70A3-F2B2-4F78-806E-80826946F7C1}">
      <dgm:prSet/>
      <dgm:spPr/>
      <dgm:t>
        <a:bodyPr/>
        <a:lstStyle/>
        <a:p>
          <a:pPr algn="just"/>
          <a:endParaRPr lang="es-AR" b="1"/>
        </a:p>
      </dgm:t>
    </dgm:pt>
    <dgm:pt modelId="{4A458072-4209-4B7D-9A05-E622D99AF257}">
      <dgm:prSet/>
      <dgm:spPr/>
      <dgm:t>
        <a:bodyPr/>
        <a:lstStyle/>
        <a:p>
          <a:pPr algn="just"/>
          <a:r>
            <a:rPr lang="es-ES" b="1"/>
            <a:t>• Las clases que implementen una interfaz o una clase abstracta no deberían estar obligadas a utilizar partes que no necesitan. </a:t>
          </a:r>
          <a:endParaRPr lang="es-AR" b="1"/>
        </a:p>
      </dgm:t>
    </dgm:pt>
    <dgm:pt modelId="{2AF5F8F9-6700-4384-854D-D89BC14059E9}" type="parTrans" cxnId="{32025093-F87F-45DC-BD66-CC9953FA9202}">
      <dgm:prSet/>
      <dgm:spPr/>
      <dgm:t>
        <a:bodyPr/>
        <a:lstStyle/>
        <a:p>
          <a:pPr algn="just"/>
          <a:endParaRPr lang="es-AR" b="1"/>
        </a:p>
      </dgm:t>
    </dgm:pt>
    <dgm:pt modelId="{593386C4-59FF-4DAD-B16A-920DC209B54F}" type="sibTrans" cxnId="{32025093-F87F-45DC-BD66-CC9953FA9202}">
      <dgm:prSet/>
      <dgm:spPr/>
      <dgm:t>
        <a:bodyPr/>
        <a:lstStyle/>
        <a:p>
          <a:pPr algn="just"/>
          <a:endParaRPr lang="es-AR" b="1"/>
        </a:p>
      </dgm:t>
    </dgm:pt>
    <dgm:pt modelId="{0C31D118-14F7-440C-A5E1-F2467A92F467}">
      <dgm:prSet/>
      <dgm:spPr/>
      <dgm:t>
        <a:bodyPr/>
        <a:lstStyle/>
        <a:p>
          <a:pPr algn="just"/>
          <a:r>
            <a:rPr lang="es-ES" b="1"/>
            <a:t>• Los clientes no deben estar obligados a implementar y/o a depender de una interfaz que luego no usarán. </a:t>
          </a:r>
          <a:endParaRPr lang="es-AR" b="1"/>
        </a:p>
      </dgm:t>
    </dgm:pt>
    <dgm:pt modelId="{410BFFF9-A9AD-4964-B5E0-35DB43174641}" type="parTrans" cxnId="{7C513545-F346-4A08-B642-1F70BACBECB6}">
      <dgm:prSet/>
      <dgm:spPr/>
      <dgm:t>
        <a:bodyPr/>
        <a:lstStyle/>
        <a:p>
          <a:pPr algn="just"/>
          <a:endParaRPr lang="es-AR" b="1"/>
        </a:p>
      </dgm:t>
    </dgm:pt>
    <dgm:pt modelId="{BB7D8410-98E5-4C43-8EA5-4DAF19741337}" type="sibTrans" cxnId="{7C513545-F346-4A08-B642-1F70BACBECB6}">
      <dgm:prSet/>
      <dgm:spPr/>
      <dgm:t>
        <a:bodyPr/>
        <a:lstStyle/>
        <a:p>
          <a:pPr algn="just"/>
          <a:endParaRPr lang="es-AR" b="1"/>
        </a:p>
      </dgm:t>
    </dgm:pt>
    <dgm:pt modelId="{38DFF728-0A6F-4AFC-B256-F08CEED535DC}" type="pres">
      <dgm:prSet presAssocID="{738643BA-E912-4C4F-BE28-3A8387AEF814}" presName="linear" presStyleCnt="0">
        <dgm:presLayoutVars>
          <dgm:animLvl val="lvl"/>
          <dgm:resizeHandles val="exact"/>
        </dgm:presLayoutVars>
      </dgm:prSet>
      <dgm:spPr/>
    </dgm:pt>
    <dgm:pt modelId="{BE7048A6-DE33-4BA8-B88E-BC99E73807A3}" type="pres">
      <dgm:prSet presAssocID="{A75DD448-3127-44B1-A3AD-5E3E673B55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3080211-19BB-46DC-94FA-9473BDA7BDC2}" type="pres">
      <dgm:prSet presAssocID="{1CA1E9A0-BD27-4822-B083-D074270769E0}" presName="spacer" presStyleCnt="0"/>
      <dgm:spPr/>
    </dgm:pt>
    <dgm:pt modelId="{3B139CEA-FF9E-49FC-B25B-2CED5CF99FD3}" type="pres">
      <dgm:prSet presAssocID="{3E920CA1-C4AE-46DD-B957-0258C18635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6FCB95-E1D5-42DD-95DD-709B91DD82A8}" type="pres">
      <dgm:prSet presAssocID="{4EDA5852-2498-4524-AA0B-1D0E955B33C0}" presName="spacer" presStyleCnt="0"/>
      <dgm:spPr/>
    </dgm:pt>
    <dgm:pt modelId="{024AB367-33B2-4698-9618-183133B0C82E}" type="pres">
      <dgm:prSet presAssocID="{4A458072-4209-4B7D-9A05-E622D99AF2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C2C0106-9FF4-4B62-9E3A-8F0EA7F58063}" type="pres">
      <dgm:prSet presAssocID="{593386C4-59FF-4DAD-B16A-920DC209B54F}" presName="spacer" presStyleCnt="0"/>
      <dgm:spPr/>
    </dgm:pt>
    <dgm:pt modelId="{36517336-F124-4FA5-91F6-2B6EF87201CD}" type="pres">
      <dgm:prSet presAssocID="{0C31D118-14F7-440C-A5E1-F2467A92F46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A31B024-D18A-428C-B451-6934B80942F9}" type="presOf" srcId="{4A458072-4209-4B7D-9A05-E622D99AF257}" destId="{024AB367-33B2-4698-9618-183133B0C82E}" srcOrd="0" destOrd="0" presId="urn:microsoft.com/office/officeart/2005/8/layout/vList2"/>
    <dgm:cxn modelId="{9EC89537-BB64-45F3-9209-E73E64CAF51E}" type="presOf" srcId="{A75DD448-3127-44B1-A3AD-5E3E673B555E}" destId="{BE7048A6-DE33-4BA8-B88E-BC99E73807A3}" srcOrd="0" destOrd="0" presId="urn:microsoft.com/office/officeart/2005/8/layout/vList2"/>
    <dgm:cxn modelId="{7C513545-F346-4A08-B642-1F70BACBECB6}" srcId="{738643BA-E912-4C4F-BE28-3A8387AEF814}" destId="{0C31D118-14F7-440C-A5E1-F2467A92F467}" srcOrd="3" destOrd="0" parTransId="{410BFFF9-A9AD-4964-B5E0-35DB43174641}" sibTransId="{BB7D8410-98E5-4C43-8EA5-4DAF19741337}"/>
    <dgm:cxn modelId="{20842B8D-55A6-4A2A-A7EF-8016E2D0F969}" srcId="{738643BA-E912-4C4F-BE28-3A8387AEF814}" destId="{A75DD448-3127-44B1-A3AD-5E3E673B555E}" srcOrd="0" destOrd="0" parTransId="{A0E7379E-F131-4315-B04A-DA6FAD61DD53}" sibTransId="{1CA1E9A0-BD27-4822-B083-D074270769E0}"/>
    <dgm:cxn modelId="{32025093-F87F-45DC-BD66-CC9953FA9202}" srcId="{738643BA-E912-4C4F-BE28-3A8387AEF814}" destId="{4A458072-4209-4B7D-9A05-E622D99AF257}" srcOrd="2" destOrd="0" parTransId="{2AF5F8F9-6700-4384-854D-D89BC14059E9}" sibTransId="{593386C4-59FF-4DAD-B16A-920DC209B54F}"/>
    <dgm:cxn modelId="{203F70A3-F2B2-4F78-806E-80826946F7C1}" srcId="{738643BA-E912-4C4F-BE28-3A8387AEF814}" destId="{3E920CA1-C4AE-46DD-B957-0258C18635E1}" srcOrd="1" destOrd="0" parTransId="{6D78DCEF-ED6B-412D-842A-635C0A4B6DB3}" sibTransId="{4EDA5852-2498-4524-AA0B-1D0E955B33C0}"/>
    <dgm:cxn modelId="{EE3070A7-A245-4E60-ADF3-6F5BF10F0817}" type="presOf" srcId="{738643BA-E912-4C4F-BE28-3A8387AEF814}" destId="{38DFF728-0A6F-4AFC-B256-F08CEED535DC}" srcOrd="0" destOrd="0" presId="urn:microsoft.com/office/officeart/2005/8/layout/vList2"/>
    <dgm:cxn modelId="{1533BCA8-A3B6-4D0F-8FB9-ED3166B572FA}" type="presOf" srcId="{0C31D118-14F7-440C-A5E1-F2467A92F467}" destId="{36517336-F124-4FA5-91F6-2B6EF87201CD}" srcOrd="0" destOrd="0" presId="urn:microsoft.com/office/officeart/2005/8/layout/vList2"/>
    <dgm:cxn modelId="{36EEEED2-CF1B-4FA4-A3A5-711CAA1E4FA1}" type="presOf" srcId="{3E920CA1-C4AE-46DD-B957-0258C18635E1}" destId="{3B139CEA-FF9E-49FC-B25B-2CED5CF99FD3}" srcOrd="0" destOrd="0" presId="urn:microsoft.com/office/officeart/2005/8/layout/vList2"/>
    <dgm:cxn modelId="{F759B4D5-C5A6-48FC-A60C-08AC2292971E}" type="presParOf" srcId="{38DFF728-0A6F-4AFC-B256-F08CEED535DC}" destId="{BE7048A6-DE33-4BA8-B88E-BC99E73807A3}" srcOrd="0" destOrd="0" presId="urn:microsoft.com/office/officeart/2005/8/layout/vList2"/>
    <dgm:cxn modelId="{4391B53F-4B1C-49ED-BB10-2FAE8995E819}" type="presParOf" srcId="{38DFF728-0A6F-4AFC-B256-F08CEED535DC}" destId="{83080211-19BB-46DC-94FA-9473BDA7BDC2}" srcOrd="1" destOrd="0" presId="urn:microsoft.com/office/officeart/2005/8/layout/vList2"/>
    <dgm:cxn modelId="{0C19E730-6560-4BC8-9DB2-E12FB3B3234A}" type="presParOf" srcId="{38DFF728-0A6F-4AFC-B256-F08CEED535DC}" destId="{3B139CEA-FF9E-49FC-B25B-2CED5CF99FD3}" srcOrd="2" destOrd="0" presId="urn:microsoft.com/office/officeart/2005/8/layout/vList2"/>
    <dgm:cxn modelId="{27D95972-CF4B-4900-B7D0-183E001621D5}" type="presParOf" srcId="{38DFF728-0A6F-4AFC-B256-F08CEED535DC}" destId="{336FCB95-E1D5-42DD-95DD-709B91DD82A8}" srcOrd="3" destOrd="0" presId="urn:microsoft.com/office/officeart/2005/8/layout/vList2"/>
    <dgm:cxn modelId="{E8BAEA48-7A78-4EA9-AA9D-5B880BB98E08}" type="presParOf" srcId="{38DFF728-0A6F-4AFC-B256-F08CEED535DC}" destId="{024AB367-33B2-4698-9618-183133B0C82E}" srcOrd="4" destOrd="0" presId="urn:microsoft.com/office/officeart/2005/8/layout/vList2"/>
    <dgm:cxn modelId="{DB15D838-034A-4524-AEB7-C6C94B1DF005}" type="presParOf" srcId="{38DFF728-0A6F-4AFC-B256-F08CEED535DC}" destId="{4C2C0106-9FF4-4B62-9E3A-8F0EA7F58063}" srcOrd="5" destOrd="0" presId="urn:microsoft.com/office/officeart/2005/8/layout/vList2"/>
    <dgm:cxn modelId="{823EDC07-9C41-4DDE-A8CC-4F5A2EAC4EEF}" type="presParOf" srcId="{38DFF728-0A6F-4AFC-B256-F08CEED535DC}" destId="{36517336-F124-4FA5-91F6-2B6EF87201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024F7-CB74-4CC0-8F12-4A3C4D9CD33B}">
      <dsp:nvSpPr>
        <dsp:cNvPr id="0" name=""/>
        <dsp:cNvSpPr/>
      </dsp:nvSpPr>
      <dsp:spPr>
        <a:xfrm>
          <a:off x="0" y="26605"/>
          <a:ext cx="8501998" cy="1034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• El comportamiento de una entidad debe poder ser alterado sin tener que modificar su propio código fuente. </a:t>
          </a:r>
          <a:endParaRPr lang="es-AR" sz="2600" b="1" kern="1200"/>
        </a:p>
      </dsp:txBody>
      <dsp:txXfrm>
        <a:off x="50489" y="77094"/>
        <a:ext cx="8401020" cy="933302"/>
      </dsp:txXfrm>
    </dsp:sp>
    <dsp:sp modelId="{884CC0CB-9F39-45C4-843D-537B14403B43}">
      <dsp:nvSpPr>
        <dsp:cNvPr id="0" name=""/>
        <dsp:cNvSpPr/>
      </dsp:nvSpPr>
      <dsp:spPr>
        <a:xfrm>
          <a:off x="0" y="1135766"/>
          <a:ext cx="8501998" cy="1034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• Una clase no se puede modificar, pero si se puede extender haciendo uso de la herencia. </a:t>
          </a:r>
          <a:endParaRPr lang="es-AR" sz="2600" b="1" kern="1200"/>
        </a:p>
      </dsp:txBody>
      <dsp:txXfrm>
        <a:off x="50489" y="1186255"/>
        <a:ext cx="8401020" cy="933302"/>
      </dsp:txXfrm>
    </dsp:sp>
    <dsp:sp modelId="{6B346F51-F6AF-46AB-8E68-CF3A6A6910D9}">
      <dsp:nvSpPr>
        <dsp:cNvPr id="0" name=""/>
        <dsp:cNvSpPr/>
      </dsp:nvSpPr>
      <dsp:spPr>
        <a:xfrm>
          <a:off x="0" y="2244926"/>
          <a:ext cx="8501998" cy="1034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b="1" kern="1200"/>
            <a:t>• Se centra en mantener bajo el acoplamiento.</a:t>
          </a:r>
          <a:endParaRPr lang="es-AR" sz="2600" b="1" kern="1200"/>
        </a:p>
      </dsp:txBody>
      <dsp:txXfrm>
        <a:off x="50489" y="2295415"/>
        <a:ext cx="8401020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529D8-C923-4647-8F2A-9DAC0E487F35}">
      <dsp:nvSpPr>
        <dsp:cNvPr id="0" name=""/>
        <dsp:cNvSpPr/>
      </dsp:nvSpPr>
      <dsp:spPr>
        <a:xfrm>
          <a:off x="0" y="736314"/>
          <a:ext cx="8391162" cy="5537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Extensión del principio </a:t>
          </a:r>
          <a:r>
            <a:rPr lang="es-ES" sz="2400" b="1" i="1" kern="1200" dirty="0"/>
            <a:t>open/</a:t>
          </a:r>
          <a:r>
            <a:rPr lang="es-ES" sz="2400" b="1" i="1" kern="1200" dirty="0" err="1"/>
            <a:t>closed</a:t>
          </a:r>
          <a:r>
            <a:rPr lang="es-ES" sz="2400" b="1" kern="1200" dirty="0"/>
            <a:t>. </a:t>
          </a:r>
          <a:endParaRPr lang="es-AR" sz="2400" b="1" kern="1200" dirty="0"/>
        </a:p>
      </dsp:txBody>
      <dsp:txXfrm>
        <a:off x="27031" y="763345"/>
        <a:ext cx="8337100" cy="499673"/>
      </dsp:txXfrm>
    </dsp:sp>
    <dsp:sp modelId="{77E6EA2D-238E-408E-9535-1FF8653E3AAC}">
      <dsp:nvSpPr>
        <dsp:cNvPr id="0" name=""/>
        <dsp:cNvSpPr/>
      </dsp:nvSpPr>
      <dsp:spPr>
        <a:xfrm>
          <a:off x="0" y="1304394"/>
          <a:ext cx="8391162" cy="821627"/>
        </a:xfrm>
        <a:prstGeom prst="roundRect">
          <a:avLst/>
        </a:prstGeom>
        <a:solidFill>
          <a:schemeClr val="accent4">
            <a:hueOff val="261305"/>
            <a:satOff val="1933"/>
            <a:lumOff val="-5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Una clase derivada puede ser reemplazada por cualquier otra que use su clase base sin alterar el correcto funcionamiento de un programa. </a:t>
          </a:r>
          <a:endParaRPr lang="es-AR" sz="2400" b="1" kern="1200" dirty="0"/>
        </a:p>
      </dsp:txBody>
      <dsp:txXfrm>
        <a:off x="40109" y="1344503"/>
        <a:ext cx="8310944" cy="741409"/>
      </dsp:txXfrm>
    </dsp:sp>
    <dsp:sp modelId="{B3C42D26-4CB9-48A6-9B86-5F5897F009E0}">
      <dsp:nvSpPr>
        <dsp:cNvPr id="0" name=""/>
        <dsp:cNvSpPr/>
      </dsp:nvSpPr>
      <dsp:spPr>
        <a:xfrm>
          <a:off x="0" y="2140365"/>
          <a:ext cx="8391162" cy="553735"/>
        </a:xfrm>
        <a:prstGeom prst="roundRect">
          <a:avLst/>
        </a:prstGeom>
        <a:solidFill>
          <a:schemeClr val="accent4">
            <a:hueOff val="522610"/>
            <a:satOff val="3866"/>
            <a:lumOff val="-1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• Si una función espera como parámetro una clase base esta puede ser reemplazada por cualquier clase derivada. </a:t>
          </a:r>
          <a:endParaRPr lang="es-AR" sz="2400" b="1" kern="1200"/>
        </a:p>
      </dsp:txBody>
      <dsp:txXfrm>
        <a:off x="27031" y="2167396"/>
        <a:ext cx="8337100" cy="499673"/>
      </dsp:txXfrm>
    </dsp:sp>
    <dsp:sp modelId="{EE87F078-62D4-4395-98A4-61E75E8F95B1}">
      <dsp:nvSpPr>
        <dsp:cNvPr id="0" name=""/>
        <dsp:cNvSpPr/>
      </dsp:nvSpPr>
      <dsp:spPr>
        <a:xfrm>
          <a:off x="0" y="2708445"/>
          <a:ext cx="8391162" cy="553735"/>
        </a:xfrm>
        <a:prstGeom prst="roundRect">
          <a:avLst/>
        </a:prstGeom>
        <a:solidFill>
          <a:schemeClr val="accent4">
            <a:hueOff val="783915"/>
            <a:satOff val="5800"/>
            <a:lumOff val="-16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• Una subclase no debe remover ni modificar comportamiento de la clase base, no debe conocer a los demás subtipos. </a:t>
          </a:r>
          <a:endParaRPr lang="es-AR" sz="2400" b="1" kern="1200"/>
        </a:p>
      </dsp:txBody>
      <dsp:txXfrm>
        <a:off x="27031" y="2735476"/>
        <a:ext cx="8337100" cy="499673"/>
      </dsp:txXfrm>
    </dsp:sp>
    <dsp:sp modelId="{8AA15250-A0E1-4CE5-8C2D-070755F83AFB}">
      <dsp:nvSpPr>
        <dsp:cNvPr id="0" name=""/>
        <dsp:cNvSpPr/>
      </dsp:nvSpPr>
      <dsp:spPr>
        <a:xfrm>
          <a:off x="0" y="3276525"/>
          <a:ext cx="8391162" cy="553735"/>
        </a:xfrm>
        <a:prstGeom prst="roundRect">
          <a:avLst/>
        </a:prstGeom>
        <a:solidFill>
          <a:schemeClr val="accent4">
            <a:hueOff val="1045220"/>
            <a:satOff val="7733"/>
            <a:lumOff val="-21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• Si un subtipo hace algo que el cliente del supertipo no espera, es una violación al principio. </a:t>
          </a:r>
          <a:endParaRPr lang="es-AR" sz="2400" b="1" kern="1200"/>
        </a:p>
      </dsp:txBody>
      <dsp:txXfrm>
        <a:off x="27031" y="3303556"/>
        <a:ext cx="8337100" cy="4996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048A6-DE33-4BA8-B88E-BC99E73807A3}">
      <dsp:nvSpPr>
        <dsp:cNvPr id="0" name=""/>
        <dsp:cNvSpPr/>
      </dsp:nvSpPr>
      <dsp:spPr>
        <a:xfrm>
          <a:off x="0" y="76956"/>
          <a:ext cx="8391162" cy="9149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/>
            <a:t>• Los clientes no deben estar forzados a implementar interfaces que no usan. </a:t>
          </a:r>
          <a:endParaRPr lang="es-AR" sz="2300" b="1" kern="1200"/>
        </a:p>
      </dsp:txBody>
      <dsp:txXfrm>
        <a:off x="44664" y="121620"/>
        <a:ext cx="8301834" cy="825612"/>
      </dsp:txXfrm>
    </dsp:sp>
    <dsp:sp modelId="{3B139CEA-FF9E-49FC-B25B-2CED5CF99FD3}">
      <dsp:nvSpPr>
        <dsp:cNvPr id="0" name=""/>
        <dsp:cNvSpPr/>
      </dsp:nvSpPr>
      <dsp:spPr>
        <a:xfrm>
          <a:off x="0" y="1058136"/>
          <a:ext cx="8391162" cy="9149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/>
            <a:t>• Guarda relación con la cohesión de las aplicaciones. </a:t>
          </a:r>
          <a:endParaRPr lang="es-AR" sz="2300" b="1" kern="1200"/>
        </a:p>
      </dsp:txBody>
      <dsp:txXfrm>
        <a:off x="44664" y="1102800"/>
        <a:ext cx="8301834" cy="825612"/>
      </dsp:txXfrm>
    </dsp:sp>
    <dsp:sp modelId="{024AB367-33B2-4698-9618-183133B0C82E}">
      <dsp:nvSpPr>
        <dsp:cNvPr id="0" name=""/>
        <dsp:cNvSpPr/>
      </dsp:nvSpPr>
      <dsp:spPr>
        <a:xfrm>
          <a:off x="0" y="2039317"/>
          <a:ext cx="8391162" cy="9149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/>
            <a:t>• Las clases que implementen una interfaz o una clase abstracta no deberían estar obligadas a utilizar partes que no necesitan. </a:t>
          </a:r>
          <a:endParaRPr lang="es-AR" sz="2300" b="1" kern="1200"/>
        </a:p>
      </dsp:txBody>
      <dsp:txXfrm>
        <a:off x="44664" y="2083981"/>
        <a:ext cx="8301834" cy="825612"/>
      </dsp:txXfrm>
    </dsp:sp>
    <dsp:sp modelId="{36517336-F124-4FA5-91F6-2B6EF87201CD}">
      <dsp:nvSpPr>
        <dsp:cNvPr id="0" name=""/>
        <dsp:cNvSpPr/>
      </dsp:nvSpPr>
      <dsp:spPr>
        <a:xfrm>
          <a:off x="0" y="3020497"/>
          <a:ext cx="8391162" cy="9149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/>
            <a:t>• Los clientes no deben estar obligados a implementar y/o a depender de una interfaz que luego no usarán. </a:t>
          </a:r>
          <a:endParaRPr lang="es-AR" sz="2300" b="1" kern="1200"/>
        </a:p>
      </dsp:txBody>
      <dsp:txXfrm>
        <a:off x="44664" y="3065161"/>
        <a:ext cx="8301834" cy="825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UADE </a:t>
            </a:r>
            <a:r>
              <a:rPr lang="es-AR" sz="6600" b="1" dirty="0" err="1">
                <a:solidFill>
                  <a:schemeClr val="bg1"/>
                </a:solidFill>
              </a:rPr>
              <a:t>Connect</a:t>
            </a:r>
            <a:endParaRPr lang="es-E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447757" y="664887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322656" y="1785810"/>
            <a:ext cx="673820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Principios SOLID </a:t>
            </a:r>
            <a:endParaRPr lang="es-ES" b="1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863949" y="2012883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86835D-7533-0641-AF2E-252C0F210E2F}"/>
              </a:ext>
            </a:extLst>
          </p:cNvPr>
          <p:cNvSpPr txBox="1"/>
          <p:nvPr/>
        </p:nvSpPr>
        <p:spPr>
          <a:xfrm>
            <a:off x="1322656" y="2459992"/>
            <a:ext cx="91564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i="1" dirty="0"/>
              <a:t>Single </a:t>
            </a:r>
            <a:r>
              <a:rPr lang="es-AR" i="1" dirty="0" err="1"/>
              <a:t>Responsability</a:t>
            </a:r>
            <a:r>
              <a:rPr lang="es-AR" i="1" dirty="0"/>
              <a:t> </a:t>
            </a:r>
            <a:r>
              <a:rPr lang="es-AR" i="1" dirty="0" err="1"/>
              <a:t>Principle</a:t>
            </a:r>
            <a:r>
              <a:rPr lang="es-AR" i="1" dirty="0"/>
              <a:t> 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6A0151-BD52-BB7F-3B34-9854258FB965}"/>
              </a:ext>
            </a:extLst>
          </p:cNvPr>
          <p:cNvSpPr txBox="1"/>
          <p:nvPr/>
        </p:nvSpPr>
        <p:spPr>
          <a:xfrm>
            <a:off x="1322656" y="3134174"/>
            <a:ext cx="91564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i="1" dirty="0"/>
              <a:t>Open/</a:t>
            </a:r>
            <a:r>
              <a:rPr lang="es-AR" i="1" dirty="0" err="1"/>
              <a:t>Closed</a:t>
            </a:r>
            <a:r>
              <a:rPr lang="es-AR" i="1" dirty="0"/>
              <a:t> </a:t>
            </a:r>
            <a:r>
              <a:rPr lang="es-AR" i="1" dirty="0" err="1"/>
              <a:t>Principle</a:t>
            </a:r>
            <a:r>
              <a:rPr lang="es-AR" i="1" dirty="0"/>
              <a:t> </a:t>
            </a:r>
            <a:endParaRPr lang="es-ES" i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B92090-1511-EA41-9A70-626ED08529D9}"/>
              </a:ext>
            </a:extLst>
          </p:cNvPr>
          <p:cNvSpPr txBox="1"/>
          <p:nvPr/>
        </p:nvSpPr>
        <p:spPr>
          <a:xfrm>
            <a:off x="1322656" y="3808356"/>
            <a:ext cx="91564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i="1" dirty="0" err="1"/>
              <a:t>Liskov</a:t>
            </a:r>
            <a:r>
              <a:rPr lang="es-AR" i="1" dirty="0"/>
              <a:t> </a:t>
            </a:r>
            <a:r>
              <a:rPr lang="es-AR" i="1" dirty="0" err="1"/>
              <a:t>Substitution</a:t>
            </a:r>
            <a:r>
              <a:rPr lang="es-AR" i="1" dirty="0"/>
              <a:t> </a:t>
            </a:r>
            <a:r>
              <a:rPr lang="es-AR" i="1" dirty="0" err="1"/>
              <a:t>Principle</a:t>
            </a:r>
            <a:r>
              <a:rPr lang="es-AR" i="1" dirty="0"/>
              <a:t> </a:t>
            </a:r>
            <a:endParaRPr lang="es-ES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220E1BC-2B46-74C9-8C1B-14F3CCC6C638}"/>
              </a:ext>
            </a:extLst>
          </p:cNvPr>
          <p:cNvSpPr txBox="1"/>
          <p:nvPr/>
        </p:nvSpPr>
        <p:spPr>
          <a:xfrm>
            <a:off x="1322656" y="4482538"/>
            <a:ext cx="91564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i="1" dirty="0"/>
              <a:t>Interface </a:t>
            </a:r>
            <a:r>
              <a:rPr lang="es-AR" i="1" dirty="0" err="1"/>
              <a:t>Segregation</a:t>
            </a:r>
            <a:r>
              <a:rPr lang="es-AR" i="1" dirty="0"/>
              <a:t> </a:t>
            </a:r>
            <a:r>
              <a:rPr lang="es-AR" i="1" dirty="0" err="1"/>
              <a:t>Principle</a:t>
            </a:r>
            <a:r>
              <a:rPr lang="es-AR" i="1" dirty="0"/>
              <a:t> </a:t>
            </a:r>
            <a:endParaRPr lang="es-ES" i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989BD0-96A2-637D-4CB8-A05C7ED03123}"/>
              </a:ext>
            </a:extLst>
          </p:cNvPr>
          <p:cNvSpPr txBox="1"/>
          <p:nvPr/>
        </p:nvSpPr>
        <p:spPr>
          <a:xfrm>
            <a:off x="1322656" y="5156720"/>
            <a:ext cx="91564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i="1" dirty="0" err="1"/>
              <a:t>Dependency</a:t>
            </a:r>
            <a:r>
              <a:rPr lang="es-AR" i="1" dirty="0"/>
              <a:t> </a:t>
            </a:r>
            <a:r>
              <a:rPr lang="es-AR" i="1" dirty="0" err="1"/>
              <a:t>Inversion</a:t>
            </a:r>
            <a:r>
              <a:rPr lang="es-AR" i="1" dirty="0"/>
              <a:t> </a:t>
            </a:r>
            <a:r>
              <a:rPr lang="es-AR" i="1" dirty="0" err="1"/>
              <a:t>Principle</a:t>
            </a:r>
            <a:r>
              <a:rPr lang="es-AR" i="1" dirty="0"/>
              <a:t> </a:t>
            </a:r>
            <a:endParaRPr lang="es-ES" i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13089AB-E38C-F2C0-6179-EA1F8C5F169E}"/>
              </a:ext>
            </a:extLst>
          </p:cNvPr>
          <p:cNvSpPr txBox="1"/>
          <p:nvPr/>
        </p:nvSpPr>
        <p:spPr>
          <a:xfrm>
            <a:off x="1322656" y="5830903"/>
            <a:ext cx="91564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dirty="0"/>
              <a:t>Síntesis</a:t>
            </a:r>
            <a:endParaRPr lang="es-ES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F4D4BF3-085C-7419-C011-6EAD531F88F8}"/>
              </a:ext>
            </a:extLst>
          </p:cNvPr>
          <p:cNvSpPr/>
          <p:nvPr/>
        </p:nvSpPr>
        <p:spPr>
          <a:xfrm>
            <a:off x="863949" y="2687065"/>
            <a:ext cx="130628" cy="13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797BD3D-2F67-C8E3-99A1-C7FF86C4D21B}"/>
              </a:ext>
            </a:extLst>
          </p:cNvPr>
          <p:cNvSpPr/>
          <p:nvPr/>
        </p:nvSpPr>
        <p:spPr>
          <a:xfrm>
            <a:off x="863949" y="3361247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7AF368A-B2C4-2BB4-CBA8-8DA282DE1062}"/>
              </a:ext>
            </a:extLst>
          </p:cNvPr>
          <p:cNvSpPr/>
          <p:nvPr/>
        </p:nvSpPr>
        <p:spPr>
          <a:xfrm>
            <a:off x="863949" y="4040649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AC1AA60-FF73-15CD-D5C2-46BAD83A3E6C}"/>
              </a:ext>
            </a:extLst>
          </p:cNvPr>
          <p:cNvSpPr/>
          <p:nvPr/>
        </p:nvSpPr>
        <p:spPr>
          <a:xfrm>
            <a:off x="857040" y="4714490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FFCC1C8-6A42-2326-F2DA-223654CB729E}"/>
              </a:ext>
            </a:extLst>
          </p:cNvPr>
          <p:cNvSpPr/>
          <p:nvPr/>
        </p:nvSpPr>
        <p:spPr>
          <a:xfrm>
            <a:off x="863949" y="5383793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69FC346-5F40-C097-C5F7-5700B29BBC6C}"/>
              </a:ext>
            </a:extLst>
          </p:cNvPr>
          <p:cNvSpPr/>
          <p:nvPr/>
        </p:nvSpPr>
        <p:spPr>
          <a:xfrm>
            <a:off x="863949" y="6062854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Principios SOLID</a:t>
            </a:r>
            <a:endParaRPr lang="es-ES" b="1" dirty="0" err="1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06AA4A8-B315-E095-9C48-18783B9FAA95}"/>
              </a:ext>
            </a:extLst>
          </p:cNvPr>
          <p:cNvSpPr txBox="1"/>
          <p:nvPr/>
        </p:nvSpPr>
        <p:spPr>
          <a:xfrm>
            <a:off x="498763" y="2064788"/>
            <a:ext cx="858512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 err="1">
                <a:ea typeface="+mn-lt"/>
                <a:cs typeface="+mn-lt"/>
              </a:rPr>
              <a:t>Indentación</a:t>
            </a:r>
            <a:r>
              <a:rPr lang="es-ES" sz="2400" dirty="0">
                <a:ea typeface="+mn-lt"/>
                <a:cs typeface="+mn-lt"/>
              </a:rPr>
              <a:t>.</a:t>
            </a: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Nombres de variables claros y concisos.</a:t>
            </a: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100% cobertura en las pruebas. </a:t>
            </a: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Código mantenible y reusable.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Cualquier código que no sea mantenible y que no pueda adaptarse a los contextos cambiantes con facilidad, es un código que solo espera volverse obsoleto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9705677-B153-3582-64AC-510F2AA8BFA8}"/>
              </a:ext>
            </a:extLst>
          </p:cNvPr>
          <p:cNvSpPr txBox="1"/>
          <p:nvPr/>
        </p:nvSpPr>
        <p:spPr>
          <a:xfrm>
            <a:off x="498763" y="625826"/>
            <a:ext cx="81308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Una receta para un código excelente: </a:t>
            </a:r>
          </a:p>
        </p:txBody>
      </p:sp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624B86F-4249-151D-F319-FB022176CFD4}"/>
              </a:ext>
            </a:extLst>
          </p:cNvPr>
          <p:cNvSpPr txBox="1"/>
          <p:nvPr/>
        </p:nvSpPr>
        <p:spPr>
          <a:xfrm>
            <a:off x="683566" y="1951672"/>
            <a:ext cx="753218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ea typeface="+mn-lt"/>
                <a:cs typeface="+mn-lt"/>
              </a:rPr>
              <a:t>Obtener un software OO fácil de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mantener y extender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en el tiempo. </a:t>
            </a:r>
            <a:br>
              <a:rPr lang="es-ES" sz="2400" dirty="0">
                <a:ea typeface="+mn-lt"/>
                <a:cs typeface="+mn-lt"/>
              </a:rPr>
            </a:br>
            <a:endParaRPr lang="es-ES" dirty="0">
              <a:ea typeface="+mn-lt"/>
              <a:cs typeface="+mn-lt"/>
            </a:endParaRP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sz="2400" b="1" i="1" dirty="0">
                <a:solidFill>
                  <a:schemeClr val="tx2"/>
                </a:solidFill>
                <a:ea typeface="+mn-lt"/>
                <a:cs typeface="+mn-lt"/>
              </a:rPr>
              <a:t>S</a:t>
            </a:r>
            <a:r>
              <a:rPr lang="es-ES" sz="2400" i="1" dirty="0">
                <a:ea typeface="+mn-lt"/>
                <a:cs typeface="+mn-lt"/>
              </a:rPr>
              <a:t>ingle </a:t>
            </a:r>
            <a:r>
              <a:rPr lang="es-ES" sz="2400" i="1" dirty="0" err="1">
                <a:ea typeface="+mn-lt"/>
                <a:cs typeface="+mn-lt"/>
              </a:rPr>
              <a:t>Responsability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Principle</a:t>
            </a:r>
            <a:r>
              <a:rPr lang="es-ES" sz="2400" i="1" dirty="0">
                <a:ea typeface="+mn-lt"/>
                <a:cs typeface="+mn-lt"/>
              </a:rPr>
              <a:t> </a:t>
            </a:r>
            <a:endParaRPr lang="es-ES" i="1" dirty="0">
              <a:ea typeface="+mn-lt"/>
              <a:cs typeface="+mn-lt"/>
            </a:endParaRP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sz="2400" b="1" i="1" dirty="0">
                <a:solidFill>
                  <a:schemeClr val="tx2"/>
                </a:solidFill>
                <a:ea typeface="+mn-lt"/>
                <a:cs typeface="+mn-lt"/>
              </a:rPr>
              <a:t>O</a:t>
            </a:r>
            <a:r>
              <a:rPr lang="es-ES" sz="2400" i="1" dirty="0">
                <a:ea typeface="+mn-lt"/>
                <a:cs typeface="+mn-lt"/>
              </a:rPr>
              <a:t>pen/</a:t>
            </a:r>
            <a:r>
              <a:rPr lang="es-ES" sz="2400" i="1" dirty="0" err="1">
                <a:ea typeface="+mn-lt"/>
                <a:cs typeface="+mn-lt"/>
              </a:rPr>
              <a:t>Closed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Principle</a:t>
            </a:r>
            <a:r>
              <a:rPr lang="es-ES" sz="2400" i="1" dirty="0">
                <a:ea typeface="+mn-lt"/>
                <a:cs typeface="+mn-lt"/>
              </a:rPr>
              <a:t> </a:t>
            </a:r>
            <a:endParaRPr lang="es-ES" i="1" dirty="0">
              <a:ea typeface="+mn-lt"/>
              <a:cs typeface="+mn-lt"/>
            </a:endParaRP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sz="2400" b="1" i="1" dirty="0" err="1">
                <a:solidFill>
                  <a:schemeClr val="tx2"/>
                </a:solidFill>
                <a:ea typeface="+mn-lt"/>
                <a:cs typeface="+mn-lt"/>
              </a:rPr>
              <a:t>L</a:t>
            </a:r>
            <a:r>
              <a:rPr lang="es-ES" sz="2400" i="1" dirty="0" err="1">
                <a:ea typeface="+mn-lt"/>
                <a:cs typeface="+mn-lt"/>
              </a:rPr>
              <a:t>iskov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Substitution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Principle</a:t>
            </a:r>
            <a:r>
              <a:rPr lang="es-ES" sz="2400" i="1" dirty="0">
                <a:ea typeface="+mn-lt"/>
                <a:cs typeface="+mn-lt"/>
              </a:rPr>
              <a:t> </a:t>
            </a:r>
            <a:endParaRPr lang="es-ES" i="1" dirty="0">
              <a:ea typeface="+mn-lt"/>
              <a:cs typeface="+mn-lt"/>
            </a:endParaRP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sz="2400" b="1" i="1" dirty="0">
                <a:solidFill>
                  <a:schemeClr val="tx2"/>
                </a:solidFill>
                <a:ea typeface="+mn-lt"/>
                <a:cs typeface="+mn-lt"/>
              </a:rPr>
              <a:t>I</a:t>
            </a:r>
            <a:r>
              <a:rPr lang="es-ES" sz="2400" i="1" dirty="0">
                <a:ea typeface="+mn-lt"/>
                <a:cs typeface="+mn-lt"/>
              </a:rPr>
              <a:t>nterface </a:t>
            </a:r>
            <a:r>
              <a:rPr lang="es-ES" sz="2400" i="1" dirty="0" err="1">
                <a:ea typeface="+mn-lt"/>
                <a:cs typeface="+mn-lt"/>
              </a:rPr>
              <a:t>Segregation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Principle</a:t>
            </a:r>
            <a:r>
              <a:rPr lang="es-ES" sz="2400" i="1" dirty="0">
                <a:ea typeface="+mn-lt"/>
                <a:cs typeface="+mn-lt"/>
              </a:rPr>
              <a:t> </a:t>
            </a:r>
            <a:endParaRPr lang="es-ES" i="1" dirty="0">
              <a:ea typeface="+mn-lt"/>
              <a:cs typeface="+mn-lt"/>
            </a:endParaRP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sz="2400" b="1" i="1" dirty="0" err="1">
                <a:solidFill>
                  <a:schemeClr val="tx2"/>
                </a:solidFill>
                <a:ea typeface="+mn-lt"/>
                <a:cs typeface="+mn-lt"/>
              </a:rPr>
              <a:t>D</a:t>
            </a:r>
            <a:r>
              <a:rPr lang="es-ES" sz="2400" i="1" dirty="0" err="1">
                <a:ea typeface="+mn-lt"/>
                <a:cs typeface="+mn-lt"/>
              </a:rPr>
              <a:t>ependency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Inversion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Principle</a:t>
            </a:r>
            <a:r>
              <a:rPr lang="es-ES" sz="2400" i="1" dirty="0">
                <a:ea typeface="+mn-lt"/>
                <a:cs typeface="+mn-lt"/>
              </a:rPr>
              <a:t> </a:t>
            </a:r>
            <a:endParaRPr lang="es-ES" i="1" dirty="0">
              <a:ea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B457BF2-89E3-8960-75F6-83C0D402AB1D}"/>
              </a:ext>
            </a:extLst>
          </p:cNvPr>
          <p:cNvSpPr txBox="1"/>
          <p:nvPr/>
        </p:nvSpPr>
        <p:spPr>
          <a:xfrm>
            <a:off x="489601" y="602855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Principios SOLID</a:t>
            </a:r>
            <a:endParaRPr lang="es-ES" sz="1050" b="1" dirty="0" err="1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A320D6-E086-384E-1D73-C00860F3A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310" y="2874376"/>
            <a:ext cx="3848433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ABF6A-8A54-8BB8-446F-AFB59EB4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D514D60-0510-59C7-F8E5-F89A2C21AEF4}"/>
              </a:ext>
            </a:extLst>
          </p:cNvPr>
          <p:cNvSpPr txBox="1"/>
          <p:nvPr/>
        </p:nvSpPr>
        <p:spPr>
          <a:xfrm>
            <a:off x="1517797" y="2367171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Single 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Responsability</a:t>
            </a:r>
            <a:endParaRPr lang="es-ES" b="1" i="1" dirty="0">
              <a:solidFill>
                <a:prstClr val="white"/>
              </a:solidFill>
            </a:endParaRPr>
          </a:p>
          <a:p>
            <a:pPr algn="ctr"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 </a:t>
            </a:r>
            <a:endParaRPr lang="es-AR" sz="6600" b="1" i="1" dirty="0">
              <a:solidFill>
                <a:prstClr val="white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578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9618F39-AD6F-A24F-9830-00AD488DB81F}"/>
              </a:ext>
            </a:extLst>
          </p:cNvPr>
          <p:cNvSpPr txBox="1"/>
          <p:nvPr/>
        </p:nvSpPr>
        <p:spPr>
          <a:xfrm>
            <a:off x="533400" y="618142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Single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Responsability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Principle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s-ES" sz="3200" b="1" i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D1E6B5-4C29-EE78-4B78-09DBC8BF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992" y="1702540"/>
            <a:ext cx="5765895" cy="47370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8306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649C865-906C-F1B5-3D08-5D9863144025}"/>
              </a:ext>
            </a:extLst>
          </p:cNvPr>
          <p:cNvSpPr txBox="1"/>
          <p:nvPr/>
        </p:nvSpPr>
        <p:spPr>
          <a:xfrm>
            <a:off x="533400" y="1704570"/>
            <a:ext cx="814178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Una clase debe tener solo una razón para cambiar </a:t>
            </a:r>
            <a:r>
              <a:rPr lang="es-ES" sz="2400" b="1" dirty="0">
                <a:solidFill>
                  <a:schemeClr val="accent2"/>
                </a:solidFill>
                <a:ea typeface="+mn-lt"/>
                <a:cs typeface="+mn-lt"/>
              </a:rPr>
              <a:t>(responsabilidad)</a:t>
            </a:r>
            <a:r>
              <a:rPr lang="es-ES" sz="2400" dirty="0">
                <a:solidFill>
                  <a:schemeClr val="accent2"/>
                </a:solidFill>
                <a:ea typeface="+mn-lt"/>
                <a:cs typeface="+mn-lt"/>
              </a:rPr>
              <a:t>. </a:t>
            </a:r>
            <a:endParaRPr lang="es-ES" dirty="0">
              <a:solidFill>
                <a:schemeClr val="accent2"/>
              </a:solidFill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Una responsabilidad tiene que ver con: </a:t>
            </a:r>
            <a:endParaRPr lang="es-ES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¿Qué hace? </a:t>
            </a:r>
            <a:endParaRPr lang="es-ES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¿A quién conoce? 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Se centra en mantener alta la </a:t>
            </a:r>
            <a:r>
              <a:rPr lang="es-ES" sz="2400" b="1" dirty="0">
                <a:solidFill>
                  <a:schemeClr val="accent2"/>
                </a:solidFill>
                <a:ea typeface="+mn-lt"/>
                <a:cs typeface="+mn-lt"/>
              </a:rPr>
              <a:t>cohesión</a:t>
            </a:r>
            <a:r>
              <a:rPr lang="es-ES" sz="2400" b="1" dirty="0">
                <a:ea typeface="+mn-lt"/>
                <a:cs typeface="+mn-lt"/>
              </a:rPr>
              <a:t>. </a:t>
            </a:r>
            <a:endParaRPr lang="es-ES" b="1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Cada clase debe tener responsabilidad sobre una sola parte de la funcionalidad proporcionada por el software, y esa responsabilidad debe estar completamente encapsulada por la clase.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63957C-E616-DA76-D81E-0AC3AB2F5E56}"/>
              </a:ext>
            </a:extLst>
          </p:cNvPr>
          <p:cNvSpPr txBox="1"/>
          <p:nvPr/>
        </p:nvSpPr>
        <p:spPr>
          <a:xfrm>
            <a:off x="533400" y="618142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Single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Responsability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Principle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s-ES" sz="3200" b="1" i="1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646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39C51F6-D1B6-1161-63C9-9DAB244D1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62" y="2643865"/>
            <a:ext cx="8704382" cy="248231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7437399-BD30-2146-923C-59F73291BBF6}"/>
              </a:ext>
            </a:extLst>
          </p:cNvPr>
          <p:cNvSpPr txBox="1"/>
          <p:nvPr/>
        </p:nvSpPr>
        <p:spPr>
          <a:xfrm>
            <a:off x="359462" y="307154"/>
            <a:ext cx="880508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Ejemplo de 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Single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Responsability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Principle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s-ES" sz="3200" b="1" i="1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3036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8EB82830-289C-BA05-F1CD-DF4FDC817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62" y="1899653"/>
            <a:ext cx="9041642" cy="420572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DCF1881-BE03-A431-01AE-E3466E6A0F72}"/>
              </a:ext>
            </a:extLst>
          </p:cNvPr>
          <p:cNvSpPr txBox="1"/>
          <p:nvPr/>
        </p:nvSpPr>
        <p:spPr>
          <a:xfrm>
            <a:off x="359462" y="307154"/>
            <a:ext cx="880508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Ejemplo de 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Single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Responsability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Principle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s-ES" sz="3200" b="1" i="1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0096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BBA0-B303-92C8-0B08-6928B88D0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AB28A864-A54F-E5B5-6A54-1753630BE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33" y="1967088"/>
            <a:ext cx="9104337" cy="381113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43991F1-5BED-770E-0124-6D5BF5E43F51}"/>
              </a:ext>
            </a:extLst>
          </p:cNvPr>
          <p:cNvSpPr txBox="1"/>
          <p:nvPr/>
        </p:nvSpPr>
        <p:spPr>
          <a:xfrm>
            <a:off x="359462" y="307154"/>
            <a:ext cx="880508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Ejemplo de 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Single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Responsability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Principle</a:t>
            </a:r>
            <a:r>
              <a:rPr lang="es-ES" sz="4000" b="1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s-ES" sz="3200" b="1" i="1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196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CDC0-AB47-2531-79A8-6CFF92A5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6CA08C0-E595-D33A-33DB-C4B3E2746E39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Open/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Closed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38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23A4-CA3C-222B-8BC5-BC5C622C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8791098-FB87-582E-585F-12B94D9F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84" y="1692645"/>
            <a:ext cx="5930058" cy="48395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2168663-7B85-5F2D-B0C5-416258711B0D}"/>
              </a:ext>
            </a:extLst>
          </p:cNvPr>
          <p:cNvSpPr txBox="1"/>
          <p:nvPr/>
        </p:nvSpPr>
        <p:spPr>
          <a:xfrm>
            <a:off x="464851" y="54743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Open/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Closed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1050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842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0A545-56FF-3FFB-6154-8EE116CF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1A4F9CF-A745-B4AD-A4DF-F031C78284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6869854"/>
              </p:ext>
            </p:extLst>
          </p:nvPr>
        </p:nvGraphicFramePr>
        <p:xfrm>
          <a:off x="464851" y="2083606"/>
          <a:ext cx="8501998" cy="3305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37B997C7-8EB3-261A-DFD9-F3C8B152862D}"/>
              </a:ext>
            </a:extLst>
          </p:cNvPr>
          <p:cNvSpPr txBox="1"/>
          <p:nvPr/>
        </p:nvSpPr>
        <p:spPr>
          <a:xfrm>
            <a:off x="464851" y="54743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Open/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Closed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1050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850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03DE-AC78-8FFE-0360-53884872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arta&#10;&#10;El contenido generado por IA puede ser incorrecto.">
            <a:extLst>
              <a:ext uri="{FF2B5EF4-FFF2-40B4-BE49-F238E27FC236}">
                <a16:creationId xmlns:a16="http://schemas.microsoft.com/office/drawing/2014/main" id="{05199D1C-C6F7-7953-5BD0-97EBF55D4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24" y="2451124"/>
            <a:ext cx="9376297" cy="287697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4B35269-6CFB-11B2-3DC1-23167516D977}"/>
              </a:ext>
            </a:extLst>
          </p:cNvPr>
          <p:cNvSpPr txBox="1"/>
          <p:nvPr/>
        </p:nvSpPr>
        <p:spPr>
          <a:xfrm>
            <a:off x="464851" y="54743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Open/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Closed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1050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036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EF8A3-44AC-1588-6BB2-ECFEE5A9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9874251E-65A2-6B27-04E6-38EAE77F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8" y="2655203"/>
            <a:ext cx="9587553" cy="265078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4190BC2-3EC5-EDE5-6DAB-B9F5B9ABF5F7}"/>
              </a:ext>
            </a:extLst>
          </p:cNvPr>
          <p:cNvSpPr txBox="1"/>
          <p:nvPr/>
        </p:nvSpPr>
        <p:spPr>
          <a:xfrm>
            <a:off x="464851" y="54743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Open/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Closed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1050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809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B0691-6A01-4665-8F44-BEB25A92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CF8E2472-C8D0-BC8A-7E98-B727AC91B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40" y="2549217"/>
            <a:ext cx="9485337" cy="279452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9E2E788-CEF9-4372-E97C-E830DB742A78}"/>
              </a:ext>
            </a:extLst>
          </p:cNvPr>
          <p:cNvSpPr txBox="1"/>
          <p:nvPr/>
        </p:nvSpPr>
        <p:spPr>
          <a:xfrm>
            <a:off x="464851" y="54743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Open/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Closed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1050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349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D587D-9E08-89AD-248E-0B1CCC19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54D342F-790A-566A-9D95-D2863E43B25D}"/>
              </a:ext>
            </a:extLst>
          </p:cNvPr>
          <p:cNvSpPr txBox="1"/>
          <p:nvPr/>
        </p:nvSpPr>
        <p:spPr>
          <a:xfrm>
            <a:off x="1375424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Liskov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Substitution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159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EE5CE-AFA2-4028-F88B-A5F42254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380B1AE-52CB-05E9-6E59-22849362E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11" y="1716419"/>
            <a:ext cx="6137797" cy="48922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CD5445D-FCAF-C940-C0C8-EF68CCC5591F}"/>
              </a:ext>
            </a:extLst>
          </p:cNvPr>
          <p:cNvSpPr txBox="1"/>
          <p:nvPr/>
        </p:nvSpPr>
        <p:spPr>
          <a:xfrm>
            <a:off x="408709" y="611970"/>
            <a:ext cx="6109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Liskov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Substitution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3080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43D31-6E60-52F4-C1E1-5FAE7281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9245711-1D3E-E5AE-690C-18A80819FB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5754689"/>
              </p:ext>
            </p:extLst>
          </p:nvPr>
        </p:nvGraphicFramePr>
        <p:xfrm>
          <a:off x="602673" y="1679454"/>
          <a:ext cx="8391162" cy="4566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A8739A91-CFC4-0646-2902-10735304D4B6}"/>
              </a:ext>
            </a:extLst>
          </p:cNvPr>
          <p:cNvSpPr txBox="1"/>
          <p:nvPr/>
        </p:nvSpPr>
        <p:spPr>
          <a:xfrm>
            <a:off x="408709" y="611970"/>
            <a:ext cx="6109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Liskov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Substitution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8848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D24C-BAF6-8468-B743-DB44F80D1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4BDB487D-2ED7-E6AF-91D4-C944DF63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80" y="2388856"/>
            <a:ext cx="7839075" cy="39909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98F239D-B732-3B87-9AD5-2CDA61AE0464}"/>
              </a:ext>
            </a:extLst>
          </p:cNvPr>
          <p:cNvSpPr txBox="1"/>
          <p:nvPr/>
        </p:nvSpPr>
        <p:spPr>
          <a:xfrm>
            <a:off x="408708" y="611970"/>
            <a:ext cx="91772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Liskov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Substitution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6214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65596-5786-6F83-EA1B-50964546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B534C36E-5190-D5BD-6415-B60750DC9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5" y="2686050"/>
            <a:ext cx="9685788" cy="248673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775A44-F390-0491-C905-FF613C82362E}"/>
              </a:ext>
            </a:extLst>
          </p:cNvPr>
          <p:cNvSpPr txBox="1"/>
          <p:nvPr/>
        </p:nvSpPr>
        <p:spPr>
          <a:xfrm>
            <a:off x="408708" y="611970"/>
            <a:ext cx="8857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Liskov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Substitution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0079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5446-2613-F523-4CA2-88177FC8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C17CFF5A-0A5A-92B1-449F-B7873FA60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3" y="2445082"/>
            <a:ext cx="9447237" cy="370792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CD645E4-2E1A-E5D5-2242-9185A7617CA3}"/>
              </a:ext>
            </a:extLst>
          </p:cNvPr>
          <p:cNvSpPr txBox="1"/>
          <p:nvPr/>
        </p:nvSpPr>
        <p:spPr>
          <a:xfrm>
            <a:off x="408708" y="611970"/>
            <a:ext cx="8805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Liskov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Substitution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095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B91F6-C729-DDB2-5BB5-13407C25A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3B7E58D4-1760-96D6-6E51-5B43C08C5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14" y="2649443"/>
            <a:ext cx="9220058" cy="275329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5A1111A-A395-7730-813C-C28E0FDB21D5}"/>
              </a:ext>
            </a:extLst>
          </p:cNvPr>
          <p:cNvSpPr txBox="1"/>
          <p:nvPr/>
        </p:nvSpPr>
        <p:spPr>
          <a:xfrm>
            <a:off x="408708" y="611970"/>
            <a:ext cx="89666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Liskov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Substitution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1380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88A5-0403-DEBF-E159-2C1D9DF7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55D13B4-9A2D-9B5F-76D9-D30F8A7CBED4}"/>
              </a:ext>
            </a:extLst>
          </p:cNvPr>
          <p:cNvSpPr txBox="1"/>
          <p:nvPr/>
        </p:nvSpPr>
        <p:spPr>
          <a:xfrm>
            <a:off x="1375424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Interface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Segregation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2912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60B4F-AC14-51E3-9932-7E4F3DD6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F42B32D-3556-47CC-7349-7E04199609BA}"/>
              </a:ext>
            </a:extLst>
          </p:cNvPr>
          <p:cNvSpPr txBox="1"/>
          <p:nvPr/>
        </p:nvSpPr>
        <p:spPr>
          <a:xfrm>
            <a:off x="364911" y="1718425"/>
            <a:ext cx="88050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 sz="2400" dirty="0">
              <a:ea typeface="+mn-lt"/>
              <a:cs typeface="+mn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64A944-E383-A87B-9D83-BF42175BD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641" y="1718425"/>
            <a:ext cx="5821197" cy="47167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B1FE134-7E6C-CB70-4430-81FADDDE5394}"/>
              </a:ext>
            </a:extLst>
          </p:cNvPr>
          <p:cNvSpPr txBox="1"/>
          <p:nvPr/>
        </p:nvSpPr>
        <p:spPr>
          <a:xfrm>
            <a:off x="364911" y="609187"/>
            <a:ext cx="880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Interface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Segregation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0177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52A-2DC6-9D7D-15D1-CBA46C45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8C914D9-C724-6901-AABA-F931F4EAC0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1105698"/>
              </p:ext>
            </p:extLst>
          </p:nvPr>
        </p:nvGraphicFramePr>
        <p:xfrm>
          <a:off x="517312" y="1875788"/>
          <a:ext cx="8391162" cy="4012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19541D36-554C-3EB3-0A14-DE116E681EFA}"/>
              </a:ext>
            </a:extLst>
          </p:cNvPr>
          <p:cNvSpPr txBox="1"/>
          <p:nvPr/>
        </p:nvSpPr>
        <p:spPr>
          <a:xfrm>
            <a:off x="364911" y="609187"/>
            <a:ext cx="880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Interface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Segregation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5251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E249B-363B-2776-2363-435AC4527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6BE891D-06F3-13F2-695F-7CAB407F2F1D}"/>
              </a:ext>
            </a:extLst>
          </p:cNvPr>
          <p:cNvSpPr txBox="1"/>
          <p:nvPr/>
        </p:nvSpPr>
        <p:spPr>
          <a:xfrm>
            <a:off x="5414583" y="2349102"/>
            <a:ext cx="3546538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000" dirty="0">
                <a:ea typeface="+mn-lt"/>
                <a:cs typeface="+mn-lt"/>
              </a:rPr>
              <a:t>Una empresa tiene, históricamente, procesos que efectúan los operarios. Al llegar a la mañana inician el proceso, al medio día lo suspenden para almorzar y luego lo reanudan para finalizarlo al final de la jornada laboral. Años después deciden adquirir un robot para automatizar algunos procesos</a:t>
            </a:r>
            <a:endParaRPr lang="es-ES" sz="1600" dirty="0"/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1EE44753-ED5D-E0D5-0C28-28874CA15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79" y="2349102"/>
            <a:ext cx="4703115" cy="286243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D26E033-462A-C5A2-88B2-F26B865E8560}"/>
              </a:ext>
            </a:extLst>
          </p:cNvPr>
          <p:cNvSpPr txBox="1"/>
          <p:nvPr/>
        </p:nvSpPr>
        <p:spPr>
          <a:xfrm>
            <a:off x="364911" y="273907"/>
            <a:ext cx="8805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Interface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Segregation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3DB541-B2FE-980C-B2AE-1FFA465BF262}"/>
              </a:ext>
            </a:extLst>
          </p:cNvPr>
          <p:cNvSpPr txBox="1"/>
          <p:nvPr/>
        </p:nvSpPr>
        <p:spPr>
          <a:xfrm>
            <a:off x="799381" y="5716438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Fuente: </a:t>
            </a:r>
            <a:r>
              <a:rPr lang="en-US" sz="1200" dirty="0" err="1">
                <a:solidFill>
                  <a:srgbClr val="333333"/>
                </a:solidFill>
                <a:latin typeface="Segoe UI"/>
                <a:cs typeface="Segoe UI"/>
              </a:rPr>
              <a:t>starUML</a:t>
            </a:r>
            <a:r>
              <a:rPr lang="en-US" sz="120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323705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F5BE-7882-9FFA-EDDC-1DF319C0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, Escala de tiempo&#10;&#10;El contenido generado por IA puede ser incorrecto.">
            <a:extLst>
              <a:ext uri="{FF2B5EF4-FFF2-40B4-BE49-F238E27FC236}">
                <a16:creationId xmlns:a16="http://schemas.microsoft.com/office/drawing/2014/main" id="{D9D3BD47-4DFE-1DC9-AF0A-8337A020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9874"/>
            <a:ext cx="9544050" cy="380047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77756AE-07FE-E611-CAC5-76C13804164B}"/>
              </a:ext>
            </a:extLst>
          </p:cNvPr>
          <p:cNvSpPr txBox="1"/>
          <p:nvPr/>
        </p:nvSpPr>
        <p:spPr>
          <a:xfrm>
            <a:off x="364911" y="273907"/>
            <a:ext cx="8805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Interface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Segregation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4566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4E20-697A-2977-4340-7E46A4E4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, Escala de tiempo&#10;&#10;El contenido generado por IA puede ser incorrecto.">
            <a:extLst>
              <a:ext uri="{FF2B5EF4-FFF2-40B4-BE49-F238E27FC236}">
                <a16:creationId xmlns:a16="http://schemas.microsoft.com/office/drawing/2014/main" id="{AF409483-BE6F-73B9-39DF-E23BB0120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8434"/>
            <a:ext cx="9544050" cy="380047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814B874-7CC7-FD00-7ECC-14FA584D4F64}"/>
              </a:ext>
            </a:extLst>
          </p:cNvPr>
          <p:cNvSpPr txBox="1"/>
          <p:nvPr/>
        </p:nvSpPr>
        <p:spPr>
          <a:xfrm>
            <a:off x="364911" y="273907"/>
            <a:ext cx="8805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Interface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Segregation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6204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3536-DAD3-6D46-E63D-80A49B6E3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B90C4EA9-7267-58B9-C7C0-1901E470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68" y="1849577"/>
            <a:ext cx="9086366" cy="420601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E6DFEF4-DF99-913E-5C3B-1611399A1420}"/>
              </a:ext>
            </a:extLst>
          </p:cNvPr>
          <p:cNvSpPr txBox="1"/>
          <p:nvPr/>
        </p:nvSpPr>
        <p:spPr>
          <a:xfrm>
            <a:off x="364911" y="273907"/>
            <a:ext cx="8805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Interface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Segregation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3978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E9ED-5ABF-060F-A9B3-93B3E370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44776EDD-DE82-1DC0-8B6D-3B8F6BBC2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22" y="2031498"/>
            <a:ext cx="9155658" cy="355382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367C7BB-3311-0331-7F96-4255E2BF10BC}"/>
              </a:ext>
            </a:extLst>
          </p:cNvPr>
          <p:cNvSpPr txBox="1"/>
          <p:nvPr/>
        </p:nvSpPr>
        <p:spPr>
          <a:xfrm>
            <a:off x="364911" y="273907"/>
            <a:ext cx="8805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Interface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Segregation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7614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19748-84A0-E110-9107-295FFD1B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D29C341-DD03-9CD4-6579-E6A2C9B1B92D}"/>
              </a:ext>
            </a:extLst>
          </p:cNvPr>
          <p:cNvSpPr txBox="1"/>
          <p:nvPr/>
        </p:nvSpPr>
        <p:spPr>
          <a:xfrm>
            <a:off x="1375424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5630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8F010-9446-D2BC-7AE7-E5D688F7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D75774BC-7DA2-3669-5C87-A079AC3DE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209" y="1614662"/>
            <a:ext cx="6178300" cy="49500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6EC4111-B3DB-057B-C99F-D563B702F314}"/>
              </a:ext>
            </a:extLst>
          </p:cNvPr>
          <p:cNvSpPr txBox="1"/>
          <p:nvPr/>
        </p:nvSpPr>
        <p:spPr>
          <a:xfrm>
            <a:off x="477982" y="556553"/>
            <a:ext cx="80564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9125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4619D-269C-2BCA-B333-41703C86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7BCC4C5-CAFD-6B62-C60A-9224872E193F}"/>
              </a:ext>
            </a:extLst>
          </p:cNvPr>
          <p:cNvSpPr txBox="1"/>
          <p:nvPr/>
        </p:nvSpPr>
        <p:spPr>
          <a:xfrm>
            <a:off x="586585" y="2152879"/>
            <a:ext cx="8405016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Se utiliza para desacoplar módulos de software. 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Las clases de alto nivel no deberían depender de las clases de bajo nivel. Ambas deberían depender de las abstracciones. 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Las abstracciones no deberían depender de los detalles. Los detalles deberían depender de las abstracciones. 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Al diseñar la interacción entre un módulo de alto nivel y uno de bajo nivel, la interacción debe considerarse como una interacción abstracta entre ellos.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CF08CDE-A678-F5A2-AEA4-18A7B1EA6C7C}"/>
              </a:ext>
            </a:extLst>
          </p:cNvPr>
          <p:cNvSpPr txBox="1"/>
          <p:nvPr/>
        </p:nvSpPr>
        <p:spPr>
          <a:xfrm>
            <a:off x="477982" y="556553"/>
            <a:ext cx="80564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1413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B6BCB-D253-D91D-967D-3C816409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9A7E68DA-B219-B605-1F1B-F7481FA59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31" y="2910599"/>
            <a:ext cx="3771900" cy="15144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7522768-C04A-326C-8B80-8B738E0FB3A7}"/>
              </a:ext>
            </a:extLst>
          </p:cNvPr>
          <p:cNvSpPr txBox="1"/>
          <p:nvPr/>
        </p:nvSpPr>
        <p:spPr>
          <a:xfrm>
            <a:off x="4766313" y="2480425"/>
            <a:ext cx="431672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Un botón es capaz de detectar si el usuario desea prender o apagar una lámpara. Una vez que lo detecta, procede a prenderla o apagarla según corresponda.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20DFE2-6512-33BA-A42B-5A03574F701A}"/>
              </a:ext>
            </a:extLst>
          </p:cNvPr>
          <p:cNvSpPr txBox="1"/>
          <p:nvPr/>
        </p:nvSpPr>
        <p:spPr>
          <a:xfrm>
            <a:off x="477982" y="297473"/>
            <a:ext cx="80564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89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3E86-EAD9-E102-9770-433586EF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E6874D75-EC73-5C29-C18F-7D4306F4A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02" y="2695220"/>
            <a:ext cx="8792997" cy="287783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D35AB7-7A5C-1806-57CA-EFB2C3D8C721}"/>
              </a:ext>
            </a:extLst>
          </p:cNvPr>
          <p:cNvSpPr txBox="1"/>
          <p:nvPr/>
        </p:nvSpPr>
        <p:spPr>
          <a:xfrm>
            <a:off x="477982" y="297473"/>
            <a:ext cx="80564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5998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CB6B-4A48-C7C3-F683-1881483E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C5D7C23-5857-DC4E-033D-1748474F23A1}"/>
              </a:ext>
            </a:extLst>
          </p:cNvPr>
          <p:cNvSpPr txBox="1"/>
          <p:nvPr/>
        </p:nvSpPr>
        <p:spPr>
          <a:xfrm>
            <a:off x="4766313" y="2480425"/>
            <a:ext cx="4133847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Esto también se puede aplicar al diseño arquitectónico de los sistemas. En este ejemplo, existe una dependencia entre parte del código que debería ser reusable (</a:t>
            </a:r>
            <a:r>
              <a:rPr lang="es-ES" sz="2400" i="1" dirty="0" err="1">
                <a:ea typeface="+mn-lt"/>
                <a:cs typeface="+mn-lt"/>
              </a:rPr>
              <a:t>framework</a:t>
            </a:r>
            <a:r>
              <a:rPr lang="es-ES" sz="2400" dirty="0">
                <a:ea typeface="+mn-lt"/>
                <a:cs typeface="+mn-lt"/>
              </a:rPr>
              <a:t>) y las entidades del dominio del sistema concreto. 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026D35A7-3D14-D9FD-9383-BB3CF5711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2" y="2480125"/>
            <a:ext cx="4689713" cy="268249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26AE741-12AC-6623-AA18-622F06B589AF}"/>
              </a:ext>
            </a:extLst>
          </p:cNvPr>
          <p:cNvSpPr txBox="1"/>
          <p:nvPr/>
        </p:nvSpPr>
        <p:spPr>
          <a:xfrm>
            <a:off x="477982" y="297473"/>
            <a:ext cx="80564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90304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1B97F-AA26-7E03-ED17-11AD7DAB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08D9FC07-E62D-64BA-EB6F-6666DC771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9" y="2707779"/>
            <a:ext cx="9405583" cy="269348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53070CA-179D-F538-5B9D-E869B15346F7}"/>
              </a:ext>
            </a:extLst>
          </p:cNvPr>
          <p:cNvSpPr txBox="1"/>
          <p:nvPr/>
        </p:nvSpPr>
        <p:spPr>
          <a:xfrm>
            <a:off x="477982" y="297473"/>
            <a:ext cx="80564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7239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6FE69-6242-557B-BDA5-5B5963D9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1F2A1883-2EAB-B5CD-C095-A1B4B8328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76" y="2456100"/>
            <a:ext cx="8782761" cy="386786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5228E8F-CABC-CACE-7C15-D3132609EBBC}"/>
              </a:ext>
            </a:extLst>
          </p:cNvPr>
          <p:cNvSpPr txBox="1"/>
          <p:nvPr/>
        </p:nvSpPr>
        <p:spPr>
          <a:xfrm>
            <a:off x="477982" y="297473"/>
            <a:ext cx="80564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1312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42EED-6519-781F-695D-F0B610AD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018EF6E5-1A8E-BE9C-F043-6C9A92F36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82" y="1969201"/>
            <a:ext cx="8779065" cy="433714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3993097-46BE-7B1C-6B1B-8C115974EA52}"/>
              </a:ext>
            </a:extLst>
          </p:cNvPr>
          <p:cNvSpPr txBox="1"/>
          <p:nvPr/>
        </p:nvSpPr>
        <p:spPr>
          <a:xfrm>
            <a:off x="477982" y="297473"/>
            <a:ext cx="80564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Ejemplo de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Dependency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Inversion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r>
              <a:rPr lang="es-AR" sz="4000" b="1" i="1" dirty="0" err="1">
                <a:solidFill>
                  <a:prstClr val="white"/>
                </a:solidFill>
                <a:ea typeface="+mn-lt"/>
                <a:cs typeface="+mn-lt"/>
              </a:rPr>
              <a:t>Principle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 </a:t>
            </a:r>
            <a:endParaRPr lang="es-ES" sz="4000" b="1" i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2235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Síntesis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86303" y="651032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969474" y="1587301"/>
            <a:ext cx="7994417" cy="52014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S – </a:t>
            </a:r>
            <a:r>
              <a:rPr lang="es-AR" sz="2000" b="1" i="1" dirty="0">
                <a:solidFill>
                  <a:srgbClr val="7F7F7F"/>
                </a:solidFill>
                <a:ea typeface="+mn-lt"/>
                <a:cs typeface="+mn-lt"/>
              </a:rPr>
              <a:t>Single </a:t>
            </a:r>
            <a:r>
              <a:rPr lang="es-AR" sz="2000" b="1" i="1" dirty="0" err="1">
                <a:solidFill>
                  <a:srgbClr val="7F7F7F"/>
                </a:solidFill>
                <a:ea typeface="+mn-lt"/>
                <a:cs typeface="+mn-lt"/>
              </a:rPr>
              <a:t>Responsibility</a:t>
            </a:r>
            <a:br>
              <a:rPr lang="es-AR" sz="2000" b="1" dirty="0">
                <a:ea typeface="+mn-lt"/>
                <a:cs typeface="+mn-lt"/>
              </a:rPr>
            </a:b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b="1" i="1" dirty="0">
                <a:solidFill>
                  <a:srgbClr val="7F7F7F"/>
                </a:solidFill>
                <a:ea typeface="+mn-lt"/>
                <a:cs typeface="+mn-lt"/>
              </a:rPr>
              <a:t>Una clase, una responsabilidad.  ➡️ Que solo tenga una razón para cambiar.</a:t>
            </a:r>
            <a:endParaRPr lang="en-US" b="1" dirty="0"/>
          </a:p>
          <a:p>
            <a:endParaRPr lang="es-AR" sz="2000" b="1" i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AR" b="1" dirty="0">
                <a:solidFill>
                  <a:srgbClr val="7F7F7F"/>
                </a:solidFill>
                <a:ea typeface="+mn-lt"/>
                <a:cs typeface="+mn-lt"/>
              </a:rPr>
              <a:t>O – 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Open/</a:t>
            </a:r>
            <a:r>
              <a:rPr lang="es-AR" b="1" i="1" dirty="0" err="1">
                <a:solidFill>
                  <a:srgbClr val="7F7F7F"/>
                </a:solidFill>
                <a:ea typeface="+mn-lt"/>
                <a:cs typeface="+mn-lt"/>
              </a:rPr>
              <a:t>Closed</a:t>
            </a:r>
            <a:br>
              <a:rPr lang="es-AR" b="1" dirty="0">
                <a:ea typeface="+mn-lt"/>
                <a:cs typeface="+mn-lt"/>
              </a:rPr>
            </a:br>
            <a:r>
              <a:rPr lang="es-AR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Abierto para extender, cerrado para modificar.  ➡️ Nuevas funciones sin tocar código existente.</a:t>
            </a:r>
            <a:endParaRPr lang="es-AR" b="1" dirty="0"/>
          </a:p>
          <a:p>
            <a:endParaRPr lang="es-AR" b="1" i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AR" b="1" dirty="0">
                <a:solidFill>
                  <a:srgbClr val="7F7F7F"/>
                </a:solidFill>
                <a:ea typeface="+mn-lt"/>
                <a:cs typeface="+mn-lt"/>
              </a:rPr>
              <a:t>L – </a:t>
            </a:r>
            <a:r>
              <a:rPr lang="es-AR" b="1" i="1" dirty="0" err="1">
                <a:solidFill>
                  <a:srgbClr val="7F7F7F"/>
                </a:solidFill>
                <a:ea typeface="+mn-lt"/>
                <a:cs typeface="+mn-lt"/>
              </a:rPr>
              <a:t>Liskov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b="1" i="1" dirty="0" err="1">
                <a:solidFill>
                  <a:srgbClr val="7F7F7F"/>
                </a:solidFill>
                <a:ea typeface="+mn-lt"/>
                <a:cs typeface="+mn-lt"/>
              </a:rPr>
              <a:t>Substitution</a:t>
            </a:r>
            <a:br>
              <a:rPr lang="es-AR" b="1" dirty="0">
                <a:ea typeface="+mn-lt"/>
                <a:cs typeface="+mn-lt"/>
              </a:rPr>
            </a:br>
            <a:r>
              <a:rPr lang="es-AR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Las subclases deben comportarse como sus padres.  ➡️ La herencia no debe romper </a:t>
            </a:r>
            <a:r>
              <a:rPr lang="es-AR" b="1" i="1" u="none" strike="noStrike" dirty="0">
                <a:solidFill>
                  <a:srgbClr val="7F7F7F"/>
                </a:solidFill>
                <a:effectLst/>
                <a:ea typeface="+mn-lt"/>
                <a:cs typeface="+mn-lt"/>
              </a:rPr>
              <a:t>el 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sistema.</a:t>
            </a:r>
            <a:endParaRPr lang="en-US" b="1" dirty="0"/>
          </a:p>
          <a:p>
            <a:endParaRPr lang="es-AR" b="1" i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AR" b="1" dirty="0">
                <a:solidFill>
                  <a:srgbClr val="7F7F7F"/>
                </a:solidFill>
                <a:ea typeface="+mn-lt"/>
                <a:cs typeface="+mn-lt"/>
              </a:rPr>
              <a:t>I – 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Interface </a:t>
            </a:r>
            <a:r>
              <a:rPr lang="es-AR" b="1" i="1" dirty="0" err="1">
                <a:solidFill>
                  <a:srgbClr val="7F7F7F"/>
                </a:solidFill>
                <a:ea typeface="+mn-lt"/>
                <a:cs typeface="+mn-lt"/>
              </a:rPr>
              <a:t>Segregation</a:t>
            </a:r>
            <a:br>
              <a:rPr lang="es-AR" b="1" dirty="0">
                <a:ea typeface="+mn-lt"/>
                <a:cs typeface="+mn-lt"/>
              </a:rPr>
            </a:br>
            <a:r>
              <a:rPr lang="es-AR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Interfaces pequeñas y específicas.  ➡️ </a:t>
            </a:r>
            <a:r>
              <a:rPr lang="es-AR" b="1" i="1" dirty="0" err="1">
                <a:solidFill>
                  <a:srgbClr val="7F7F7F"/>
                </a:solidFill>
                <a:ea typeface="+mn-lt"/>
                <a:cs typeface="+mn-lt"/>
              </a:rPr>
              <a:t>Evitá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 depender de métodos innecesarios.</a:t>
            </a:r>
            <a:endParaRPr lang="en-US" b="1" dirty="0"/>
          </a:p>
          <a:p>
            <a:endParaRPr lang="es-AR" b="1" i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AR" b="1" dirty="0">
                <a:solidFill>
                  <a:srgbClr val="7F7F7F"/>
                </a:solidFill>
                <a:ea typeface="+mn-lt"/>
                <a:cs typeface="+mn-lt"/>
              </a:rPr>
              <a:t> D – </a:t>
            </a:r>
            <a:r>
              <a:rPr lang="es-AR" b="1" i="1" dirty="0" err="1">
                <a:solidFill>
                  <a:srgbClr val="7F7F7F"/>
                </a:solidFill>
                <a:ea typeface="+mn-lt"/>
                <a:cs typeface="+mn-lt"/>
              </a:rPr>
              <a:t>Dependency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b="1" i="1" dirty="0" err="1">
                <a:solidFill>
                  <a:srgbClr val="7F7F7F"/>
                </a:solidFill>
                <a:ea typeface="+mn-lt"/>
                <a:cs typeface="+mn-lt"/>
              </a:rPr>
              <a:t>Inversion</a:t>
            </a:r>
            <a:br>
              <a:rPr lang="es-AR" b="1" dirty="0">
                <a:ea typeface="+mn-lt"/>
                <a:cs typeface="+mn-lt"/>
              </a:rPr>
            </a:br>
            <a:r>
              <a:rPr lang="es-AR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Depender de abstracciones, no implementaciones.  ➡️ </a:t>
            </a:r>
            <a:r>
              <a:rPr lang="es-AR" b="1" i="1" dirty="0" err="1">
                <a:solidFill>
                  <a:srgbClr val="7F7F7F"/>
                </a:solidFill>
                <a:ea typeface="+mn-lt"/>
                <a:cs typeface="+mn-lt"/>
              </a:rPr>
              <a:t>Acoplá</a:t>
            </a:r>
            <a:r>
              <a:rPr lang="es-AR" b="1" i="1" dirty="0">
                <a:solidFill>
                  <a:srgbClr val="7F7F7F"/>
                </a:solidFill>
                <a:ea typeface="+mn-lt"/>
                <a:cs typeface="+mn-lt"/>
              </a:rPr>
              <a:t> tu sistema a interfaces, no a detalles.</a:t>
            </a:r>
            <a:endParaRPr lang="es-AR" b="1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4F85F8D-1C10-E6FC-CDCB-0F1D5910643B}"/>
              </a:ext>
            </a:extLst>
          </p:cNvPr>
          <p:cNvSpPr/>
          <p:nvPr/>
        </p:nvSpPr>
        <p:spPr>
          <a:xfrm>
            <a:off x="520989" y="1735788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5677FCF-A76E-CF0D-3203-61796F151F97}"/>
              </a:ext>
            </a:extLst>
          </p:cNvPr>
          <p:cNvSpPr/>
          <p:nvPr/>
        </p:nvSpPr>
        <p:spPr>
          <a:xfrm>
            <a:off x="520989" y="2927283"/>
            <a:ext cx="130628" cy="13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5F0465B-188D-E72A-90A2-F3ECB64134EC}"/>
              </a:ext>
            </a:extLst>
          </p:cNvPr>
          <p:cNvSpPr/>
          <p:nvPr/>
        </p:nvSpPr>
        <p:spPr>
          <a:xfrm>
            <a:off x="520989" y="4021793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01C014D-B108-90F2-064F-90C1AF7CE956}"/>
              </a:ext>
            </a:extLst>
          </p:cNvPr>
          <p:cNvSpPr/>
          <p:nvPr/>
        </p:nvSpPr>
        <p:spPr>
          <a:xfrm>
            <a:off x="520989" y="5116303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95912F4-98C6-91D9-CE99-AE9CA5C7A574}"/>
              </a:ext>
            </a:extLst>
          </p:cNvPr>
          <p:cNvSpPr/>
          <p:nvPr/>
        </p:nvSpPr>
        <p:spPr>
          <a:xfrm>
            <a:off x="520989" y="5955490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4A56-4AA8-85C0-53CF-77334B48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C8EFDDF-D28D-137F-0863-02540E130A7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  <a:ea typeface="Calibri"/>
                <a:cs typeface="Calibri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38037149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44107" y="2724473"/>
            <a:ext cx="4075541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HSU, S.; CURRIE, A. y BERGMAN, S. 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Construir software verde: un enfoque sostenible para el desarrollo y la operación de software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Barcelona: Marcombo, 2025.</a:t>
            </a:r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1803CA-FEBB-4A0D-BD4D-E9503F1B167C}">
  <ds:schemaRefs>
    <ds:schemaRef ds:uri="http://purl.org/dc/elements/1.1/"/>
    <ds:schemaRef ds:uri="http://www.w3.org/XML/1998/namespace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b5f0631a-2ac1-434a-9e75-b23938e5739a"/>
    <ds:schemaRef ds:uri="232756c5-2869-4da6-aa3d-6ef32daae75e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75</TotalTime>
  <Words>875</Words>
  <Application>Microsoft Office PowerPoint</Application>
  <PresentationFormat>Panorámica</PresentationFormat>
  <Paragraphs>102</Paragraphs>
  <Slides>47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47</vt:i4>
      </vt:variant>
    </vt:vector>
  </HeadingPairs>
  <TitlesOfParts>
    <vt:vector size="50" baseType="lpstr"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ADDESSO CAMILA</cp:lastModifiedBy>
  <cp:revision>348</cp:revision>
  <dcterms:created xsi:type="dcterms:W3CDTF">2022-08-30T18:57:15Z</dcterms:created>
  <dcterms:modified xsi:type="dcterms:W3CDTF">2025-10-22T15:03:04Z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
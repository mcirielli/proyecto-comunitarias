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  <p:sldMasterId id="2147483720" r:id="rId5"/>
    <p:sldMasterId id="2147483660" r:id="rId6"/>
  </p:sldMasterIdLst>
  <p:notesMasterIdLst>
    <p:notesMasterId r:id="rId31"/>
  </p:notesMasterIdLst>
  <p:handoutMasterIdLst>
    <p:handoutMasterId r:id="rId32"/>
  </p:handoutMasterIdLst>
  <p:sldIdLst>
    <p:sldId id="344" r:id="rId7"/>
    <p:sldId id="346" r:id="rId8"/>
    <p:sldId id="258" r:id="rId9"/>
    <p:sldId id="326" r:id="rId10"/>
    <p:sldId id="348" r:id="rId11"/>
    <p:sldId id="347" r:id="rId12"/>
    <p:sldId id="366" r:id="rId13"/>
    <p:sldId id="349" r:id="rId14"/>
    <p:sldId id="350" r:id="rId15"/>
    <p:sldId id="355" r:id="rId16"/>
    <p:sldId id="359" r:id="rId17"/>
    <p:sldId id="358" r:id="rId18"/>
    <p:sldId id="357" r:id="rId19"/>
    <p:sldId id="360" r:id="rId20"/>
    <p:sldId id="364" r:id="rId21"/>
    <p:sldId id="363" r:id="rId22"/>
    <p:sldId id="362" r:id="rId23"/>
    <p:sldId id="361" r:id="rId24"/>
    <p:sldId id="354" r:id="rId25"/>
    <p:sldId id="353" r:id="rId26"/>
    <p:sldId id="365" r:id="rId27"/>
    <p:sldId id="367" r:id="rId28"/>
    <p:sldId id="316" r:id="rId29"/>
    <p:sldId id="272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62F96D9-971B-6D8E-A80A-74D16742802A}" name="RUIZ MATIAS GABRIEL" initials="" userId="S::matruiz@uade.edu.ar::72c12a3b-a710-4b0e-ab01-ac5c42c63442" providerId="AD"/>
  <p188:author id="{DD719EE8-DDFC-16A4-4674-DD58E045D250}" name="ADDESSO CAMILA" initials="CA" userId="S::caddesso@uade.edu.ar::efb615f5-46de-4cfe-a24f-17ca13fe304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102D"/>
    <a:srgbClr val="62A72F"/>
    <a:srgbClr val="A57EB2"/>
    <a:srgbClr val="E1E1DF"/>
    <a:srgbClr val="F6A610"/>
    <a:srgbClr val="4C4C4C"/>
    <a:srgbClr val="0EA6CF"/>
    <a:srgbClr val="ED6B20"/>
    <a:srgbClr val="7F7F7F"/>
    <a:srgbClr val="0C1C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37C43C-CEC8-FE24-E54E-EFD07AB6AFF6}" v="7" dt="2025-10-22T15:25:45.9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18" autoAdjust="0"/>
    <p:restoredTop sz="96654" autoAdjust="0"/>
  </p:normalViewPr>
  <p:slideViewPr>
    <p:cSldViewPr snapToGrid="0">
      <p:cViewPr varScale="1">
        <p:scale>
          <a:sx n="76" d="100"/>
          <a:sy n="76" d="100"/>
        </p:scale>
        <p:origin x="62" y="4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483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presProps" Target="pres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handoutMaster" Target="handoutMasters/handoutMaster1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theme" Target="theme/theme1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5F4AEF-3A3B-4C96-8C82-189E7430CB8A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s-AR"/>
        </a:p>
      </dgm:t>
    </dgm:pt>
    <dgm:pt modelId="{264D17BD-4298-4B7F-BB3C-9ECBC8DA0C0D}">
      <dgm:prSet/>
      <dgm:spPr/>
      <dgm:t>
        <a:bodyPr/>
        <a:lstStyle/>
        <a:p>
          <a:r>
            <a:rPr lang="es-ES" b="1" dirty="0"/>
            <a:t>Método </a:t>
          </a:r>
          <a:r>
            <a:rPr lang="es-ES" b="1" i="1" dirty="0"/>
            <a:t>Factory</a:t>
          </a:r>
          <a:r>
            <a:rPr lang="es-ES" b="1" dirty="0"/>
            <a:t>:</a:t>
          </a:r>
          <a:endParaRPr lang="es-AR" b="1" dirty="0"/>
        </a:p>
      </dgm:t>
    </dgm:pt>
    <dgm:pt modelId="{DBEBEAC1-3F56-458E-BBB0-59EAD9F312F7}" type="parTrans" cxnId="{D6CC0A7B-5841-4286-B084-5221184104A2}">
      <dgm:prSet/>
      <dgm:spPr/>
      <dgm:t>
        <a:bodyPr/>
        <a:lstStyle/>
        <a:p>
          <a:endParaRPr lang="es-AR"/>
        </a:p>
      </dgm:t>
    </dgm:pt>
    <dgm:pt modelId="{7654FF45-FFC8-416D-A7EA-1D20B8762081}" type="sibTrans" cxnId="{D6CC0A7B-5841-4286-B084-5221184104A2}">
      <dgm:prSet/>
      <dgm:spPr/>
      <dgm:t>
        <a:bodyPr/>
        <a:lstStyle/>
        <a:p>
          <a:endParaRPr lang="es-AR"/>
        </a:p>
      </dgm:t>
    </dgm:pt>
    <dgm:pt modelId="{711779C6-0CB3-4913-B1F2-AA6451325D85}">
      <dgm:prSet/>
      <dgm:spPr/>
      <dgm:t>
        <a:bodyPr/>
        <a:lstStyle/>
        <a:p>
          <a:r>
            <a:rPr lang="es-ES" b="1" dirty="0"/>
            <a:t>• Interface (o clase abstracta) Producto:</a:t>
          </a:r>
          <a:endParaRPr lang="es-AR" b="1" dirty="0"/>
        </a:p>
      </dgm:t>
    </dgm:pt>
    <dgm:pt modelId="{DFB138D3-0BB2-4CB0-86E3-3DDDCB3A0408}" type="parTrans" cxnId="{E2E11FA2-6475-4187-AAD2-28B8FA782B61}">
      <dgm:prSet/>
      <dgm:spPr/>
      <dgm:t>
        <a:bodyPr/>
        <a:lstStyle/>
        <a:p>
          <a:endParaRPr lang="es-AR"/>
        </a:p>
      </dgm:t>
    </dgm:pt>
    <dgm:pt modelId="{28614088-1360-4CC1-9025-89C05D27B3CC}" type="sibTrans" cxnId="{E2E11FA2-6475-4187-AAD2-28B8FA782B61}">
      <dgm:prSet/>
      <dgm:spPr/>
      <dgm:t>
        <a:bodyPr/>
        <a:lstStyle/>
        <a:p>
          <a:endParaRPr lang="es-AR"/>
        </a:p>
      </dgm:t>
    </dgm:pt>
    <dgm:pt modelId="{0A18B2FA-59E0-4108-A513-592D7F5E2740}">
      <dgm:prSet/>
      <dgm:spPr/>
      <dgm:t>
        <a:bodyPr/>
        <a:lstStyle/>
        <a:p>
          <a:r>
            <a:rPr lang="es-ES" b="1" dirty="0"/>
            <a:t>Productos concretos:</a:t>
          </a:r>
          <a:endParaRPr lang="es-AR" b="1" dirty="0"/>
        </a:p>
      </dgm:t>
    </dgm:pt>
    <dgm:pt modelId="{C9F4A643-C5DF-4851-ADAB-3E571BE52365}" type="parTrans" cxnId="{8E4E980F-C6BF-425E-A89A-56C9EAF01E04}">
      <dgm:prSet/>
      <dgm:spPr/>
      <dgm:t>
        <a:bodyPr/>
        <a:lstStyle/>
        <a:p>
          <a:endParaRPr lang="es-AR"/>
        </a:p>
      </dgm:t>
    </dgm:pt>
    <dgm:pt modelId="{B7589F03-FE6E-4E3A-AAFE-3DD7842A6E63}" type="sibTrans" cxnId="{8E4E980F-C6BF-425E-A89A-56C9EAF01E04}">
      <dgm:prSet/>
      <dgm:spPr/>
      <dgm:t>
        <a:bodyPr/>
        <a:lstStyle/>
        <a:p>
          <a:endParaRPr lang="es-AR"/>
        </a:p>
      </dgm:t>
    </dgm:pt>
    <dgm:pt modelId="{7F572698-A04D-41F5-8E2F-AA81509D9AA9}">
      <dgm:prSet/>
      <dgm:spPr/>
      <dgm:t>
        <a:bodyPr/>
        <a:lstStyle/>
        <a:p>
          <a:r>
            <a:rPr lang="es-ES"/>
            <a:t>Método </a:t>
          </a:r>
          <a:r>
            <a:rPr lang="es-ES" dirty="0"/>
            <a:t>de alguna clase que tiene la responsabilidad de instanciar una clase, de entre muchas, </a:t>
          </a:r>
          <a:r>
            <a:rPr lang="es-ES" dirty="0" err="1"/>
            <a:t>según</a:t>
          </a:r>
          <a:r>
            <a:rPr lang="es-ES" dirty="0"/>
            <a:t> </a:t>
          </a:r>
          <a:r>
            <a:rPr lang="es-ES" dirty="0" err="1"/>
            <a:t>algún</a:t>
          </a:r>
          <a:r>
            <a:rPr lang="es-ES" dirty="0"/>
            <a:t> </a:t>
          </a:r>
          <a:r>
            <a:rPr lang="es-ES" dirty="0" err="1"/>
            <a:t>parámetro</a:t>
          </a:r>
          <a:r>
            <a:rPr lang="es-ES" dirty="0"/>
            <a:t>. Por comodidad, suele ser un </a:t>
          </a:r>
          <a:r>
            <a:rPr lang="es-ES" dirty="0" err="1"/>
            <a:t>método</a:t>
          </a:r>
          <a:r>
            <a:rPr lang="es-ES" dirty="0"/>
            <a:t> de clase (</a:t>
          </a:r>
          <a:r>
            <a:rPr lang="es-ES" dirty="0" err="1"/>
            <a:t>estático</a:t>
          </a:r>
          <a:r>
            <a:rPr lang="es-ES" dirty="0"/>
            <a:t>). Evita que otras clases tengan lógica repetida de instanciación. </a:t>
          </a:r>
          <a:endParaRPr lang="es-AR" dirty="0"/>
        </a:p>
      </dgm:t>
    </dgm:pt>
    <dgm:pt modelId="{65370A6A-5706-42BF-A3ED-3138F1BD94CA}" type="parTrans" cxnId="{606B8225-0ADA-4327-9C69-C7058BB397D0}">
      <dgm:prSet/>
      <dgm:spPr/>
      <dgm:t>
        <a:bodyPr/>
        <a:lstStyle/>
        <a:p>
          <a:endParaRPr lang="es-AR"/>
        </a:p>
      </dgm:t>
    </dgm:pt>
    <dgm:pt modelId="{B87D7AD9-2264-4073-B494-729361FDADF9}" type="sibTrans" cxnId="{606B8225-0ADA-4327-9C69-C7058BB397D0}">
      <dgm:prSet/>
      <dgm:spPr/>
      <dgm:t>
        <a:bodyPr/>
        <a:lstStyle/>
        <a:p>
          <a:endParaRPr lang="es-AR"/>
        </a:p>
      </dgm:t>
    </dgm:pt>
    <dgm:pt modelId="{433CBD61-5805-410D-A221-DCB3A9E29303}">
      <dgm:prSet/>
      <dgm:spPr/>
      <dgm:t>
        <a:bodyPr/>
        <a:lstStyle/>
        <a:p>
          <a:r>
            <a:rPr lang="es-ES" dirty="0"/>
            <a:t>Interface que comparten las clases que necesitan ser instanciadas de forma sencilla/transparente para un tercero. </a:t>
          </a:r>
          <a:endParaRPr lang="es-AR" dirty="0"/>
        </a:p>
      </dgm:t>
    </dgm:pt>
    <dgm:pt modelId="{BB094D7D-A488-436C-B55A-CA5632F9F200}" type="parTrans" cxnId="{BAADE3C7-6BAC-4DD2-9E3A-32DE1DDB7CA6}">
      <dgm:prSet/>
      <dgm:spPr/>
      <dgm:t>
        <a:bodyPr/>
        <a:lstStyle/>
        <a:p>
          <a:endParaRPr lang="es-AR"/>
        </a:p>
      </dgm:t>
    </dgm:pt>
    <dgm:pt modelId="{5D8E7A3B-799A-478E-92EF-C5E72AED2A15}" type="sibTrans" cxnId="{BAADE3C7-6BAC-4DD2-9E3A-32DE1DDB7CA6}">
      <dgm:prSet/>
      <dgm:spPr/>
      <dgm:t>
        <a:bodyPr/>
        <a:lstStyle/>
        <a:p>
          <a:endParaRPr lang="es-AR"/>
        </a:p>
      </dgm:t>
    </dgm:pt>
    <dgm:pt modelId="{971D6292-AAB8-40E0-BCC1-05DE44F9C23F}">
      <dgm:prSet/>
      <dgm:spPr/>
      <dgm:t>
        <a:bodyPr/>
        <a:lstStyle/>
        <a:p>
          <a:r>
            <a:rPr lang="es-ES" dirty="0"/>
            <a:t>Clases concretas que implementan (o heredan de, si fuera clase abstracta) la interface Producto. </a:t>
          </a:r>
          <a:endParaRPr lang="es-AR" dirty="0"/>
        </a:p>
      </dgm:t>
    </dgm:pt>
    <dgm:pt modelId="{846BD8B5-3354-42D6-B6BD-7F2373DDF59A}" type="parTrans" cxnId="{EF282415-B615-4941-94A2-5F7FA478C28F}">
      <dgm:prSet/>
      <dgm:spPr/>
      <dgm:t>
        <a:bodyPr/>
        <a:lstStyle/>
        <a:p>
          <a:endParaRPr lang="es-AR"/>
        </a:p>
      </dgm:t>
    </dgm:pt>
    <dgm:pt modelId="{B265178E-9CE3-4804-AD6A-FCB2F3CC2586}" type="sibTrans" cxnId="{EF282415-B615-4941-94A2-5F7FA478C28F}">
      <dgm:prSet/>
      <dgm:spPr/>
      <dgm:t>
        <a:bodyPr/>
        <a:lstStyle/>
        <a:p>
          <a:endParaRPr lang="es-AR"/>
        </a:p>
      </dgm:t>
    </dgm:pt>
    <dgm:pt modelId="{2E7B62BF-4360-453A-9B2C-298D5F2A3B37}">
      <dgm:prSet/>
      <dgm:spPr/>
      <dgm:t>
        <a:bodyPr/>
        <a:lstStyle/>
        <a:p>
          <a:r>
            <a:rPr lang="es-ES" b="1" dirty="0"/>
            <a:t>Cliente(s):</a:t>
          </a:r>
          <a:endParaRPr lang="es-AR" b="1" dirty="0"/>
        </a:p>
      </dgm:t>
    </dgm:pt>
    <dgm:pt modelId="{685361D0-B3AE-44AB-B24A-5EF287850F2D}" type="parTrans" cxnId="{B1E41EC3-FA7C-44A8-9FD4-593C59FDCB5B}">
      <dgm:prSet/>
      <dgm:spPr/>
      <dgm:t>
        <a:bodyPr/>
        <a:lstStyle/>
        <a:p>
          <a:endParaRPr lang="es-AR"/>
        </a:p>
      </dgm:t>
    </dgm:pt>
    <dgm:pt modelId="{865E216A-00C2-41AC-9BF5-629931321B0B}" type="sibTrans" cxnId="{B1E41EC3-FA7C-44A8-9FD4-593C59FDCB5B}">
      <dgm:prSet/>
      <dgm:spPr/>
      <dgm:t>
        <a:bodyPr/>
        <a:lstStyle/>
        <a:p>
          <a:endParaRPr lang="es-AR"/>
        </a:p>
      </dgm:t>
    </dgm:pt>
    <dgm:pt modelId="{14045C57-A71E-4330-A5FF-85728D138596}">
      <dgm:prSet/>
      <dgm:spPr/>
      <dgm:t>
        <a:bodyPr/>
        <a:lstStyle/>
        <a:p>
          <a:r>
            <a:rPr lang="es-ES"/>
            <a:t>Clase</a:t>
          </a:r>
          <a:r>
            <a:rPr lang="es-ES" dirty="0"/>
            <a:t>(s) cuyos objetos hacen uso del </a:t>
          </a:r>
          <a:r>
            <a:rPr lang="es-ES" dirty="0" err="1"/>
            <a:t>método</a:t>
          </a:r>
          <a:r>
            <a:rPr lang="es-ES" dirty="0"/>
            <a:t> de fabricación</a:t>
          </a:r>
          <a:endParaRPr lang="es-AR" dirty="0"/>
        </a:p>
      </dgm:t>
    </dgm:pt>
    <dgm:pt modelId="{56EB9951-5C54-4510-A675-7151E8A07D25}" type="parTrans" cxnId="{D9E5CC73-EE5A-43DE-A370-300361251E4C}">
      <dgm:prSet/>
      <dgm:spPr/>
      <dgm:t>
        <a:bodyPr/>
        <a:lstStyle/>
        <a:p>
          <a:endParaRPr lang="es-AR"/>
        </a:p>
      </dgm:t>
    </dgm:pt>
    <dgm:pt modelId="{8DC083AA-53B5-429A-8C0B-37615F09BE76}" type="sibTrans" cxnId="{D9E5CC73-EE5A-43DE-A370-300361251E4C}">
      <dgm:prSet/>
      <dgm:spPr/>
      <dgm:t>
        <a:bodyPr/>
        <a:lstStyle/>
        <a:p>
          <a:endParaRPr lang="es-AR"/>
        </a:p>
      </dgm:t>
    </dgm:pt>
    <dgm:pt modelId="{BB4C86D0-FE65-47F9-B921-BE2CB065F3B5}" type="pres">
      <dgm:prSet presAssocID="{805F4AEF-3A3B-4C96-8C82-189E7430CB8A}" presName="Name0" presStyleCnt="0">
        <dgm:presLayoutVars>
          <dgm:dir/>
          <dgm:animLvl val="lvl"/>
          <dgm:resizeHandles val="exact"/>
        </dgm:presLayoutVars>
      </dgm:prSet>
      <dgm:spPr/>
    </dgm:pt>
    <dgm:pt modelId="{4DF0DE51-33CE-4F4E-A67A-D0167A298223}" type="pres">
      <dgm:prSet presAssocID="{264D17BD-4298-4B7F-BB3C-9ECBC8DA0C0D}" presName="composite" presStyleCnt="0"/>
      <dgm:spPr/>
    </dgm:pt>
    <dgm:pt modelId="{2C2F3E96-48BA-4E0B-A822-31419E99AF93}" type="pres">
      <dgm:prSet presAssocID="{264D17BD-4298-4B7F-BB3C-9ECBC8DA0C0D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9F5A4F04-4F92-4B04-A01B-580BA78EC23A}" type="pres">
      <dgm:prSet presAssocID="{264D17BD-4298-4B7F-BB3C-9ECBC8DA0C0D}" presName="desTx" presStyleLbl="alignAccFollowNode1" presStyleIdx="0" presStyleCnt="4">
        <dgm:presLayoutVars>
          <dgm:bulletEnabled val="1"/>
        </dgm:presLayoutVars>
      </dgm:prSet>
      <dgm:spPr/>
    </dgm:pt>
    <dgm:pt modelId="{B1FD77D6-3F26-44EF-B3AD-66BDE2E3A995}" type="pres">
      <dgm:prSet presAssocID="{7654FF45-FFC8-416D-A7EA-1D20B8762081}" presName="space" presStyleCnt="0"/>
      <dgm:spPr/>
    </dgm:pt>
    <dgm:pt modelId="{039AE12E-B0DD-4084-99B3-2FB4907BA50E}" type="pres">
      <dgm:prSet presAssocID="{711779C6-0CB3-4913-B1F2-AA6451325D85}" presName="composite" presStyleCnt="0"/>
      <dgm:spPr/>
    </dgm:pt>
    <dgm:pt modelId="{08735B8C-1EDA-4150-A135-B3A062B6403C}" type="pres">
      <dgm:prSet presAssocID="{711779C6-0CB3-4913-B1F2-AA6451325D85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3B9343B3-8E48-452D-8809-153AE38E7A68}" type="pres">
      <dgm:prSet presAssocID="{711779C6-0CB3-4913-B1F2-AA6451325D85}" presName="desTx" presStyleLbl="alignAccFollowNode1" presStyleIdx="1" presStyleCnt="4">
        <dgm:presLayoutVars>
          <dgm:bulletEnabled val="1"/>
        </dgm:presLayoutVars>
      </dgm:prSet>
      <dgm:spPr/>
    </dgm:pt>
    <dgm:pt modelId="{06FCC96A-CE60-4E5C-923E-B8F67E795369}" type="pres">
      <dgm:prSet presAssocID="{28614088-1360-4CC1-9025-89C05D27B3CC}" presName="space" presStyleCnt="0"/>
      <dgm:spPr/>
    </dgm:pt>
    <dgm:pt modelId="{A6283B25-7F1E-4DC3-A2EC-CECB6EBF8912}" type="pres">
      <dgm:prSet presAssocID="{0A18B2FA-59E0-4108-A513-592D7F5E2740}" presName="composite" presStyleCnt="0"/>
      <dgm:spPr/>
    </dgm:pt>
    <dgm:pt modelId="{9A35B4C8-C9A9-4A3F-9701-542AB6E9004E}" type="pres">
      <dgm:prSet presAssocID="{0A18B2FA-59E0-4108-A513-592D7F5E2740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4CC67EE7-6E6D-4208-B920-DF4292D102AE}" type="pres">
      <dgm:prSet presAssocID="{0A18B2FA-59E0-4108-A513-592D7F5E2740}" presName="desTx" presStyleLbl="alignAccFollowNode1" presStyleIdx="2" presStyleCnt="4">
        <dgm:presLayoutVars>
          <dgm:bulletEnabled val="1"/>
        </dgm:presLayoutVars>
      </dgm:prSet>
      <dgm:spPr/>
    </dgm:pt>
    <dgm:pt modelId="{385CF7B4-9CB0-4CA7-A587-F61505BF3E44}" type="pres">
      <dgm:prSet presAssocID="{B7589F03-FE6E-4E3A-AAFE-3DD7842A6E63}" presName="space" presStyleCnt="0"/>
      <dgm:spPr/>
    </dgm:pt>
    <dgm:pt modelId="{EA8DF36B-B169-46BE-987E-6FD769D779BF}" type="pres">
      <dgm:prSet presAssocID="{2E7B62BF-4360-453A-9B2C-298D5F2A3B37}" presName="composite" presStyleCnt="0"/>
      <dgm:spPr/>
    </dgm:pt>
    <dgm:pt modelId="{329A2CCD-FAA3-44EA-B3A5-6E0B909E6C8A}" type="pres">
      <dgm:prSet presAssocID="{2E7B62BF-4360-453A-9B2C-298D5F2A3B37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559B89E4-551A-4828-BD4C-D3B70A900AD0}" type="pres">
      <dgm:prSet presAssocID="{2E7B62BF-4360-453A-9B2C-298D5F2A3B37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590F4505-39D3-4765-8FAB-793A3B1C3840}" type="presOf" srcId="{2E7B62BF-4360-453A-9B2C-298D5F2A3B37}" destId="{329A2CCD-FAA3-44EA-B3A5-6E0B909E6C8A}" srcOrd="0" destOrd="0" presId="urn:microsoft.com/office/officeart/2005/8/layout/hList1"/>
    <dgm:cxn modelId="{8E4E980F-C6BF-425E-A89A-56C9EAF01E04}" srcId="{805F4AEF-3A3B-4C96-8C82-189E7430CB8A}" destId="{0A18B2FA-59E0-4108-A513-592D7F5E2740}" srcOrd="2" destOrd="0" parTransId="{C9F4A643-C5DF-4851-ADAB-3E571BE52365}" sibTransId="{B7589F03-FE6E-4E3A-AAFE-3DD7842A6E63}"/>
    <dgm:cxn modelId="{EF282415-B615-4941-94A2-5F7FA478C28F}" srcId="{0A18B2FA-59E0-4108-A513-592D7F5E2740}" destId="{971D6292-AAB8-40E0-BCC1-05DE44F9C23F}" srcOrd="0" destOrd="0" parTransId="{846BD8B5-3354-42D6-B6BD-7F2373DDF59A}" sibTransId="{B265178E-9CE3-4804-AD6A-FCB2F3CC2586}"/>
    <dgm:cxn modelId="{406F851F-02D7-408B-A4BA-0505514DB75E}" type="presOf" srcId="{805F4AEF-3A3B-4C96-8C82-189E7430CB8A}" destId="{BB4C86D0-FE65-47F9-B921-BE2CB065F3B5}" srcOrd="0" destOrd="0" presId="urn:microsoft.com/office/officeart/2005/8/layout/hList1"/>
    <dgm:cxn modelId="{B7C9DF23-EC46-4466-9731-65BDF70C5E63}" type="presOf" srcId="{711779C6-0CB3-4913-B1F2-AA6451325D85}" destId="{08735B8C-1EDA-4150-A135-B3A062B6403C}" srcOrd="0" destOrd="0" presId="urn:microsoft.com/office/officeart/2005/8/layout/hList1"/>
    <dgm:cxn modelId="{606B8225-0ADA-4327-9C69-C7058BB397D0}" srcId="{264D17BD-4298-4B7F-BB3C-9ECBC8DA0C0D}" destId="{7F572698-A04D-41F5-8E2F-AA81509D9AA9}" srcOrd="0" destOrd="0" parTransId="{65370A6A-5706-42BF-A3ED-3138F1BD94CA}" sibTransId="{B87D7AD9-2264-4073-B494-729361FDADF9}"/>
    <dgm:cxn modelId="{A0AA7D40-1E87-4AE8-9734-BB800EADFAAC}" type="presOf" srcId="{264D17BD-4298-4B7F-BB3C-9ECBC8DA0C0D}" destId="{2C2F3E96-48BA-4E0B-A822-31419E99AF93}" srcOrd="0" destOrd="0" presId="urn:microsoft.com/office/officeart/2005/8/layout/hList1"/>
    <dgm:cxn modelId="{36786A5E-364B-4991-BB86-4999C4794F93}" type="presOf" srcId="{14045C57-A71E-4330-A5FF-85728D138596}" destId="{559B89E4-551A-4828-BD4C-D3B70A900AD0}" srcOrd="0" destOrd="0" presId="urn:microsoft.com/office/officeart/2005/8/layout/hList1"/>
    <dgm:cxn modelId="{DDCE6063-F472-4E39-B083-4438B5808460}" type="presOf" srcId="{0A18B2FA-59E0-4108-A513-592D7F5E2740}" destId="{9A35B4C8-C9A9-4A3F-9701-542AB6E9004E}" srcOrd="0" destOrd="0" presId="urn:microsoft.com/office/officeart/2005/8/layout/hList1"/>
    <dgm:cxn modelId="{F6AFC54A-3D54-4065-96A4-85B2D9891838}" type="presOf" srcId="{7F572698-A04D-41F5-8E2F-AA81509D9AA9}" destId="{9F5A4F04-4F92-4B04-A01B-580BA78EC23A}" srcOrd="0" destOrd="0" presId="urn:microsoft.com/office/officeart/2005/8/layout/hList1"/>
    <dgm:cxn modelId="{D9E5CC73-EE5A-43DE-A370-300361251E4C}" srcId="{2E7B62BF-4360-453A-9B2C-298D5F2A3B37}" destId="{14045C57-A71E-4330-A5FF-85728D138596}" srcOrd="0" destOrd="0" parTransId="{56EB9951-5C54-4510-A675-7151E8A07D25}" sibTransId="{8DC083AA-53B5-429A-8C0B-37615F09BE76}"/>
    <dgm:cxn modelId="{D6CC0A7B-5841-4286-B084-5221184104A2}" srcId="{805F4AEF-3A3B-4C96-8C82-189E7430CB8A}" destId="{264D17BD-4298-4B7F-BB3C-9ECBC8DA0C0D}" srcOrd="0" destOrd="0" parTransId="{DBEBEAC1-3F56-458E-BBB0-59EAD9F312F7}" sibTransId="{7654FF45-FFC8-416D-A7EA-1D20B8762081}"/>
    <dgm:cxn modelId="{E2E11FA2-6475-4187-AAD2-28B8FA782B61}" srcId="{805F4AEF-3A3B-4C96-8C82-189E7430CB8A}" destId="{711779C6-0CB3-4913-B1F2-AA6451325D85}" srcOrd="1" destOrd="0" parTransId="{DFB138D3-0BB2-4CB0-86E3-3DDDCB3A0408}" sibTransId="{28614088-1360-4CC1-9025-89C05D27B3CC}"/>
    <dgm:cxn modelId="{B1E41EC3-FA7C-44A8-9FD4-593C59FDCB5B}" srcId="{805F4AEF-3A3B-4C96-8C82-189E7430CB8A}" destId="{2E7B62BF-4360-453A-9B2C-298D5F2A3B37}" srcOrd="3" destOrd="0" parTransId="{685361D0-B3AE-44AB-B24A-5EF287850F2D}" sibTransId="{865E216A-00C2-41AC-9BF5-629931321B0B}"/>
    <dgm:cxn modelId="{BAADE3C7-6BAC-4DD2-9E3A-32DE1DDB7CA6}" srcId="{711779C6-0CB3-4913-B1F2-AA6451325D85}" destId="{433CBD61-5805-410D-A221-DCB3A9E29303}" srcOrd="0" destOrd="0" parTransId="{BB094D7D-A488-436C-B55A-CA5632F9F200}" sibTransId="{5D8E7A3B-799A-478E-92EF-C5E72AED2A15}"/>
    <dgm:cxn modelId="{8B2BFAE1-1318-46EA-8336-A19B73A4AA78}" type="presOf" srcId="{971D6292-AAB8-40E0-BCC1-05DE44F9C23F}" destId="{4CC67EE7-6E6D-4208-B920-DF4292D102AE}" srcOrd="0" destOrd="0" presId="urn:microsoft.com/office/officeart/2005/8/layout/hList1"/>
    <dgm:cxn modelId="{E7A375E7-4B4F-4403-891C-18B856C5715B}" type="presOf" srcId="{433CBD61-5805-410D-A221-DCB3A9E29303}" destId="{3B9343B3-8E48-452D-8809-153AE38E7A68}" srcOrd="0" destOrd="0" presId="urn:microsoft.com/office/officeart/2005/8/layout/hList1"/>
    <dgm:cxn modelId="{80141440-C549-4AB9-8D09-838C1C64C534}" type="presParOf" srcId="{BB4C86D0-FE65-47F9-B921-BE2CB065F3B5}" destId="{4DF0DE51-33CE-4F4E-A67A-D0167A298223}" srcOrd="0" destOrd="0" presId="urn:microsoft.com/office/officeart/2005/8/layout/hList1"/>
    <dgm:cxn modelId="{05EE4F87-7192-42F2-9719-29714D7DF4EF}" type="presParOf" srcId="{4DF0DE51-33CE-4F4E-A67A-D0167A298223}" destId="{2C2F3E96-48BA-4E0B-A822-31419E99AF93}" srcOrd="0" destOrd="0" presId="urn:microsoft.com/office/officeart/2005/8/layout/hList1"/>
    <dgm:cxn modelId="{652DA7E4-09CB-4F1F-B250-31BDF064658A}" type="presParOf" srcId="{4DF0DE51-33CE-4F4E-A67A-D0167A298223}" destId="{9F5A4F04-4F92-4B04-A01B-580BA78EC23A}" srcOrd="1" destOrd="0" presId="urn:microsoft.com/office/officeart/2005/8/layout/hList1"/>
    <dgm:cxn modelId="{EDF2986D-AD95-40D8-B18A-63CB0408DD56}" type="presParOf" srcId="{BB4C86D0-FE65-47F9-B921-BE2CB065F3B5}" destId="{B1FD77D6-3F26-44EF-B3AD-66BDE2E3A995}" srcOrd="1" destOrd="0" presId="urn:microsoft.com/office/officeart/2005/8/layout/hList1"/>
    <dgm:cxn modelId="{734B9B9F-E524-4DE1-B6CB-80C43635D3EA}" type="presParOf" srcId="{BB4C86D0-FE65-47F9-B921-BE2CB065F3B5}" destId="{039AE12E-B0DD-4084-99B3-2FB4907BA50E}" srcOrd="2" destOrd="0" presId="urn:microsoft.com/office/officeart/2005/8/layout/hList1"/>
    <dgm:cxn modelId="{A69510A2-7C0B-45FF-8552-E362AA39797C}" type="presParOf" srcId="{039AE12E-B0DD-4084-99B3-2FB4907BA50E}" destId="{08735B8C-1EDA-4150-A135-B3A062B6403C}" srcOrd="0" destOrd="0" presId="urn:microsoft.com/office/officeart/2005/8/layout/hList1"/>
    <dgm:cxn modelId="{55A49A96-A115-4490-885D-97AD0B8B7085}" type="presParOf" srcId="{039AE12E-B0DD-4084-99B3-2FB4907BA50E}" destId="{3B9343B3-8E48-452D-8809-153AE38E7A68}" srcOrd="1" destOrd="0" presId="urn:microsoft.com/office/officeart/2005/8/layout/hList1"/>
    <dgm:cxn modelId="{927E446B-C9A3-4B5F-AB4C-BCAA9813281F}" type="presParOf" srcId="{BB4C86D0-FE65-47F9-B921-BE2CB065F3B5}" destId="{06FCC96A-CE60-4E5C-923E-B8F67E795369}" srcOrd="3" destOrd="0" presId="urn:microsoft.com/office/officeart/2005/8/layout/hList1"/>
    <dgm:cxn modelId="{A48414D1-9D70-4FEB-B391-84FE5B0544AE}" type="presParOf" srcId="{BB4C86D0-FE65-47F9-B921-BE2CB065F3B5}" destId="{A6283B25-7F1E-4DC3-A2EC-CECB6EBF8912}" srcOrd="4" destOrd="0" presId="urn:microsoft.com/office/officeart/2005/8/layout/hList1"/>
    <dgm:cxn modelId="{26F49A9A-3D03-4633-886B-6E29E416EE35}" type="presParOf" srcId="{A6283B25-7F1E-4DC3-A2EC-CECB6EBF8912}" destId="{9A35B4C8-C9A9-4A3F-9701-542AB6E9004E}" srcOrd="0" destOrd="0" presId="urn:microsoft.com/office/officeart/2005/8/layout/hList1"/>
    <dgm:cxn modelId="{99581919-D1BA-49CE-8502-6C2AC55D4905}" type="presParOf" srcId="{A6283B25-7F1E-4DC3-A2EC-CECB6EBF8912}" destId="{4CC67EE7-6E6D-4208-B920-DF4292D102AE}" srcOrd="1" destOrd="0" presId="urn:microsoft.com/office/officeart/2005/8/layout/hList1"/>
    <dgm:cxn modelId="{53B7B58F-6448-4B0D-AE91-27B33507E265}" type="presParOf" srcId="{BB4C86D0-FE65-47F9-B921-BE2CB065F3B5}" destId="{385CF7B4-9CB0-4CA7-A587-F61505BF3E44}" srcOrd="5" destOrd="0" presId="urn:microsoft.com/office/officeart/2005/8/layout/hList1"/>
    <dgm:cxn modelId="{C25F22A2-C300-4CEB-9817-95C4F1DBAB6F}" type="presParOf" srcId="{BB4C86D0-FE65-47F9-B921-BE2CB065F3B5}" destId="{EA8DF36B-B169-46BE-987E-6FD769D779BF}" srcOrd="6" destOrd="0" presId="urn:microsoft.com/office/officeart/2005/8/layout/hList1"/>
    <dgm:cxn modelId="{749D0CF0-E6B9-442E-B14F-2DB4EEA09849}" type="presParOf" srcId="{EA8DF36B-B169-46BE-987E-6FD769D779BF}" destId="{329A2CCD-FAA3-44EA-B3A5-6E0B909E6C8A}" srcOrd="0" destOrd="0" presId="urn:microsoft.com/office/officeart/2005/8/layout/hList1"/>
    <dgm:cxn modelId="{E566D37E-428A-4754-B126-1A623F275F9D}" type="presParOf" srcId="{EA8DF36B-B169-46BE-987E-6FD769D779BF}" destId="{559B89E4-551A-4828-BD4C-D3B70A900AD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2F3E96-48BA-4E0B-A822-31419E99AF93}">
      <dsp:nvSpPr>
        <dsp:cNvPr id="0" name=""/>
        <dsp:cNvSpPr/>
      </dsp:nvSpPr>
      <dsp:spPr>
        <a:xfrm>
          <a:off x="3277" y="29114"/>
          <a:ext cx="1970568" cy="54332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 dirty="0"/>
            <a:t>Método </a:t>
          </a:r>
          <a:r>
            <a:rPr lang="es-ES" sz="1500" b="1" i="1" kern="1200" dirty="0"/>
            <a:t>Factory</a:t>
          </a:r>
          <a:r>
            <a:rPr lang="es-ES" sz="1500" b="1" kern="1200" dirty="0"/>
            <a:t>:</a:t>
          </a:r>
          <a:endParaRPr lang="es-AR" sz="1500" b="1" kern="1200" dirty="0"/>
        </a:p>
      </dsp:txBody>
      <dsp:txXfrm>
        <a:off x="3277" y="29114"/>
        <a:ext cx="1970568" cy="543321"/>
      </dsp:txXfrm>
    </dsp:sp>
    <dsp:sp modelId="{9F5A4F04-4F92-4B04-A01B-580BA78EC23A}">
      <dsp:nvSpPr>
        <dsp:cNvPr id="0" name=""/>
        <dsp:cNvSpPr/>
      </dsp:nvSpPr>
      <dsp:spPr>
        <a:xfrm>
          <a:off x="3277" y="572436"/>
          <a:ext cx="1970568" cy="29646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/>
            <a:t>Método </a:t>
          </a:r>
          <a:r>
            <a:rPr lang="es-ES" sz="1500" kern="1200" dirty="0"/>
            <a:t>de alguna clase que tiene la responsabilidad de instanciar una clase, de entre muchas, </a:t>
          </a:r>
          <a:r>
            <a:rPr lang="es-ES" sz="1500" kern="1200" dirty="0" err="1"/>
            <a:t>según</a:t>
          </a:r>
          <a:r>
            <a:rPr lang="es-ES" sz="1500" kern="1200" dirty="0"/>
            <a:t> </a:t>
          </a:r>
          <a:r>
            <a:rPr lang="es-ES" sz="1500" kern="1200" dirty="0" err="1"/>
            <a:t>algún</a:t>
          </a:r>
          <a:r>
            <a:rPr lang="es-ES" sz="1500" kern="1200" dirty="0"/>
            <a:t> </a:t>
          </a:r>
          <a:r>
            <a:rPr lang="es-ES" sz="1500" kern="1200" dirty="0" err="1"/>
            <a:t>parámetro</a:t>
          </a:r>
          <a:r>
            <a:rPr lang="es-ES" sz="1500" kern="1200" dirty="0"/>
            <a:t>. Por comodidad, suele ser un </a:t>
          </a:r>
          <a:r>
            <a:rPr lang="es-ES" sz="1500" kern="1200" dirty="0" err="1"/>
            <a:t>método</a:t>
          </a:r>
          <a:r>
            <a:rPr lang="es-ES" sz="1500" kern="1200" dirty="0"/>
            <a:t> de clase (</a:t>
          </a:r>
          <a:r>
            <a:rPr lang="es-ES" sz="1500" kern="1200" dirty="0" err="1"/>
            <a:t>estático</a:t>
          </a:r>
          <a:r>
            <a:rPr lang="es-ES" sz="1500" kern="1200" dirty="0"/>
            <a:t>). Evita que otras clases tengan lógica repetida de instanciación. </a:t>
          </a:r>
          <a:endParaRPr lang="es-AR" sz="1500" kern="1200" dirty="0"/>
        </a:p>
      </dsp:txBody>
      <dsp:txXfrm>
        <a:off x="3277" y="572436"/>
        <a:ext cx="1970568" cy="2964600"/>
      </dsp:txXfrm>
    </dsp:sp>
    <dsp:sp modelId="{08735B8C-1EDA-4150-A135-B3A062B6403C}">
      <dsp:nvSpPr>
        <dsp:cNvPr id="0" name=""/>
        <dsp:cNvSpPr/>
      </dsp:nvSpPr>
      <dsp:spPr>
        <a:xfrm>
          <a:off x="2249725" y="29114"/>
          <a:ext cx="1970568" cy="54332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 dirty="0"/>
            <a:t>• Interface (o clase abstracta) Producto:</a:t>
          </a:r>
          <a:endParaRPr lang="es-AR" sz="1500" b="1" kern="1200" dirty="0"/>
        </a:p>
      </dsp:txBody>
      <dsp:txXfrm>
        <a:off x="2249725" y="29114"/>
        <a:ext cx="1970568" cy="543321"/>
      </dsp:txXfrm>
    </dsp:sp>
    <dsp:sp modelId="{3B9343B3-8E48-452D-8809-153AE38E7A68}">
      <dsp:nvSpPr>
        <dsp:cNvPr id="0" name=""/>
        <dsp:cNvSpPr/>
      </dsp:nvSpPr>
      <dsp:spPr>
        <a:xfrm>
          <a:off x="2249725" y="572436"/>
          <a:ext cx="1970568" cy="29646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dirty="0"/>
            <a:t>Interface que comparten las clases que necesitan ser instanciadas de forma sencilla/transparente para un tercero. </a:t>
          </a:r>
          <a:endParaRPr lang="es-AR" sz="1500" kern="1200" dirty="0"/>
        </a:p>
      </dsp:txBody>
      <dsp:txXfrm>
        <a:off x="2249725" y="572436"/>
        <a:ext cx="1970568" cy="2964600"/>
      </dsp:txXfrm>
    </dsp:sp>
    <dsp:sp modelId="{9A35B4C8-C9A9-4A3F-9701-542AB6E9004E}">
      <dsp:nvSpPr>
        <dsp:cNvPr id="0" name=""/>
        <dsp:cNvSpPr/>
      </dsp:nvSpPr>
      <dsp:spPr>
        <a:xfrm>
          <a:off x="4496174" y="29114"/>
          <a:ext cx="1970568" cy="54332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 dirty="0"/>
            <a:t>Productos concretos:</a:t>
          </a:r>
          <a:endParaRPr lang="es-AR" sz="1500" b="1" kern="1200" dirty="0"/>
        </a:p>
      </dsp:txBody>
      <dsp:txXfrm>
        <a:off x="4496174" y="29114"/>
        <a:ext cx="1970568" cy="543321"/>
      </dsp:txXfrm>
    </dsp:sp>
    <dsp:sp modelId="{4CC67EE7-6E6D-4208-B920-DF4292D102AE}">
      <dsp:nvSpPr>
        <dsp:cNvPr id="0" name=""/>
        <dsp:cNvSpPr/>
      </dsp:nvSpPr>
      <dsp:spPr>
        <a:xfrm>
          <a:off x="4496174" y="572436"/>
          <a:ext cx="1970568" cy="29646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dirty="0"/>
            <a:t>Clases concretas que implementan (o heredan de, si fuera clase abstracta) la interface Producto. </a:t>
          </a:r>
          <a:endParaRPr lang="es-AR" sz="1500" kern="1200" dirty="0"/>
        </a:p>
      </dsp:txBody>
      <dsp:txXfrm>
        <a:off x="4496174" y="572436"/>
        <a:ext cx="1970568" cy="2964600"/>
      </dsp:txXfrm>
    </dsp:sp>
    <dsp:sp modelId="{329A2CCD-FAA3-44EA-B3A5-6E0B909E6C8A}">
      <dsp:nvSpPr>
        <dsp:cNvPr id="0" name=""/>
        <dsp:cNvSpPr/>
      </dsp:nvSpPr>
      <dsp:spPr>
        <a:xfrm>
          <a:off x="6742622" y="29114"/>
          <a:ext cx="1970568" cy="54332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 dirty="0"/>
            <a:t>Cliente(s):</a:t>
          </a:r>
          <a:endParaRPr lang="es-AR" sz="1500" b="1" kern="1200" dirty="0"/>
        </a:p>
      </dsp:txBody>
      <dsp:txXfrm>
        <a:off x="6742622" y="29114"/>
        <a:ext cx="1970568" cy="543321"/>
      </dsp:txXfrm>
    </dsp:sp>
    <dsp:sp modelId="{559B89E4-551A-4828-BD4C-D3B70A900AD0}">
      <dsp:nvSpPr>
        <dsp:cNvPr id="0" name=""/>
        <dsp:cNvSpPr/>
      </dsp:nvSpPr>
      <dsp:spPr>
        <a:xfrm>
          <a:off x="6742622" y="572436"/>
          <a:ext cx="1970568" cy="29646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/>
            <a:t>Clase</a:t>
          </a:r>
          <a:r>
            <a:rPr lang="es-ES" sz="1500" kern="1200" dirty="0"/>
            <a:t>(s) cuyos objetos hacen uso del </a:t>
          </a:r>
          <a:r>
            <a:rPr lang="es-ES" sz="1500" kern="1200" dirty="0" err="1"/>
            <a:t>método</a:t>
          </a:r>
          <a:r>
            <a:rPr lang="es-ES" sz="1500" kern="1200" dirty="0"/>
            <a:t> de fabricación</a:t>
          </a:r>
          <a:endParaRPr lang="es-AR" sz="1500" kern="1200" dirty="0"/>
        </a:p>
      </dsp:txBody>
      <dsp:txXfrm>
        <a:off x="6742622" y="572436"/>
        <a:ext cx="1970568" cy="2964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19318D9-1C74-894A-82B9-08234547CB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5A90431-346B-FF4F-90F3-5C33DDFC0E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52339-5F8B-F640-A005-4EDA3E12CECF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57D341-252F-154F-BCD0-0D80E26497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43607C-91C9-DD4A-88B2-E4B0E7C4C0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16872-CFF9-7043-9FD8-7CAAB38F3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7555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4448C-68AB-41ED-9AA1-623600B6A404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0DE57-D832-4C0E-B844-2BC9C8865DC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9774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7F535B13-CD10-974C-BF7B-B8EA82EEA5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FCADEDCF-DA7F-C84B-9E3A-D37447BC1E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21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6BB30792-84BC-5645-AFE5-6C1B6C31C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5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85B58F2E-6ABC-6141-8351-A9667E5A27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9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rma&#10;&#10;Descripción generada automáticamente con confianza media">
            <a:extLst>
              <a:ext uri="{FF2B5EF4-FFF2-40B4-BE49-F238E27FC236}">
                <a16:creationId xmlns:a16="http://schemas.microsoft.com/office/drawing/2014/main" id="{B77A4838-F1DD-9046-91FC-E45F806234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93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BFD4B215-CC6C-F747-BEB2-F42A821CE9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9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3CD84CC3-4E28-3146-BFE5-F7C65E952C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15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Gráfico de líneas&#10;&#10;Descripción generada automáticamente">
            <a:extLst>
              <a:ext uri="{FF2B5EF4-FFF2-40B4-BE49-F238E27FC236}">
                <a16:creationId xmlns:a16="http://schemas.microsoft.com/office/drawing/2014/main" id="{91430346-03E4-0841-B9CE-876C88D547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6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783FC83D-79C1-104A-AB7A-0137336B08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1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157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21EE62C8-D1C0-584A-83CF-E72D8255CA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15"/>
            <a:ext cx="12192000" cy="68267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124" y="467602"/>
            <a:ext cx="8518635" cy="7477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Ubuntu" panose="020B050403060203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353097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Ubuntu" panose="020B050403060203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069737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6563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1736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2015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46810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2512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16611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92220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13978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008124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42045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4936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41F7-0A78-4297-9737-0443242114E2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A32B-691B-46E8-8163-E2FBFCC2E1E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2546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326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15" r:id="rId10"/>
    <p:sldLayoutId id="21474837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97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441F7-0A78-4297-9737-0443242114E2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26BA32B-691B-46E8-8163-E2FBFCC2E1E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8655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475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517797" y="2876920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AR" sz="6600" b="1" dirty="0">
                <a:solidFill>
                  <a:schemeClr val="bg1"/>
                </a:solidFill>
              </a:rPr>
              <a:t>UADE </a:t>
            </a:r>
            <a:r>
              <a:rPr lang="es-AR" sz="6600" b="1" dirty="0" err="1">
                <a:solidFill>
                  <a:schemeClr val="bg1"/>
                </a:solidFill>
              </a:rPr>
              <a:t>Connect</a:t>
            </a:r>
            <a:endParaRPr lang="es-ES" dirty="0" err="1"/>
          </a:p>
        </p:txBody>
      </p:sp>
    </p:spTree>
    <p:extLst>
      <p:ext uri="{BB962C8B-B14F-4D97-AF65-F5344CB8AC3E}">
        <p14:creationId xmlns:p14="http://schemas.microsoft.com/office/powerpoint/2010/main" val="3316681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F01C925-114A-F6F9-FBBC-211C761E04C0}"/>
              </a:ext>
            </a:extLst>
          </p:cNvPr>
          <p:cNvSpPr txBox="1">
            <a:spLocks/>
          </p:cNvSpPr>
          <p:nvPr/>
        </p:nvSpPr>
        <p:spPr>
          <a:xfrm>
            <a:off x="572448" y="669178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Temas a desarrollar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DCF6E0-E765-EB34-0B46-747DB290138B}"/>
              </a:ext>
            </a:extLst>
          </p:cNvPr>
          <p:cNvSpPr txBox="1"/>
          <p:nvPr/>
        </p:nvSpPr>
        <p:spPr>
          <a:xfrm>
            <a:off x="1322661" y="1785810"/>
            <a:ext cx="673820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3200" b="1" i="1" dirty="0" err="1">
                <a:solidFill>
                  <a:srgbClr val="7F7F7F"/>
                </a:solidFill>
                <a:ea typeface="+mn-lt"/>
                <a:cs typeface="+mn-lt"/>
              </a:rPr>
              <a:t>Singleton</a:t>
            </a:r>
            <a:endParaRPr lang="es-ES" b="1" i="1" dirty="0" err="1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81D4304-08BD-C2C7-9E4F-2B70114F4BFB}"/>
              </a:ext>
            </a:extLst>
          </p:cNvPr>
          <p:cNvSpPr txBox="1"/>
          <p:nvPr/>
        </p:nvSpPr>
        <p:spPr>
          <a:xfrm>
            <a:off x="1322657" y="2543571"/>
            <a:ext cx="673821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3200" b="1" i="1" dirty="0">
                <a:solidFill>
                  <a:srgbClr val="7F7F7F"/>
                </a:solidFill>
                <a:ea typeface="+mn-lt"/>
                <a:cs typeface="+mn-lt"/>
              </a:rPr>
              <a:t>Factory </a:t>
            </a:r>
            <a:r>
              <a:rPr lang="es-AR" sz="3200" b="1" i="1" dirty="0" err="1">
                <a:solidFill>
                  <a:srgbClr val="7F7F7F"/>
                </a:solidFill>
                <a:ea typeface="+mn-lt"/>
                <a:cs typeface="+mn-lt"/>
              </a:rPr>
              <a:t>Method</a:t>
            </a:r>
            <a:endParaRPr lang="es-ES" b="1" i="1" dirty="0" err="1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CB2031C-D4A1-6581-9F75-F445D16529A2}"/>
              </a:ext>
            </a:extLst>
          </p:cNvPr>
          <p:cNvSpPr txBox="1"/>
          <p:nvPr/>
        </p:nvSpPr>
        <p:spPr>
          <a:xfrm>
            <a:off x="1322661" y="3301332"/>
            <a:ext cx="673821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3200" b="1" i="1" dirty="0">
                <a:solidFill>
                  <a:srgbClr val="7F7F7F"/>
                </a:solidFill>
                <a:ea typeface="+mn-lt"/>
                <a:cs typeface="+mn-lt"/>
              </a:rPr>
              <a:t>Simple Factory</a:t>
            </a:r>
            <a:endParaRPr lang="es-ES" b="1" i="1" dirty="0" err="1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3C1FE7AD-CB70-1C35-44BF-DF78403ACA9C}"/>
              </a:ext>
            </a:extLst>
          </p:cNvPr>
          <p:cNvSpPr/>
          <p:nvPr/>
        </p:nvSpPr>
        <p:spPr>
          <a:xfrm>
            <a:off x="863949" y="2012883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82FE8D8F-B960-6CDE-91B5-04B0CE3126F1}"/>
              </a:ext>
            </a:extLst>
          </p:cNvPr>
          <p:cNvSpPr/>
          <p:nvPr/>
        </p:nvSpPr>
        <p:spPr>
          <a:xfrm>
            <a:off x="863949" y="2751286"/>
            <a:ext cx="130628" cy="130628"/>
          </a:xfrm>
          <a:prstGeom prst="ellipse">
            <a:avLst/>
          </a:prstGeom>
          <a:solidFill>
            <a:srgbClr val="CF1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F5226316-73BD-DC8A-090B-3563ACC060FD}"/>
              </a:ext>
            </a:extLst>
          </p:cNvPr>
          <p:cNvSpPr/>
          <p:nvPr/>
        </p:nvSpPr>
        <p:spPr>
          <a:xfrm>
            <a:off x="863949" y="3545103"/>
            <a:ext cx="130628" cy="130628"/>
          </a:xfrm>
          <a:prstGeom prst="ellipse">
            <a:avLst/>
          </a:prstGeom>
          <a:solidFill>
            <a:srgbClr val="ED6B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0AB2D9F-823B-7674-B14A-D2A9AB1A3F45}"/>
              </a:ext>
            </a:extLst>
          </p:cNvPr>
          <p:cNvSpPr txBox="1"/>
          <p:nvPr/>
        </p:nvSpPr>
        <p:spPr>
          <a:xfrm>
            <a:off x="1322657" y="4059094"/>
            <a:ext cx="673821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3200" b="1" dirty="0">
                <a:solidFill>
                  <a:srgbClr val="7F7F7F"/>
                </a:solidFill>
                <a:ea typeface="+mn-lt"/>
                <a:cs typeface="+mn-lt"/>
              </a:rPr>
              <a:t>Síntesis</a:t>
            </a:r>
            <a:endParaRPr lang="es-ES" b="1" dirty="0" err="1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1894324-27B1-119E-CC9A-FDF795B8592E}"/>
              </a:ext>
            </a:extLst>
          </p:cNvPr>
          <p:cNvSpPr/>
          <p:nvPr/>
        </p:nvSpPr>
        <p:spPr>
          <a:xfrm>
            <a:off x="863949" y="4295774"/>
            <a:ext cx="130628" cy="1306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94174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s-AR" sz="6600" b="1" i="1" dirty="0" err="1">
                <a:solidFill>
                  <a:prstClr val="white"/>
                </a:solidFill>
                <a:ea typeface="+mn-lt"/>
                <a:cs typeface="+mn-lt"/>
              </a:rPr>
              <a:t>Singleton</a:t>
            </a:r>
            <a:endParaRPr lang="es-ES" b="1" i="1" dirty="0" err="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95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3">
            <a:extLst>
              <a:ext uri="{FF2B5EF4-FFF2-40B4-BE49-F238E27FC236}">
                <a16:creationId xmlns:a16="http://schemas.microsoft.com/office/drawing/2014/main" id="{2CE47BBF-863E-A215-1603-70FEA0EBEDC2}"/>
              </a:ext>
            </a:extLst>
          </p:cNvPr>
          <p:cNvSpPr txBox="1"/>
          <p:nvPr/>
        </p:nvSpPr>
        <p:spPr>
          <a:xfrm>
            <a:off x="746186" y="2212756"/>
            <a:ext cx="3811959" cy="267765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>
                <a:ea typeface="+mn-lt"/>
                <a:cs typeface="+mn-lt"/>
              </a:rPr>
              <a:t>Es un patrón </a:t>
            </a:r>
            <a:r>
              <a:rPr lang="es-ES" sz="2400" b="1" dirty="0">
                <a:solidFill>
                  <a:schemeClr val="accent2"/>
                </a:solidFill>
                <a:ea typeface="+mn-lt"/>
                <a:cs typeface="+mn-lt"/>
              </a:rPr>
              <a:t>Creacional</a:t>
            </a:r>
            <a:r>
              <a:rPr lang="es-ES" sz="2400" dirty="0">
                <a:ea typeface="+mn-lt"/>
                <a:cs typeface="+mn-lt"/>
              </a:rPr>
              <a:t>. </a:t>
            </a: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algn="just"/>
            <a:r>
              <a:rPr lang="es-ES" sz="2400" b="1" u="sng" dirty="0">
                <a:solidFill>
                  <a:schemeClr val="accent2"/>
                </a:solidFill>
                <a:ea typeface="+mn-lt"/>
                <a:cs typeface="+mn-lt"/>
              </a:rPr>
              <a:t>¿Qué hace? </a:t>
            </a: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Asegura que existirá una única instancia de una clase.</a:t>
            </a:r>
          </a:p>
        </p:txBody>
      </p:sp>
      <p:sp>
        <p:nvSpPr>
          <p:cNvPr id="3" name="CuadroTexto 4">
            <a:extLst>
              <a:ext uri="{FF2B5EF4-FFF2-40B4-BE49-F238E27FC236}">
                <a16:creationId xmlns:a16="http://schemas.microsoft.com/office/drawing/2014/main" id="{C5EAD532-EBF3-01E4-5BA8-135BF90C50C7}"/>
              </a:ext>
            </a:extLst>
          </p:cNvPr>
          <p:cNvSpPr txBox="1"/>
          <p:nvPr/>
        </p:nvSpPr>
        <p:spPr>
          <a:xfrm>
            <a:off x="604736" y="559979"/>
            <a:ext cx="27432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AR" sz="4000" b="1" i="1" dirty="0" err="1">
                <a:solidFill>
                  <a:schemeClr val="bg1"/>
                </a:solidFill>
                <a:ea typeface="+mn-lt"/>
                <a:cs typeface="+mn-lt"/>
              </a:rPr>
              <a:t>Singleton</a:t>
            </a:r>
            <a:endParaRPr lang="es-ES" sz="2400" b="1" i="1" dirty="0" err="1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B3318B1-403D-50AD-F0B6-9C7D8448B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676" y="2570018"/>
            <a:ext cx="4392171" cy="2826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20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3">
            <a:extLst>
              <a:ext uri="{FF2B5EF4-FFF2-40B4-BE49-F238E27FC236}">
                <a16:creationId xmlns:a16="http://schemas.microsoft.com/office/drawing/2014/main" id="{2CE47BBF-863E-A215-1603-70FEA0EBEDC2}"/>
              </a:ext>
            </a:extLst>
          </p:cNvPr>
          <p:cNvSpPr txBox="1"/>
          <p:nvPr/>
        </p:nvSpPr>
        <p:spPr>
          <a:xfrm>
            <a:off x="604736" y="2434429"/>
            <a:ext cx="4435415" cy="230832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400" dirty="0">
                <a:ea typeface="+mn-lt"/>
                <a:cs typeface="+mn-lt"/>
              </a:rPr>
              <a:t>Se </a:t>
            </a:r>
            <a:r>
              <a:rPr lang="es-ES" sz="2400" b="1" dirty="0">
                <a:solidFill>
                  <a:schemeClr val="accent1"/>
                </a:solidFill>
                <a:ea typeface="+mn-lt"/>
                <a:cs typeface="+mn-lt"/>
              </a:rPr>
              <a:t>sugiere</a:t>
            </a:r>
            <a:r>
              <a:rPr lang="es-ES" sz="2400" b="1" dirty="0"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su utilización </a:t>
            </a:r>
            <a:r>
              <a:rPr lang="es-ES" sz="2400" b="1" dirty="0">
                <a:solidFill>
                  <a:schemeClr val="accent1"/>
                </a:solidFill>
                <a:ea typeface="+mn-lt"/>
                <a:cs typeface="+mn-lt"/>
              </a:rPr>
              <a:t>cuando</a:t>
            </a:r>
            <a:r>
              <a:rPr lang="es-ES" sz="2400" dirty="0">
                <a:ea typeface="+mn-lt"/>
                <a:cs typeface="+mn-lt"/>
              </a:rPr>
              <a:t>: </a:t>
            </a:r>
            <a:endParaRPr lang="es-ES" sz="2400" dirty="0"/>
          </a:p>
          <a:p>
            <a:endParaRPr lang="es-ES" sz="24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s-ES" sz="2400" dirty="0">
                <a:ea typeface="+mn-lt"/>
                <a:cs typeface="+mn-lt"/>
              </a:rPr>
              <a:t>Se requiere tener una única instancia de una clase y que la misma sea accesible por terceros. </a:t>
            </a:r>
            <a:endParaRPr lang="es-ES" sz="2400" dirty="0">
              <a:ea typeface="Calibri"/>
              <a:cs typeface="Calibri"/>
            </a:endParaRPr>
          </a:p>
        </p:txBody>
      </p:sp>
      <p:sp>
        <p:nvSpPr>
          <p:cNvPr id="4" name="CuadroTexto 4">
            <a:extLst>
              <a:ext uri="{FF2B5EF4-FFF2-40B4-BE49-F238E27FC236}">
                <a16:creationId xmlns:a16="http://schemas.microsoft.com/office/drawing/2014/main" id="{A67A4ED2-9D20-1DF6-142F-1462A0B39458}"/>
              </a:ext>
            </a:extLst>
          </p:cNvPr>
          <p:cNvSpPr txBox="1"/>
          <p:nvPr/>
        </p:nvSpPr>
        <p:spPr>
          <a:xfrm>
            <a:off x="604736" y="559979"/>
            <a:ext cx="27432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AR" sz="4000" b="1" i="1" dirty="0" err="1">
                <a:solidFill>
                  <a:schemeClr val="bg1"/>
                </a:solidFill>
                <a:ea typeface="+mn-lt"/>
                <a:cs typeface="+mn-lt"/>
              </a:rPr>
              <a:t>Singleton</a:t>
            </a:r>
            <a:endParaRPr lang="es-ES" sz="2400" b="1" i="1" dirty="0" err="1">
              <a:solidFill>
                <a:schemeClr val="bg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59DB6CB-DA00-F18D-E171-9745A64836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74" r="14210"/>
          <a:stretch>
            <a:fillRect/>
          </a:stretch>
        </p:blipFill>
        <p:spPr>
          <a:xfrm>
            <a:off x="5040151" y="2064327"/>
            <a:ext cx="3741880" cy="389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022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C3352-DD58-1F89-464E-A9F7161CA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3">
            <a:extLst>
              <a:ext uri="{FF2B5EF4-FFF2-40B4-BE49-F238E27FC236}">
                <a16:creationId xmlns:a16="http://schemas.microsoft.com/office/drawing/2014/main" id="{1D4C73F0-159C-7B66-EBD4-6676B3F43891}"/>
              </a:ext>
            </a:extLst>
          </p:cNvPr>
          <p:cNvSpPr txBox="1"/>
          <p:nvPr/>
        </p:nvSpPr>
        <p:spPr>
          <a:xfrm>
            <a:off x="718476" y="2157338"/>
            <a:ext cx="8328542" cy="304698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b="1" dirty="0">
                <a:solidFill>
                  <a:schemeClr val="accent4"/>
                </a:solidFill>
                <a:ea typeface="+mn-lt"/>
                <a:cs typeface="+mn-lt"/>
              </a:rPr>
              <a:t>¡Cuidado!</a:t>
            </a:r>
            <a:endParaRPr lang="es-ES" sz="2400" b="1" dirty="0">
              <a:solidFill>
                <a:schemeClr val="accent4"/>
              </a:solidFill>
            </a:endParaRP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4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Este patrón tiene mucho </a:t>
            </a:r>
            <a:r>
              <a:rPr lang="es-ES" sz="2400" dirty="0" err="1">
                <a:ea typeface="+mn-lt"/>
                <a:cs typeface="+mn-lt"/>
              </a:rPr>
              <a:t>más</a:t>
            </a:r>
            <a:r>
              <a:rPr lang="es-ES" sz="2400" dirty="0">
                <a:ea typeface="+mn-lt"/>
                <a:cs typeface="+mn-lt"/>
              </a:rPr>
              <a:t> sentido en lenguajes compilados. </a:t>
            </a:r>
          </a:p>
          <a:p>
            <a:pPr marL="342900" indent="-342900" algn="just">
              <a:buClr>
                <a:schemeClr val="accent4"/>
              </a:buClr>
              <a:buSzPct val="130000"/>
              <a:buFont typeface="Arial" panose="020B0604020202020204" pitchFamily="34" charset="0"/>
              <a:buChar char="•"/>
            </a:pPr>
            <a:endParaRPr lang="es-ES" sz="24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4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Si bien en lenguajes interpretados </a:t>
            </a:r>
            <a:r>
              <a:rPr lang="es-ES" sz="2400" dirty="0" err="1">
                <a:ea typeface="+mn-lt"/>
                <a:cs typeface="+mn-lt"/>
              </a:rPr>
              <a:t>también</a:t>
            </a:r>
            <a:r>
              <a:rPr lang="es-ES" sz="2400" dirty="0">
                <a:ea typeface="+mn-lt"/>
                <a:cs typeface="+mn-lt"/>
              </a:rPr>
              <a:t> es posible su implementación, se debe tener en cuenta que el objeto va a “morir” luego de cada llamada que se realice al script principal. </a:t>
            </a:r>
            <a:endParaRPr lang="es-ES" sz="2400" dirty="0"/>
          </a:p>
        </p:txBody>
      </p:sp>
      <p:sp>
        <p:nvSpPr>
          <p:cNvPr id="4" name="CuadroTexto 4">
            <a:extLst>
              <a:ext uri="{FF2B5EF4-FFF2-40B4-BE49-F238E27FC236}">
                <a16:creationId xmlns:a16="http://schemas.microsoft.com/office/drawing/2014/main" id="{3EA3202A-2CB1-1052-A0FE-16893C3A0063}"/>
              </a:ext>
            </a:extLst>
          </p:cNvPr>
          <p:cNvSpPr txBox="1"/>
          <p:nvPr/>
        </p:nvSpPr>
        <p:spPr>
          <a:xfrm>
            <a:off x="604736" y="559979"/>
            <a:ext cx="27432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AR" sz="4000" b="1" i="1" dirty="0" err="1">
                <a:solidFill>
                  <a:schemeClr val="bg1"/>
                </a:solidFill>
                <a:ea typeface="+mn-lt"/>
                <a:cs typeface="+mn-lt"/>
              </a:rPr>
              <a:t>Singleton</a:t>
            </a:r>
            <a:endParaRPr lang="es-ES" sz="2400" b="1" i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313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3">
            <a:extLst>
              <a:ext uri="{FF2B5EF4-FFF2-40B4-BE49-F238E27FC236}">
                <a16:creationId xmlns:a16="http://schemas.microsoft.com/office/drawing/2014/main" id="{C6437CDF-36C4-7362-B783-5ECF2D1E34F0}"/>
              </a:ext>
            </a:extLst>
          </p:cNvPr>
          <p:cNvSpPr txBox="1"/>
          <p:nvPr/>
        </p:nvSpPr>
        <p:spPr>
          <a:xfrm>
            <a:off x="811574" y="2157338"/>
            <a:ext cx="4342317" cy="378565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b="1" dirty="0">
                <a:solidFill>
                  <a:schemeClr val="accent5"/>
                </a:solidFill>
                <a:ea typeface="+mn-lt"/>
                <a:cs typeface="+mn-lt"/>
              </a:rPr>
              <a:t>Componentes</a:t>
            </a:r>
            <a:r>
              <a:rPr lang="es-ES" sz="2400" b="1" dirty="0">
                <a:ea typeface="+mn-lt"/>
                <a:cs typeface="+mn-lt"/>
              </a:rPr>
              <a:t>: </a:t>
            </a:r>
            <a:endParaRPr lang="es-ES" sz="2400" b="1" dirty="0">
              <a:ea typeface="Calibri"/>
              <a:cs typeface="Calibri"/>
            </a:endParaRP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algn="just"/>
            <a:r>
              <a:rPr lang="es-ES" sz="2400" b="1" dirty="0">
                <a:solidFill>
                  <a:schemeClr val="accent5"/>
                </a:solidFill>
                <a:ea typeface="+mn-lt"/>
                <a:cs typeface="+mn-lt"/>
              </a:rPr>
              <a:t>Clase </a:t>
            </a:r>
            <a:r>
              <a:rPr lang="es-ES" sz="2400" b="1" dirty="0" err="1">
                <a:solidFill>
                  <a:schemeClr val="accent5"/>
                </a:solidFill>
                <a:ea typeface="+mn-lt"/>
                <a:cs typeface="+mn-lt"/>
              </a:rPr>
              <a:t>Singleton</a:t>
            </a:r>
            <a:r>
              <a:rPr lang="es-ES" sz="2400" b="1" dirty="0">
                <a:solidFill>
                  <a:schemeClr val="accent5"/>
                </a:solidFill>
                <a:ea typeface="+mn-lt"/>
                <a:cs typeface="+mn-lt"/>
              </a:rPr>
              <a:t>: </a:t>
            </a:r>
            <a:r>
              <a:rPr lang="es-ES" sz="2400" dirty="0">
                <a:ea typeface="+mn-lt"/>
                <a:cs typeface="+mn-lt"/>
              </a:rPr>
              <a:t>clase que </a:t>
            </a:r>
            <a:r>
              <a:rPr lang="es-ES" sz="2400" dirty="0" err="1">
                <a:ea typeface="+mn-lt"/>
                <a:cs typeface="+mn-lt"/>
              </a:rPr>
              <a:t>permitira</a:t>
            </a:r>
            <a:r>
              <a:rPr lang="es-ES" sz="2400" dirty="0">
                <a:ea typeface="+mn-lt"/>
                <a:cs typeface="+mn-lt"/>
              </a:rPr>
              <a:t>́ que sea instanciada una </a:t>
            </a:r>
            <a:r>
              <a:rPr lang="es-ES" sz="2400" dirty="0" err="1">
                <a:ea typeface="+mn-lt"/>
                <a:cs typeface="+mn-lt"/>
              </a:rPr>
              <a:t>única</a:t>
            </a:r>
            <a:r>
              <a:rPr lang="es-ES" sz="2400" dirty="0">
                <a:ea typeface="+mn-lt"/>
                <a:cs typeface="+mn-lt"/>
              </a:rPr>
              <a:t> vez a </a:t>
            </a:r>
            <a:r>
              <a:rPr lang="es-ES" sz="2400" dirty="0" err="1">
                <a:ea typeface="+mn-lt"/>
                <a:cs typeface="+mn-lt"/>
              </a:rPr>
              <a:t>través</a:t>
            </a:r>
            <a:r>
              <a:rPr lang="es-ES" sz="2400" dirty="0">
                <a:ea typeface="+mn-lt"/>
                <a:cs typeface="+mn-lt"/>
              </a:rPr>
              <a:t> de un </a:t>
            </a:r>
            <a:r>
              <a:rPr lang="es-ES" sz="2400" dirty="0" err="1">
                <a:ea typeface="+mn-lt"/>
                <a:cs typeface="+mn-lt"/>
              </a:rPr>
              <a:t>método</a:t>
            </a:r>
            <a:r>
              <a:rPr lang="es-ES" sz="2400" dirty="0">
                <a:ea typeface="+mn-lt"/>
                <a:cs typeface="+mn-lt"/>
              </a:rPr>
              <a:t> de clase. El constructor debe ser privado para que sea accesible, </a:t>
            </a:r>
            <a:r>
              <a:rPr lang="es-ES" sz="2400" dirty="0" err="1">
                <a:ea typeface="+mn-lt"/>
                <a:cs typeface="+mn-lt"/>
              </a:rPr>
              <a:t>única</a:t>
            </a:r>
            <a:r>
              <a:rPr lang="es-ES" sz="2400" dirty="0">
                <a:ea typeface="+mn-lt"/>
                <a:cs typeface="+mn-lt"/>
              </a:rPr>
              <a:t> y exclusivamente, por la misma clase.</a:t>
            </a:r>
          </a:p>
        </p:txBody>
      </p:sp>
      <p:sp>
        <p:nvSpPr>
          <p:cNvPr id="4" name="CuadroTexto 4">
            <a:extLst>
              <a:ext uri="{FF2B5EF4-FFF2-40B4-BE49-F238E27FC236}">
                <a16:creationId xmlns:a16="http://schemas.microsoft.com/office/drawing/2014/main" id="{89C9EB0A-C2F6-1F47-10D5-1C523B13317A}"/>
              </a:ext>
            </a:extLst>
          </p:cNvPr>
          <p:cNvSpPr txBox="1"/>
          <p:nvPr/>
        </p:nvSpPr>
        <p:spPr>
          <a:xfrm>
            <a:off x="604736" y="559979"/>
            <a:ext cx="27432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AR" sz="4000" b="1" i="1" dirty="0" err="1">
                <a:solidFill>
                  <a:schemeClr val="bg1"/>
                </a:solidFill>
                <a:ea typeface="+mn-lt"/>
                <a:cs typeface="+mn-lt"/>
              </a:rPr>
              <a:t>Singleton</a:t>
            </a:r>
            <a:endParaRPr lang="es-ES" sz="2400" b="1" i="1" dirty="0" err="1">
              <a:solidFill>
                <a:schemeClr val="bg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F3858F1-ED7F-941A-AA02-E3EF12C8D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459" y="2645958"/>
            <a:ext cx="3737303" cy="305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067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C50D8E87-64F3-C288-7984-9432D881D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72" y="1863426"/>
            <a:ext cx="9036676" cy="4434595"/>
          </a:xfrm>
          <a:prstGeom prst="rect">
            <a:avLst/>
          </a:prstGeom>
        </p:spPr>
      </p:pic>
      <p:sp>
        <p:nvSpPr>
          <p:cNvPr id="4" name="CuadroTexto 4">
            <a:extLst>
              <a:ext uri="{FF2B5EF4-FFF2-40B4-BE49-F238E27FC236}">
                <a16:creationId xmlns:a16="http://schemas.microsoft.com/office/drawing/2014/main" id="{472795F7-2AEF-B31F-ADBE-2ED81D9BACA2}"/>
              </a:ext>
            </a:extLst>
          </p:cNvPr>
          <p:cNvSpPr txBox="1"/>
          <p:nvPr/>
        </p:nvSpPr>
        <p:spPr>
          <a:xfrm>
            <a:off x="604736" y="559979"/>
            <a:ext cx="27432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AR" sz="4000" b="1" i="1" dirty="0" err="1">
                <a:solidFill>
                  <a:schemeClr val="bg1"/>
                </a:solidFill>
                <a:ea typeface="+mn-lt"/>
                <a:cs typeface="+mn-lt"/>
              </a:rPr>
              <a:t>Singleton</a:t>
            </a:r>
            <a:endParaRPr lang="es-ES" sz="2400" b="1" i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460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94558-98ED-43DD-4D30-301E384CA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F8F95C2-32D1-8611-F7B8-EE81D264EB23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i="1">
                <a:solidFill>
                  <a:prstClr val="white"/>
                </a:solidFill>
                <a:ea typeface="+mn-lt"/>
                <a:cs typeface="+mn-lt"/>
              </a:rPr>
              <a:t>Factory </a:t>
            </a:r>
            <a:r>
              <a:rPr lang="es-AR" sz="6600" b="1" i="1" err="1">
                <a:solidFill>
                  <a:prstClr val="white"/>
                </a:solidFill>
                <a:ea typeface="+mn-lt"/>
                <a:cs typeface="+mn-lt"/>
              </a:rPr>
              <a:t>Method</a:t>
            </a:r>
            <a:endParaRPr lang="es-ES" b="1" i="1" err="1">
              <a:solidFill>
                <a:prstClr val="white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6611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B8BE9-C24C-E0E6-F2D5-40777CF2A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3">
            <a:extLst>
              <a:ext uri="{FF2B5EF4-FFF2-40B4-BE49-F238E27FC236}">
                <a16:creationId xmlns:a16="http://schemas.microsoft.com/office/drawing/2014/main" id="{F946328D-FC2E-8B50-B2D1-C72F3FAE48DB}"/>
              </a:ext>
            </a:extLst>
          </p:cNvPr>
          <p:cNvSpPr txBox="1"/>
          <p:nvPr/>
        </p:nvSpPr>
        <p:spPr>
          <a:xfrm>
            <a:off x="760040" y="2254320"/>
            <a:ext cx="3798105" cy="34163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>
                <a:ea typeface="+mn-lt"/>
                <a:cs typeface="+mn-lt"/>
              </a:rPr>
              <a:t>Es un patrón </a:t>
            </a:r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creacional</a:t>
            </a:r>
            <a:r>
              <a:rPr lang="es-ES" sz="2400" dirty="0">
                <a:ea typeface="+mn-lt"/>
                <a:cs typeface="+mn-lt"/>
              </a:rPr>
              <a:t>.</a:t>
            </a: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algn="just"/>
            <a:r>
              <a:rPr lang="es-ES" sz="2400" b="1" u="sng" dirty="0">
                <a:solidFill>
                  <a:schemeClr val="tx2"/>
                </a:solidFill>
                <a:ea typeface="+mn-lt"/>
                <a:cs typeface="+mn-lt"/>
              </a:rPr>
              <a:t>¿Qué hace? </a:t>
            </a: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marL="342900" indent="-342900" algn="just">
              <a:buClr>
                <a:schemeClr val="tx2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Encapsula en un </a:t>
            </a:r>
            <a:r>
              <a:rPr lang="es-ES" sz="2400" dirty="0" err="1">
                <a:ea typeface="+mn-lt"/>
                <a:cs typeface="+mn-lt"/>
              </a:rPr>
              <a:t>único</a:t>
            </a:r>
            <a:r>
              <a:rPr lang="es-ES" sz="2400" dirty="0">
                <a:ea typeface="+mn-lt"/>
                <a:cs typeface="+mn-lt"/>
              </a:rPr>
              <a:t> punto (un método) la creación de objetos que tienen una interfaz </a:t>
            </a:r>
            <a:r>
              <a:rPr lang="es-ES" sz="2400" dirty="0" err="1">
                <a:ea typeface="+mn-lt"/>
                <a:cs typeface="+mn-lt"/>
              </a:rPr>
              <a:t>común</a:t>
            </a:r>
            <a:r>
              <a:rPr lang="es-ES" sz="2400" dirty="0">
                <a:ea typeface="+mn-lt"/>
                <a:cs typeface="+mn-lt"/>
              </a:rPr>
              <a:t>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BB68B3-CC05-B227-49B6-93D2C4DB9743}"/>
              </a:ext>
            </a:extLst>
          </p:cNvPr>
          <p:cNvSpPr txBox="1"/>
          <p:nvPr/>
        </p:nvSpPr>
        <p:spPr>
          <a:xfrm>
            <a:off x="496804" y="613278"/>
            <a:ext cx="51054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4000" b="1" i="1" dirty="0">
                <a:solidFill>
                  <a:schemeClr val="bg1"/>
                </a:solidFill>
                <a:ea typeface="Calibri"/>
                <a:cs typeface="Calibri"/>
              </a:rPr>
              <a:t>Factory </a:t>
            </a:r>
            <a:r>
              <a:rPr lang="es-AR" sz="4000" b="1" i="1" dirty="0" err="1">
                <a:solidFill>
                  <a:schemeClr val="bg1"/>
                </a:solidFill>
                <a:ea typeface="Calibri"/>
                <a:cs typeface="Calibri"/>
              </a:rPr>
              <a:t>Method</a:t>
            </a:r>
            <a:endParaRPr lang="es-ES" sz="2800" i="1" dirty="0" err="1">
              <a:solidFill>
                <a:schemeClr val="bg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D153CA6-7FB3-97F6-74B7-04E96D622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635" y="2661834"/>
            <a:ext cx="4338283" cy="260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781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169BF-390C-99D4-7983-1ED4E009C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3">
            <a:extLst>
              <a:ext uri="{FF2B5EF4-FFF2-40B4-BE49-F238E27FC236}">
                <a16:creationId xmlns:a16="http://schemas.microsoft.com/office/drawing/2014/main" id="{94CC2CDD-B56F-F2C9-E45F-14BACAFEDD64}"/>
              </a:ext>
            </a:extLst>
          </p:cNvPr>
          <p:cNvSpPr txBox="1"/>
          <p:nvPr/>
        </p:nvSpPr>
        <p:spPr>
          <a:xfrm>
            <a:off x="611688" y="2112011"/>
            <a:ext cx="4875632" cy="304698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>
                <a:ea typeface="+mn-lt"/>
                <a:cs typeface="+mn-lt"/>
              </a:rPr>
              <a:t>Se </a:t>
            </a:r>
            <a:r>
              <a:rPr lang="es-ES" sz="2400" b="1" dirty="0">
                <a:solidFill>
                  <a:schemeClr val="accent1"/>
                </a:solidFill>
                <a:ea typeface="+mn-lt"/>
                <a:cs typeface="+mn-lt"/>
              </a:rPr>
              <a:t>sugiere</a:t>
            </a:r>
            <a:r>
              <a:rPr lang="es-ES" sz="2400" b="1" dirty="0"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su utilización </a:t>
            </a:r>
            <a:r>
              <a:rPr lang="es-ES" sz="2400" b="1" dirty="0">
                <a:solidFill>
                  <a:schemeClr val="accent1"/>
                </a:solidFill>
                <a:ea typeface="+mn-lt"/>
                <a:cs typeface="+mn-lt"/>
              </a:rPr>
              <a:t>cuando</a:t>
            </a:r>
            <a:r>
              <a:rPr lang="es-ES" sz="2400" dirty="0">
                <a:ea typeface="+mn-lt"/>
                <a:cs typeface="+mn-lt"/>
              </a:rPr>
              <a:t>: </a:t>
            </a:r>
            <a:endParaRPr lang="es-ES" sz="2400" dirty="0"/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1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Se requiere instanciar una clase de entre varias (con al menos una interfaz </a:t>
            </a:r>
            <a:r>
              <a:rPr lang="es-ES" sz="2400" dirty="0" err="1">
                <a:ea typeface="+mn-lt"/>
                <a:cs typeface="+mn-lt"/>
              </a:rPr>
              <a:t>común</a:t>
            </a:r>
            <a:r>
              <a:rPr lang="es-ES" sz="2400" dirty="0">
                <a:ea typeface="+mn-lt"/>
                <a:cs typeface="+mn-lt"/>
              </a:rPr>
              <a:t>) </a:t>
            </a:r>
            <a:r>
              <a:rPr lang="es-ES" sz="2400" dirty="0" err="1">
                <a:ea typeface="+mn-lt"/>
                <a:cs typeface="+mn-lt"/>
              </a:rPr>
              <a:t>según</a:t>
            </a:r>
            <a:r>
              <a:rPr lang="es-ES" sz="2400" dirty="0">
                <a:ea typeface="+mn-lt"/>
                <a:cs typeface="+mn-lt"/>
              </a:rPr>
              <a:t> el resultado de alguna condición o </a:t>
            </a:r>
            <a:r>
              <a:rPr lang="es-ES" sz="2400" dirty="0" err="1">
                <a:ea typeface="+mn-lt"/>
                <a:cs typeface="+mn-lt"/>
              </a:rPr>
              <a:t>según</a:t>
            </a:r>
            <a:r>
              <a:rPr lang="es-ES" sz="2400" dirty="0">
                <a:ea typeface="+mn-lt"/>
                <a:cs typeface="+mn-lt"/>
              </a:rPr>
              <a:t> el valor de una variable, en varias partes del proyecto.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6BA70D7-4FB1-94A6-E921-E515755C694D}"/>
              </a:ext>
            </a:extLst>
          </p:cNvPr>
          <p:cNvSpPr txBox="1"/>
          <p:nvPr/>
        </p:nvSpPr>
        <p:spPr>
          <a:xfrm>
            <a:off x="496804" y="613278"/>
            <a:ext cx="5599196" cy="113877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4000" b="1" i="1" dirty="0">
                <a:solidFill>
                  <a:schemeClr val="bg1"/>
                </a:solidFill>
                <a:ea typeface="Calibri"/>
                <a:cs typeface="Calibri"/>
              </a:rPr>
              <a:t>Factory </a:t>
            </a:r>
            <a:r>
              <a:rPr lang="es-AR" sz="4000" b="1" i="1" dirty="0" err="1">
                <a:solidFill>
                  <a:schemeClr val="bg1"/>
                </a:solidFill>
                <a:ea typeface="Calibri"/>
                <a:cs typeface="Calibri"/>
              </a:rPr>
              <a:t>Method</a:t>
            </a:r>
            <a:endParaRPr lang="es-ES" sz="2800" i="1" dirty="0">
              <a:solidFill>
                <a:schemeClr val="bg1"/>
              </a:solidFill>
            </a:endParaRPr>
          </a:p>
          <a:p>
            <a:endParaRPr lang="es-ES" sz="2800" i="1" dirty="0" err="1">
              <a:solidFill>
                <a:schemeClr val="bg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452D911-D3F6-D5FF-64B5-6337D2CB3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327" y="2406979"/>
            <a:ext cx="3153154" cy="30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081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610E5-CF7E-1542-F972-2DAC64C5B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3C22E838-5D5B-3641-0967-118D789649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9022337"/>
              </p:ext>
            </p:extLst>
          </p:nvPr>
        </p:nvGraphicFramePr>
        <p:xfrm>
          <a:off x="496804" y="2220764"/>
          <a:ext cx="8716469" cy="3566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uadroTexto 3">
            <a:extLst>
              <a:ext uri="{FF2B5EF4-FFF2-40B4-BE49-F238E27FC236}">
                <a16:creationId xmlns:a16="http://schemas.microsoft.com/office/drawing/2014/main" id="{B7901908-7683-D5B5-81A1-DB5491DEF8CA}"/>
              </a:ext>
            </a:extLst>
          </p:cNvPr>
          <p:cNvSpPr txBox="1"/>
          <p:nvPr/>
        </p:nvSpPr>
        <p:spPr>
          <a:xfrm>
            <a:off x="501772" y="6044667"/>
            <a:ext cx="8914326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b="1" dirty="0">
                <a:solidFill>
                  <a:schemeClr val="tx2"/>
                </a:solidFill>
                <a:ea typeface="+mn-lt"/>
                <a:cs typeface="+mn-lt"/>
              </a:rPr>
              <a:t>Pero antes de ver el diagrama de clases, veamos otro patrón muy parecido...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C8F254-B397-06BF-CA3C-7489D93E07FE}"/>
              </a:ext>
            </a:extLst>
          </p:cNvPr>
          <p:cNvSpPr txBox="1"/>
          <p:nvPr/>
        </p:nvSpPr>
        <p:spPr>
          <a:xfrm>
            <a:off x="496804" y="613278"/>
            <a:ext cx="51054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4000" b="1" i="1" dirty="0">
                <a:solidFill>
                  <a:schemeClr val="bg1"/>
                </a:solidFill>
                <a:ea typeface="Calibri"/>
                <a:cs typeface="Calibri"/>
              </a:rPr>
              <a:t>Factory </a:t>
            </a:r>
            <a:r>
              <a:rPr lang="es-AR" sz="4000" b="1" i="1" dirty="0" err="1">
                <a:solidFill>
                  <a:schemeClr val="bg1"/>
                </a:solidFill>
                <a:ea typeface="Calibri"/>
                <a:cs typeface="Calibri"/>
              </a:rPr>
              <a:t>Method</a:t>
            </a:r>
            <a:endParaRPr lang="es-ES" sz="2800" i="1" dirty="0" err="1">
              <a:solidFill>
                <a:schemeClr val="bg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8E3109F-8205-C8FB-C0A8-33A7130FBB2C}"/>
              </a:ext>
            </a:extLst>
          </p:cNvPr>
          <p:cNvSpPr txBox="1"/>
          <p:nvPr/>
        </p:nvSpPr>
        <p:spPr>
          <a:xfrm>
            <a:off x="496804" y="1673739"/>
            <a:ext cx="6109854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2"/>
                </a:solidFill>
                <a:ea typeface="+mn-lt"/>
                <a:cs typeface="+mn-lt"/>
              </a:defRPr>
            </a:lvl1pPr>
          </a:lstStyle>
          <a:p>
            <a:r>
              <a:rPr lang="es-ES" dirty="0"/>
              <a:t>Componentes: </a:t>
            </a:r>
          </a:p>
        </p:txBody>
      </p:sp>
    </p:spTree>
    <p:extLst>
      <p:ext uri="{BB962C8B-B14F-4D97-AF65-F5344CB8AC3E}">
        <p14:creationId xmlns:p14="http://schemas.microsoft.com/office/powerpoint/2010/main" val="3137472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81F77-4B6D-7A69-0712-C900D5480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046429F-959F-35F6-2DE0-F08B4FB9269B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i="1">
                <a:solidFill>
                  <a:prstClr val="white"/>
                </a:solidFill>
                <a:ea typeface="+mn-lt"/>
                <a:cs typeface="+mn-lt"/>
              </a:rPr>
              <a:t>Simple Factory</a:t>
            </a:r>
            <a:endParaRPr lang="es-ES" b="1" i="1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5839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264B8-ECBD-CF6B-DA1C-56CA282A0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3">
            <a:extLst>
              <a:ext uri="{FF2B5EF4-FFF2-40B4-BE49-F238E27FC236}">
                <a16:creationId xmlns:a16="http://schemas.microsoft.com/office/drawing/2014/main" id="{74595F42-354A-F672-E968-E44A88022C0C}"/>
              </a:ext>
            </a:extLst>
          </p:cNvPr>
          <p:cNvSpPr txBox="1"/>
          <p:nvPr/>
        </p:nvSpPr>
        <p:spPr>
          <a:xfrm>
            <a:off x="493899" y="1883418"/>
            <a:ext cx="4479883" cy="452431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>
                <a:ea typeface="+mn-lt"/>
                <a:cs typeface="+mn-lt"/>
              </a:rPr>
              <a:t>Es un patrón </a:t>
            </a:r>
            <a:r>
              <a:rPr lang="es-ES" sz="2400" b="1" dirty="0">
                <a:solidFill>
                  <a:schemeClr val="accent5"/>
                </a:solidFill>
                <a:ea typeface="+mn-lt"/>
                <a:cs typeface="+mn-lt"/>
              </a:rPr>
              <a:t>Creacional</a:t>
            </a:r>
            <a:r>
              <a:rPr lang="es-ES" sz="2400" dirty="0">
                <a:ea typeface="+mn-lt"/>
                <a:cs typeface="+mn-lt"/>
              </a:rPr>
              <a:t>.</a:t>
            </a: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algn="just"/>
            <a:r>
              <a:rPr lang="es-ES" sz="2400" b="1" u="sng" dirty="0">
                <a:solidFill>
                  <a:schemeClr val="accent5"/>
                </a:solidFill>
                <a:ea typeface="+mn-lt"/>
                <a:cs typeface="+mn-lt"/>
              </a:rPr>
              <a:t>¿Qué hace? </a:t>
            </a: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5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Encapsula en un </a:t>
            </a:r>
            <a:r>
              <a:rPr lang="es-ES" sz="2400" dirty="0" err="1">
                <a:ea typeface="+mn-lt"/>
                <a:cs typeface="+mn-lt"/>
              </a:rPr>
              <a:t>único</a:t>
            </a:r>
            <a:r>
              <a:rPr lang="es-ES" sz="2400" dirty="0">
                <a:ea typeface="+mn-lt"/>
                <a:cs typeface="+mn-lt"/>
              </a:rPr>
              <a:t> punto (una clase) la creación de objetos que tienen, al menos, una interfaz </a:t>
            </a:r>
            <a:r>
              <a:rPr lang="es-ES" sz="2400" dirty="0" err="1">
                <a:ea typeface="+mn-lt"/>
                <a:cs typeface="+mn-lt"/>
              </a:rPr>
              <a:t>común</a:t>
            </a:r>
            <a:r>
              <a:rPr lang="es-ES" sz="2400" dirty="0">
                <a:ea typeface="+mn-lt"/>
                <a:cs typeface="+mn-lt"/>
              </a:rPr>
              <a:t>.</a:t>
            </a:r>
          </a:p>
          <a:p>
            <a:pPr marL="342900" indent="-342900" algn="just">
              <a:buClr>
                <a:schemeClr val="accent5"/>
              </a:buClr>
              <a:buSzPct val="130000"/>
              <a:buFont typeface="Arial" panose="020B0604020202020204" pitchFamily="34" charset="0"/>
              <a:buChar char="•"/>
            </a:pPr>
            <a:endParaRPr lang="es-ES" sz="2400" dirty="0">
              <a:ea typeface="+mn-lt"/>
              <a:cs typeface="+mn-lt"/>
            </a:endParaRPr>
          </a:p>
          <a:p>
            <a:pPr algn="just">
              <a:buClr>
                <a:schemeClr val="accent5"/>
              </a:buClr>
              <a:buSzPct val="130000"/>
            </a:pPr>
            <a:r>
              <a:rPr lang="es-ES" sz="2400" dirty="0">
                <a:ea typeface="+mn-lt"/>
                <a:cs typeface="+mn-lt"/>
              </a:rPr>
              <a:t>Es...</a:t>
            </a:r>
          </a:p>
          <a:p>
            <a:pPr marL="342900" indent="-342900" algn="just">
              <a:buClr>
                <a:schemeClr val="accent5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Una generalización del patrón</a:t>
            </a:r>
            <a:r>
              <a:rPr lang="es-ES" sz="2400" i="1" dirty="0">
                <a:ea typeface="+mn-lt"/>
                <a:cs typeface="+mn-lt"/>
              </a:rPr>
              <a:t> Factory </a:t>
            </a:r>
            <a:r>
              <a:rPr lang="es-ES" sz="2400" i="1" dirty="0" err="1">
                <a:ea typeface="+mn-lt"/>
                <a:cs typeface="+mn-lt"/>
              </a:rPr>
              <a:t>Method</a:t>
            </a:r>
            <a:r>
              <a:rPr lang="es-ES" sz="2400" i="1" dirty="0">
                <a:ea typeface="+mn-lt"/>
                <a:cs typeface="+mn-lt"/>
              </a:rPr>
              <a:t>.</a:t>
            </a:r>
            <a:endParaRPr lang="es-ES" sz="2400" i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6B2A15F-0BE2-1C00-88F8-9133C625331F}"/>
              </a:ext>
            </a:extLst>
          </p:cNvPr>
          <p:cNvSpPr txBox="1"/>
          <p:nvPr/>
        </p:nvSpPr>
        <p:spPr>
          <a:xfrm>
            <a:off x="493899" y="559979"/>
            <a:ext cx="5105400" cy="132343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4000" b="1" i="1" dirty="0">
                <a:solidFill>
                  <a:schemeClr val="bg1"/>
                </a:solidFill>
                <a:ea typeface="Calibri"/>
                <a:cs typeface="Calibri"/>
              </a:rPr>
              <a:t>Simple Factory</a:t>
            </a:r>
            <a:endParaRPr lang="es-AR" sz="4000" i="1" dirty="0">
              <a:solidFill>
                <a:schemeClr val="bg1"/>
              </a:solidFill>
              <a:ea typeface="Calibri"/>
              <a:cs typeface="Calibri"/>
            </a:endParaRPr>
          </a:p>
          <a:p>
            <a:pPr algn="l"/>
            <a:endParaRPr lang="es-AR" sz="4000" b="1" i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A3BECF0-5DD1-2153-9331-B7CD0B6FB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279" y="2331625"/>
            <a:ext cx="4479882" cy="352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562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015C2-CA65-415A-0B63-A264F08C2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3">
            <a:extLst>
              <a:ext uri="{FF2B5EF4-FFF2-40B4-BE49-F238E27FC236}">
                <a16:creationId xmlns:a16="http://schemas.microsoft.com/office/drawing/2014/main" id="{2F198ED3-96DA-8B9D-7208-56C2E7C30E89}"/>
              </a:ext>
            </a:extLst>
          </p:cNvPr>
          <p:cNvSpPr txBox="1"/>
          <p:nvPr/>
        </p:nvSpPr>
        <p:spPr>
          <a:xfrm>
            <a:off x="493900" y="1883418"/>
            <a:ext cx="4978646" cy="452431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>
                <a:ea typeface="+mn-lt"/>
                <a:cs typeface="+mn-lt"/>
              </a:rPr>
              <a:t>Se </a:t>
            </a:r>
            <a:r>
              <a:rPr lang="es-ES" sz="2400" b="1" dirty="0">
                <a:solidFill>
                  <a:schemeClr val="accent2"/>
                </a:solidFill>
                <a:ea typeface="+mn-lt"/>
                <a:cs typeface="+mn-lt"/>
              </a:rPr>
              <a:t>sugiere</a:t>
            </a:r>
            <a:r>
              <a:rPr lang="es-ES" sz="2400" b="1" dirty="0"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su utilización </a:t>
            </a:r>
            <a:r>
              <a:rPr lang="es-ES" sz="2400" b="1" dirty="0">
                <a:solidFill>
                  <a:schemeClr val="accent2"/>
                </a:solidFill>
                <a:ea typeface="+mn-lt"/>
                <a:cs typeface="+mn-lt"/>
              </a:rPr>
              <a:t>cuando</a:t>
            </a:r>
            <a:r>
              <a:rPr lang="es-ES" sz="2400" dirty="0">
                <a:ea typeface="+mn-lt"/>
                <a:cs typeface="+mn-lt"/>
              </a:rPr>
              <a:t>: </a:t>
            </a:r>
            <a:endParaRPr lang="es-ES" sz="2400" dirty="0"/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Se requiere instanciar una clase distinta (con al menos una interfaz </a:t>
            </a:r>
            <a:r>
              <a:rPr lang="es-ES" sz="2400" dirty="0" err="1">
                <a:ea typeface="+mn-lt"/>
                <a:cs typeface="+mn-lt"/>
              </a:rPr>
              <a:t>común</a:t>
            </a:r>
            <a:r>
              <a:rPr lang="es-ES" sz="2400" dirty="0">
                <a:ea typeface="+mn-lt"/>
                <a:cs typeface="+mn-lt"/>
              </a:rPr>
              <a:t>) </a:t>
            </a:r>
            <a:r>
              <a:rPr lang="es-ES" sz="2400" dirty="0" err="1">
                <a:ea typeface="+mn-lt"/>
                <a:cs typeface="+mn-lt"/>
              </a:rPr>
              <a:t>según</a:t>
            </a:r>
            <a:r>
              <a:rPr lang="es-ES" sz="2400" dirty="0">
                <a:ea typeface="+mn-lt"/>
                <a:cs typeface="+mn-lt"/>
              </a:rPr>
              <a:t> el resultado de alguna condición o </a:t>
            </a:r>
            <a:r>
              <a:rPr lang="es-ES" sz="2400" dirty="0" err="1">
                <a:ea typeface="+mn-lt"/>
                <a:cs typeface="+mn-lt"/>
              </a:rPr>
              <a:t>según</a:t>
            </a:r>
            <a:r>
              <a:rPr lang="es-ES" sz="2400" dirty="0">
                <a:ea typeface="+mn-lt"/>
                <a:cs typeface="+mn-lt"/>
              </a:rPr>
              <a:t> el valor de una variable, en varias partes del proyecto; y dichas clases pueden ser consideradas “complejas” de instanciar o necesitan “mucha configuración” para funcionar.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DE39690-901C-DC8E-E942-C19D98A24460}"/>
              </a:ext>
            </a:extLst>
          </p:cNvPr>
          <p:cNvSpPr txBox="1"/>
          <p:nvPr/>
        </p:nvSpPr>
        <p:spPr>
          <a:xfrm>
            <a:off x="493899" y="559979"/>
            <a:ext cx="5105400" cy="132343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4000" b="1" i="1" dirty="0">
                <a:solidFill>
                  <a:schemeClr val="bg1"/>
                </a:solidFill>
                <a:ea typeface="Calibri"/>
                <a:cs typeface="Calibri"/>
              </a:rPr>
              <a:t>Simple Factory</a:t>
            </a:r>
            <a:endParaRPr lang="es-AR" sz="4000" i="1" dirty="0">
              <a:solidFill>
                <a:schemeClr val="bg1"/>
              </a:solidFill>
              <a:ea typeface="Calibri"/>
              <a:cs typeface="Calibri"/>
            </a:endParaRPr>
          </a:p>
          <a:p>
            <a:pPr algn="l"/>
            <a:endParaRPr lang="es-AR" sz="4000" b="1" i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1EBB3C-AFAD-FF04-DE62-C420BECBF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546" y="2008910"/>
            <a:ext cx="3532863" cy="3715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682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86136-3E6E-6B3D-19C7-B3609961D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3">
            <a:extLst>
              <a:ext uri="{FF2B5EF4-FFF2-40B4-BE49-F238E27FC236}">
                <a16:creationId xmlns:a16="http://schemas.microsoft.com/office/drawing/2014/main" id="{27457F9E-CAC1-ADBC-6E63-98F6E8EBC4B6}"/>
              </a:ext>
            </a:extLst>
          </p:cNvPr>
          <p:cNvSpPr txBox="1"/>
          <p:nvPr/>
        </p:nvSpPr>
        <p:spPr>
          <a:xfrm>
            <a:off x="607639" y="1758727"/>
            <a:ext cx="8134579" cy="415498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Componentes: </a:t>
            </a:r>
            <a:endParaRPr lang="es-ES" sz="2400" b="1" dirty="0">
              <a:solidFill>
                <a:schemeClr val="tx2"/>
              </a:solidFill>
              <a:ea typeface="Calibri"/>
              <a:cs typeface="Calibri"/>
            </a:endParaRP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algn="just"/>
            <a:r>
              <a:rPr lang="es-ES" sz="2400" dirty="0">
                <a:ea typeface="+mn-lt"/>
                <a:cs typeface="+mn-lt"/>
              </a:rPr>
              <a:t>Los componentes son los mismos que tiene el patrón </a:t>
            </a:r>
            <a:r>
              <a:rPr lang="es-ES" sz="2400" i="1" dirty="0">
                <a:ea typeface="+mn-lt"/>
                <a:cs typeface="+mn-lt"/>
              </a:rPr>
              <a:t>Factory </a:t>
            </a:r>
            <a:r>
              <a:rPr lang="es-ES" sz="2400" i="1" dirty="0" err="1">
                <a:ea typeface="+mn-lt"/>
                <a:cs typeface="+mn-lt"/>
              </a:rPr>
              <a:t>method</a:t>
            </a:r>
            <a:r>
              <a:rPr lang="es-ES" sz="2400" dirty="0">
                <a:ea typeface="+mn-lt"/>
                <a:cs typeface="+mn-lt"/>
              </a:rPr>
              <a:t>, con la salvedad que se agrega un componente </a:t>
            </a:r>
            <a:r>
              <a:rPr lang="es-ES" sz="2400" dirty="0" err="1">
                <a:ea typeface="+mn-lt"/>
                <a:cs typeface="+mn-lt"/>
              </a:rPr>
              <a:t>más</a:t>
            </a:r>
            <a:r>
              <a:rPr lang="es-ES" sz="2400" dirty="0">
                <a:ea typeface="+mn-lt"/>
                <a:cs typeface="+mn-lt"/>
              </a:rPr>
              <a:t>: </a:t>
            </a: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algn="just"/>
            <a:r>
              <a:rPr lang="es-ES" sz="2400" b="1" i="1" dirty="0">
                <a:ea typeface="+mn-lt"/>
                <a:cs typeface="+mn-lt"/>
              </a:rPr>
              <a:t>Clase Factory:</a:t>
            </a:r>
            <a:r>
              <a:rPr lang="es-ES" sz="2400" i="1" dirty="0"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clase concreta que tiene la responsabilidad exclusiva de instanciar una de entre varias clases, </a:t>
            </a:r>
            <a:r>
              <a:rPr lang="es-ES" sz="2400" dirty="0" err="1">
                <a:ea typeface="+mn-lt"/>
                <a:cs typeface="+mn-lt"/>
              </a:rPr>
              <a:t>según</a:t>
            </a:r>
            <a:r>
              <a:rPr lang="es-ES" sz="2400" dirty="0">
                <a:ea typeface="+mn-lt"/>
                <a:cs typeface="+mn-lt"/>
              </a:rPr>
              <a:t> </a:t>
            </a:r>
            <a:r>
              <a:rPr lang="es-ES" sz="2400" dirty="0" err="1">
                <a:ea typeface="+mn-lt"/>
                <a:cs typeface="+mn-lt"/>
              </a:rPr>
              <a:t>algún</a:t>
            </a:r>
            <a:r>
              <a:rPr lang="es-ES" sz="2400" dirty="0">
                <a:ea typeface="+mn-lt"/>
                <a:cs typeface="+mn-lt"/>
              </a:rPr>
              <a:t> </a:t>
            </a:r>
            <a:r>
              <a:rPr lang="es-ES" sz="2400" dirty="0" err="1">
                <a:ea typeface="+mn-lt"/>
                <a:cs typeface="+mn-lt"/>
              </a:rPr>
              <a:t>parámetro</a:t>
            </a:r>
            <a:r>
              <a:rPr lang="es-ES" sz="2400" dirty="0">
                <a:ea typeface="+mn-lt"/>
                <a:cs typeface="+mn-lt"/>
              </a:rPr>
              <a:t> y/o condición </a:t>
            </a:r>
            <a:r>
              <a:rPr lang="es-ES" sz="2400" dirty="0" err="1">
                <a:ea typeface="+mn-lt"/>
                <a:cs typeface="+mn-lt"/>
              </a:rPr>
              <a:t>más</a:t>
            </a:r>
            <a:r>
              <a:rPr lang="es-ES" sz="2400" dirty="0">
                <a:ea typeface="+mn-lt"/>
                <a:cs typeface="+mn-lt"/>
              </a:rPr>
              <a:t> compleja. Esta clase puede tener varios </a:t>
            </a:r>
            <a:r>
              <a:rPr lang="es-ES" sz="2400" dirty="0" err="1">
                <a:ea typeface="+mn-lt"/>
                <a:cs typeface="+mn-lt"/>
              </a:rPr>
              <a:t>métodos</a:t>
            </a:r>
            <a:r>
              <a:rPr lang="es-ES" sz="2400" dirty="0">
                <a:ea typeface="+mn-lt"/>
                <a:cs typeface="+mn-lt"/>
              </a:rPr>
              <a:t> (internos/privados) que colaboren en la creación de los diferentes objetos. En pocas palabras: contiene el “</a:t>
            </a:r>
            <a:r>
              <a:rPr lang="es-ES" sz="2400" i="1" dirty="0">
                <a:ea typeface="+mn-lt"/>
                <a:cs typeface="+mn-lt"/>
              </a:rPr>
              <a:t>Factory </a:t>
            </a:r>
            <a:r>
              <a:rPr lang="es-ES" sz="2400" i="1" dirty="0" err="1">
                <a:ea typeface="+mn-lt"/>
                <a:cs typeface="+mn-lt"/>
              </a:rPr>
              <a:t>method</a:t>
            </a:r>
            <a:r>
              <a:rPr lang="es-ES" sz="2400" dirty="0">
                <a:ea typeface="+mn-lt"/>
                <a:cs typeface="+mn-lt"/>
              </a:rPr>
              <a:t>”.</a:t>
            </a:r>
            <a:endParaRPr lang="es-ES" sz="2400" dirty="0">
              <a:ea typeface="Calibri"/>
              <a:cs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C70E1A1-F7DF-C25A-3325-18F98FF58C94}"/>
              </a:ext>
            </a:extLst>
          </p:cNvPr>
          <p:cNvSpPr txBox="1"/>
          <p:nvPr/>
        </p:nvSpPr>
        <p:spPr>
          <a:xfrm>
            <a:off x="493899" y="559979"/>
            <a:ext cx="5105400" cy="132343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4000" b="1" i="1" dirty="0">
                <a:solidFill>
                  <a:schemeClr val="bg1"/>
                </a:solidFill>
                <a:ea typeface="Calibri"/>
                <a:cs typeface="Calibri"/>
              </a:rPr>
              <a:t>Simple Factory</a:t>
            </a:r>
            <a:endParaRPr lang="es-AR" sz="4000" i="1" dirty="0">
              <a:solidFill>
                <a:schemeClr val="bg1"/>
              </a:solidFill>
              <a:ea typeface="Calibri"/>
              <a:cs typeface="Calibri"/>
            </a:endParaRPr>
          </a:p>
          <a:p>
            <a:pPr algn="l"/>
            <a:endParaRPr lang="es-AR" sz="4000" b="1" i="1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1132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61399-1BBF-1128-96AD-A606FCC3E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FD18F3ED-032A-B7B0-C295-A14C8BCC7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22" y="2002598"/>
            <a:ext cx="8278029" cy="448412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A269034-0B72-6EAE-EE45-977490D96A97}"/>
              </a:ext>
            </a:extLst>
          </p:cNvPr>
          <p:cNvSpPr txBox="1"/>
          <p:nvPr/>
        </p:nvSpPr>
        <p:spPr>
          <a:xfrm>
            <a:off x="493899" y="559979"/>
            <a:ext cx="5105400" cy="132343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4000" b="1" i="1" dirty="0">
                <a:solidFill>
                  <a:schemeClr val="bg1"/>
                </a:solidFill>
                <a:ea typeface="Calibri"/>
                <a:cs typeface="Calibri"/>
              </a:rPr>
              <a:t>Simple Factory</a:t>
            </a:r>
            <a:endParaRPr lang="es-AR" sz="4000" i="1" dirty="0">
              <a:solidFill>
                <a:schemeClr val="bg1"/>
              </a:solidFill>
              <a:ea typeface="Calibri"/>
              <a:cs typeface="Calibri"/>
            </a:endParaRPr>
          </a:p>
          <a:p>
            <a:pPr algn="l"/>
            <a:endParaRPr lang="es-AR" sz="4000" b="1" i="1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658003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AR" sz="6600" b="1" dirty="0">
                <a:solidFill>
                  <a:schemeClr val="bg1"/>
                </a:solidFill>
              </a:rPr>
              <a:t>Síntesis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38945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F01C925-114A-F6F9-FBBC-211C761E04C0}"/>
              </a:ext>
            </a:extLst>
          </p:cNvPr>
          <p:cNvSpPr txBox="1">
            <a:spLocks/>
          </p:cNvSpPr>
          <p:nvPr/>
        </p:nvSpPr>
        <p:spPr>
          <a:xfrm>
            <a:off x="600158" y="664887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Síntesis de </a:t>
            </a:r>
            <a:r>
              <a:rPr lang="es-AR" sz="4000" b="1" dirty="0" err="1">
                <a:solidFill>
                  <a:schemeClr val="bg1"/>
                </a:solidFill>
              </a:rPr>
              <a:t>state</a:t>
            </a:r>
            <a:endParaRPr lang="es-AR" sz="4000" b="1" dirty="0">
              <a:solidFill>
                <a:schemeClr val="bg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DCF6E0-E765-EB34-0B46-747DB290138B}"/>
              </a:ext>
            </a:extLst>
          </p:cNvPr>
          <p:cNvSpPr txBox="1"/>
          <p:nvPr/>
        </p:nvSpPr>
        <p:spPr>
          <a:xfrm>
            <a:off x="710994" y="1595021"/>
            <a:ext cx="8391442" cy="526297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1600" b="1" dirty="0">
                <a:solidFill>
                  <a:srgbClr val="7F7F7F"/>
                </a:solidFill>
                <a:ea typeface="+mn-lt"/>
                <a:cs typeface="+mn-lt"/>
              </a:rPr>
              <a:t>Propósito: permite que un objeto cambie su comportamiento cuando cambia su estado interno, como si cambiara su clase.</a:t>
            </a:r>
            <a:endParaRPr lang="en-US" sz="2000" dirty="0"/>
          </a:p>
          <a:p>
            <a:endParaRPr lang="es-AR" sz="1600" b="1" dirty="0">
              <a:solidFill>
                <a:srgbClr val="7F7F7F"/>
              </a:solidFill>
              <a:ea typeface="+mn-lt"/>
              <a:cs typeface="+mn-lt"/>
            </a:endParaRPr>
          </a:p>
          <a:p>
            <a:r>
              <a:rPr lang="es-AR" sz="1600" b="1" dirty="0">
                <a:solidFill>
                  <a:srgbClr val="7F7F7F"/>
                </a:solidFill>
                <a:ea typeface="+mn-lt"/>
                <a:cs typeface="+mn-lt"/>
              </a:rPr>
              <a:t>Motivación: evita condicionales extensos al delegar el comportamiento a clases que representan distintos estados.</a:t>
            </a:r>
            <a:br>
              <a:rPr lang="en-US" sz="2000" dirty="0"/>
            </a:br>
            <a:endParaRPr lang="en-US" sz="1600" dirty="0">
              <a:ea typeface="Calibri"/>
              <a:cs typeface="Calibri"/>
            </a:endParaRPr>
          </a:p>
          <a:p>
            <a:r>
              <a:rPr lang="es-AR" sz="1600" b="1" dirty="0">
                <a:solidFill>
                  <a:srgbClr val="7F7F7F"/>
                </a:solidFill>
                <a:ea typeface="+mn-lt"/>
                <a:cs typeface="+mn-lt"/>
              </a:rPr>
              <a:t>Participantes</a:t>
            </a:r>
            <a:endParaRPr lang="es-AR" sz="1600" dirty="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s-AR" sz="1600" dirty="0" err="1">
                <a:solidFill>
                  <a:srgbClr val="7F7F7F"/>
                </a:solidFill>
                <a:latin typeface="Consolas"/>
              </a:rPr>
              <a:t>Context</a:t>
            </a:r>
            <a:r>
              <a:rPr lang="es-AR" sz="1600" dirty="0">
                <a:solidFill>
                  <a:srgbClr val="7F7F7F"/>
                </a:solidFill>
                <a:ea typeface="+mn-lt"/>
                <a:cs typeface="+mn-lt"/>
              </a:rPr>
              <a:t>: mantiene el estado actual.</a:t>
            </a:r>
            <a:endParaRPr lang="es-AR" sz="1600" dirty="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s-AR" sz="1600" dirty="0" err="1">
                <a:solidFill>
                  <a:srgbClr val="7F7F7F"/>
                </a:solidFill>
                <a:latin typeface="Consolas"/>
              </a:rPr>
              <a:t>State</a:t>
            </a:r>
            <a:r>
              <a:rPr lang="es-AR" sz="1600" dirty="0">
                <a:solidFill>
                  <a:srgbClr val="7F7F7F"/>
                </a:solidFill>
                <a:ea typeface="+mn-lt"/>
                <a:cs typeface="+mn-lt"/>
              </a:rPr>
              <a:t> (interfaz): define el comportamiento por estado.</a:t>
            </a:r>
            <a:endParaRPr lang="es-AR" sz="1600" dirty="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s-AR" sz="1600" dirty="0" err="1">
                <a:solidFill>
                  <a:srgbClr val="7F7F7F"/>
                </a:solidFill>
                <a:latin typeface="Consolas"/>
              </a:rPr>
              <a:t>ConcreteState</a:t>
            </a:r>
            <a:r>
              <a:rPr lang="es-AR" sz="1600" dirty="0">
                <a:solidFill>
                  <a:srgbClr val="7F7F7F"/>
                </a:solidFill>
                <a:ea typeface="+mn-lt"/>
                <a:cs typeface="+mn-lt"/>
              </a:rPr>
              <a:t>: implementaciones específicas del estado.</a:t>
            </a:r>
            <a:br>
              <a:rPr lang="en-US" sz="2000" dirty="0"/>
            </a:br>
            <a:endParaRPr lang="en-US" sz="1600" dirty="0">
              <a:ea typeface="Calibri"/>
              <a:cs typeface="Calibri"/>
            </a:endParaRPr>
          </a:p>
          <a:p>
            <a:r>
              <a:rPr lang="es-AR" sz="1600" b="1" dirty="0">
                <a:solidFill>
                  <a:srgbClr val="7F7F7F"/>
                </a:solidFill>
                <a:ea typeface="+mn-lt"/>
                <a:cs typeface="+mn-lt"/>
              </a:rPr>
              <a:t>Colaboración: el </a:t>
            </a:r>
            <a:r>
              <a:rPr lang="es-AR" sz="1600" dirty="0" err="1">
                <a:solidFill>
                  <a:srgbClr val="7F7F7F"/>
                </a:solidFill>
                <a:latin typeface="Consolas"/>
              </a:rPr>
              <a:t>Context</a:t>
            </a:r>
            <a:r>
              <a:rPr lang="es-AR" sz="1600" dirty="0">
                <a:solidFill>
                  <a:srgbClr val="7F7F7F"/>
                </a:solidFill>
                <a:ea typeface="+mn-lt"/>
                <a:cs typeface="+mn-lt"/>
              </a:rPr>
              <a:t> delega sus operaciones al objeto </a:t>
            </a:r>
            <a:r>
              <a:rPr lang="es-AR" sz="1600" dirty="0" err="1">
                <a:solidFill>
                  <a:srgbClr val="7F7F7F"/>
                </a:solidFill>
                <a:latin typeface="Consolas"/>
              </a:rPr>
              <a:t>State</a:t>
            </a:r>
            <a:r>
              <a:rPr lang="es-AR" sz="1600" dirty="0">
                <a:solidFill>
                  <a:srgbClr val="7F7F7F"/>
                </a:solidFill>
                <a:ea typeface="+mn-lt"/>
                <a:cs typeface="+mn-lt"/>
              </a:rPr>
              <a:t> actual, que puede cambiar dinámicamente.</a:t>
            </a:r>
            <a:br>
              <a:rPr lang="en-US" sz="2000" dirty="0"/>
            </a:br>
            <a:endParaRPr lang="en-US" sz="1600" dirty="0">
              <a:ea typeface="Calibri"/>
              <a:cs typeface="Calibri"/>
            </a:endParaRPr>
          </a:p>
          <a:p>
            <a:r>
              <a:rPr lang="es-AR" sz="1600" b="1" dirty="0">
                <a:solidFill>
                  <a:srgbClr val="7F7F7F"/>
                </a:solidFill>
                <a:ea typeface="+mn-lt"/>
                <a:cs typeface="+mn-lt"/>
              </a:rPr>
              <a:t>Consecuencias</a:t>
            </a:r>
            <a:endParaRPr lang="es-AR" sz="1600" dirty="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s-AR" sz="1600" dirty="0">
                <a:solidFill>
                  <a:srgbClr val="7F7F7F"/>
                </a:solidFill>
                <a:ea typeface="+mn-lt"/>
                <a:cs typeface="+mn-lt"/>
              </a:rPr>
              <a:t>Mejora la organización del código relacionado con estados.</a:t>
            </a:r>
            <a:endParaRPr lang="es-AR" sz="1600" dirty="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s-AR" sz="1600" dirty="0">
                <a:solidFill>
                  <a:srgbClr val="7F7F7F"/>
                </a:solidFill>
                <a:ea typeface="+mn-lt"/>
                <a:cs typeface="+mn-lt"/>
              </a:rPr>
              <a:t>Hace más fácil agregar nuevos estados.</a:t>
            </a:r>
            <a:endParaRPr lang="es-AR" sz="1600" dirty="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s-AR" sz="1600" dirty="0">
                <a:solidFill>
                  <a:srgbClr val="7F7F7F"/>
                </a:solidFill>
                <a:ea typeface="+mn-lt"/>
                <a:cs typeface="+mn-lt"/>
              </a:rPr>
              <a:t>Puede aumentar el número de clases.</a:t>
            </a:r>
            <a:br>
              <a:rPr lang="en-US" sz="2000" dirty="0"/>
            </a:br>
            <a:endParaRPr lang="en-US" sz="1600" dirty="0">
              <a:ea typeface="Calibri"/>
              <a:cs typeface="Calibri"/>
            </a:endParaRPr>
          </a:p>
          <a:p>
            <a:r>
              <a:rPr lang="es-AR" sz="1600" b="1" dirty="0">
                <a:solidFill>
                  <a:srgbClr val="7F7F7F"/>
                </a:solidFill>
                <a:ea typeface="+mn-lt"/>
                <a:cs typeface="+mn-lt"/>
              </a:rPr>
              <a:t>Implementación típica: uso de composición, </a:t>
            </a:r>
            <a:r>
              <a:rPr lang="es-AR" sz="1600" b="1" i="0" u="none" strike="noStrike" dirty="0">
                <a:solidFill>
                  <a:srgbClr val="7F7F7F"/>
                </a:solidFill>
                <a:effectLst/>
                <a:ea typeface="+mn-lt"/>
                <a:cs typeface="+mn-lt"/>
              </a:rPr>
              <a:t>el </a:t>
            </a:r>
            <a:r>
              <a:rPr lang="es-AR" sz="1600" dirty="0" err="1">
                <a:solidFill>
                  <a:srgbClr val="7F7F7F"/>
                </a:solidFill>
                <a:latin typeface="Consolas"/>
              </a:rPr>
              <a:t>Context</a:t>
            </a:r>
            <a:r>
              <a:rPr lang="es-AR" sz="1600" dirty="0">
                <a:solidFill>
                  <a:srgbClr val="7F7F7F"/>
                </a:solidFill>
                <a:ea typeface="+mn-lt"/>
                <a:cs typeface="+mn-lt"/>
              </a:rPr>
              <a:t> mantiene una referencia a un </a:t>
            </a:r>
            <a:r>
              <a:rPr lang="es-AR" sz="1600" dirty="0" err="1">
                <a:solidFill>
                  <a:srgbClr val="7F7F7F"/>
                </a:solidFill>
                <a:latin typeface="Consolas"/>
              </a:rPr>
              <a:t>State</a:t>
            </a:r>
            <a:r>
              <a:rPr lang="es-AR" sz="1600" dirty="0">
                <a:solidFill>
                  <a:srgbClr val="7F7F7F"/>
                </a:solidFill>
                <a:ea typeface="+mn-lt"/>
                <a:cs typeface="+mn-lt"/>
              </a:rPr>
              <a:t> y puede cambiarla según las reglas.</a:t>
            </a:r>
            <a:endParaRPr lang="es-AR" sz="1600" dirty="0">
              <a:ea typeface="Calibri"/>
              <a:cs typeface="Calibri"/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3AB8C7E-F680-01DD-A4E5-0A07D1659D04}"/>
              </a:ext>
            </a:extLst>
          </p:cNvPr>
          <p:cNvSpPr/>
          <p:nvPr/>
        </p:nvSpPr>
        <p:spPr>
          <a:xfrm>
            <a:off x="448305" y="1680371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37C547B-60F0-7101-5C82-A644BE41F492}"/>
              </a:ext>
            </a:extLst>
          </p:cNvPr>
          <p:cNvSpPr/>
          <p:nvPr/>
        </p:nvSpPr>
        <p:spPr>
          <a:xfrm>
            <a:off x="448305" y="2418774"/>
            <a:ext cx="130628" cy="130628"/>
          </a:xfrm>
          <a:prstGeom prst="ellipse">
            <a:avLst/>
          </a:prstGeom>
          <a:solidFill>
            <a:srgbClr val="CF1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6B79628-0367-A870-5205-0C3E7F17B84D}"/>
              </a:ext>
            </a:extLst>
          </p:cNvPr>
          <p:cNvSpPr/>
          <p:nvPr/>
        </p:nvSpPr>
        <p:spPr>
          <a:xfrm>
            <a:off x="448305" y="3129464"/>
            <a:ext cx="130628" cy="130628"/>
          </a:xfrm>
          <a:prstGeom prst="ellipse">
            <a:avLst/>
          </a:prstGeom>
          <a:solidFill>
            <a:srgbClr val="ED6B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0886ECBE-CEBB-42B0-B246-DEE901007651}"/>
              </a:ext>
            </a:extLst>
          </p:cNvPr>
          <p:cNvSpPr/>
          <p:nvPr/>
        </p:nvSpPr>
        <p:spPr>
          <a:xfrm>
            <a:off x="448305" y="4362516"/>
            <a:ext cx="130628" cy="1306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958ED66D-A4D9-0019-710C-1EFDD50FAAA8}"/>
              </a:ext>
            </a:extLst>
          </p:cNvPr>
          <p:cNvSpPr/>
          <p:nvPr/>
        </p:nvSpPr>
        <p:spPr>
          <a:xfrm>
            <a:off x="448305" y="5112315"/>
            <a:ext cx="130628" cy="1306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431E101-02E9-FCA9-82BD-D42D79597EC6}"/>
              </a:ext>
            </a:extLst>
          </p:cNvPr>
          <p:cNvSpPr/>
          <p:nvPr/>
        </p:nvSpPr>
        <p:spPr>
          <a:xfrm>
            <a:off x="448305" y="6305464"/>
            <a:ext cx="130628" cy="13062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26232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3845D-478F-95D3-08DC-547A3C55B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6EF11BD2-2923-46F2-1777-96D78840C39C}"/>
              </a:ext>
            </a:extLst>
          </p:cNvPr>
          <p:cNvSpPr txBox="1">
            <a:spLocks/>
          </p:cNvSpPr>
          <p:nvPr/>
        </p:nvSpPr>
        <p:spPr>
          <a:xfrm>
            <a:off x="572449" y="706451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Síntesis de </a:t>
            </a:r>
            <a:r>
              <a:rPr lang="es-AR" sz="4000" b="1" i="1" dirty="0" err="1">
                <a:solidFill>
                  <a:schemeClr val="bg1"/>
                </a:solidFill>
              </a:rPr>
              <a:t>observer</a:t>
            </a:r>
            <a:endParaRPr lang="es-AR" sz="4000" b="1" i="1" dirty="0">
              <a:solidFill>
                <a:schemeClr val="bg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2D4B24F-35CF-5C26-2B8E-790217775C69}"/>
              </a:ext>
            </a:extLst>
          </p:cNvPr>
          <p:cNvSpPr txBox="1"/>
          <p:nvPr/>
        </p:nvSpPr>
        <p:spPr>
          <a:xfrm>
            <a:off x="709355" y="1547320"/>
            <a:ext cx="8873952" cy="53245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1600" b="1" dirty="0">
                <a:solidFill>
                  <a:srgbClr val="7F7F7F"/>
                </a:solidFill>
                <a:ea typeface="+mn-lt"/>
                <a:cs typeface="+mn-lt"/>
              </a:rPr>
              <a:t>Propósito: define una dependencia uno-a-muchos entre objetos, de modo que cuando uno cambia, todos sus observadores son notificados automáticamente.</a:t>
            </a:r>
            <a:br>
              <a:rPr lang="en-US" sz="2000" dirty="0"/>
            </a:br>
            <a:endParaRPr lang="en-US" sz="2000" dirty="0">
              <a:ea typeface="Calibri"/>
              <a:cs typeface="Calibri"/>
            </a:endParaRPr>
          </a:p>
          <a:p>
            <a:r>
              <a:rPr lang="es-AR" sz="1600" b="1" dirty="0">
                <a:solidFill>
                  <a:srgbClr val="7F7F7F"/>
                </a:solidFill>
                <a:ea typeface="+mn-lt"/>
                <a:cs typeface="+mn-lt"/>
              </a:rPr>
              <a:t>Motivación: desacopla el sujeto y los observadores, facilitando la extensibilidad y la reacción automática a eventos.</a:t>
            </a:r>
            <a:br>
              <a:rPr lang="en-US" sz="2000" dirty="0"/>
            </a:br>
            <a:endParaRPr lang="en-US" sz="2000" dirty="0">
              <a:ea typeface="Calibri"/>
              <a:cs typeface="Calibri"/>
            </a:endParaRPr>
          </a:p>
          <a:p>
            <a:r>
              <a:rPr lang="es-AR" sz="1600" b="1" dirty="0">
                <a:solidFill>
                  <a:srgbClr val="7F7F7F"/>
                </a:solidFill>
                <a:ea typeface="+mn-lt"/>
                <a:cs typeface="+mn-lt"/>
              </a:rPr>
              <a:t>Participantes</a:t>
            </a:r>
            <a:endParaRPr lang="es-AR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s-AR" sz="1600" dirty="0" err="1">
                <a:solidFill>
                  <a:srgbClr val="7F7F7F"/>
                </a:solidFill>
                <a:latin typeface="Consolas"/>
              </a:rPr>
              <a:t>Subject</a:t>
            </a:r>
            <a:r>
              <a:rPr lang="es-AR" sz="1600" dirty="0">
                <a:solidFill>
                  <a:srgbClr val="7F7F7F"/>
                </a:solidFill>
                <a:ea typeface="+mn-lt"/>
                <a:cs typeface="+mn-lt"/>
              </a:rPr>
              <a:t>: mantiene la lista de observadores y los notifica.</a:t>
            </a:r>
            <a:endParaRPr lang="es-AR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s-AR" sz="1600" dirty="0" err="1">
                <a:solidFill>
                  <a:srgbClr val="7F7F7F"/>
                </a:solidFill>
                <a:latin typeface="Consolas"/>
                <a:ea typeface="+mn-lt"/>
                <a:cs typeface="+mn-lt"/>
              </a:rPr>
              <a:t>Observer</a:t>
            </a:r>
            <a:r>
              <a:rPr lang="es-AR" sz="1600" dirty="0">
                <a:solidFill>
                  <a:srgbClr val="7F7F7F"/>
                </a:solidFill>
                <a:ea typeface="+mn-lt"/>
                <a:cs typeface="+mn-lt"/>
              </a:rPr>
              <a:t> (interfaz): define el método de actualización.</a:t>
            </a:r>
            <a:endParaRPr lang="es-AR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s-AR" sz="1600" dirty="0" err="1">
                <a:solidFill>
                  <a:srgbClr val="7F7F7F"/>
                </a:solidFill>
                <a:latin typeface="Consolas"/>
                <a:ea typeface="+mn-lt"/>
                <a:cs typeface="+mn-lt"/>
              </a:rPr>
              <a:t>ConcreteObserver</a:t>
            </a:r>
            <a:r>
              <a:rPr lang="es-AR" sz="1600" dirty="0">
                <a:solidFill>
                  <a:srgbClr val="7F7F7F"/>
                </a:solidFill>
                <a:ea typeface="+mn-lt"/>
                <a:cs typeface="+mn-lt"/>
              </a:rPr>
              <a:t>: reacciona a los cambios del sujeto.</a:t>
            </a:r>
            <a:endParaRPr lang="es-AR" sz="2000" dirty="0">
              <a:ea typeface="+mn-lt"/>
              <a:cs typeface="+mn-lt"/>
            </a:endParaRPr>
          </a:p>
          <a:p>
            <a:endParaRPr lang="en-US" sz="2000" dirty="0"/>
          </a:p>
          <a:p>
            <a:r>
              <a:rPr lang="es-AR" sz="1600" b="1" dirty="0">
                <a:solidFill>
                  <a:srgbClr val="7F7F7F"/>
                </a:solidFill>
                <a:ea typeface="+mn-lt"/>
                <a:cs typeface="+mn-lt"/>
              </a:rPr>
              <a:t>Colaboración: el </a:t>
            </a:r>
            <a:r>
              <a:rPr lang="es-AR" sz="1600" dirty="0" err="1">
                <a:solidFill>
                  <a:srgbClr val="7F7F7F"/>
                </a:solidFill>
                <a:latin typeface="Consolas"/>
                <a:ea typeface="+mn-lt"/>
                <a:cs typeface="+mn-lt"/>
              </a:rPr>
              <a:t>Subject</a:t>
            </a:r>
            <a:r>
              <a:rPr lang="es-AR" sz="1600" dirty="0">
                <a:solidFill>
                  <a:srgbClr val="7F7F7F"/>
                </a:solidFill>
                <a:ea typeface="+mn-lt"/>
                <a:cs typeface="+mn-lt"/>
              </a:rPr>
              <a:t> notifica a todos los </a:t>
            </a:r>
            <a:r>
              <a:rPr lang="es-AR" sz="1600" dirty="0" err="1">
                <a:solidFill>
                  <a:srgbClr val="7F7F7F"/>
                </a:solidFill>
                <a:latin typeface="Consolas"/>
              </a:rPr>
              <a:t>Observer</a:t>
            </a:r>
            <a:r>
              <a:rPr lang="es-AR" sz="1600" dirty="0">
                <a:solidFill>
                  <a:srgbClr val="7F7F7F"/>
                </a:solidFill>
                <a:ea typeface="+mn-lt"/>
                <a:cs typeface="+mn-lt"/>
              </a:rPr>
              <a:t> registrados cada vez que cambia su estado.</a:t>
            </a:r>
            <a:br>
              <a:rPr lang="en-US" sz="2000" dirty="0"/>
            </a:br>
            <a:endParaRPr lang="en-US" sz="2000" dirty="0">
              <a:ea typeface="Calibri"/>
              <a:cs typeface="Calibri"/>
            </a:endParaRPr>
          </a:p>
          <a:p>
            <a:r>
              <a:rPr lang="es-AR" sz="1600" b="1" dirty="0">
                <a:solidFill>
                  <a:srgbClr val="7F7F7F"/>
                </a:solidFill>
                <a:ea typeface="+mn-lt"/>
                <a:cs typeface="+mn-lt"/>
              </a:rPr>
              <a:t>Consecuencias</a:t>
            </a:r>
            <a:endParaRPr lang="es-AR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s-AR" sz="1600" dirty="0">
                <a:solidFill>
                  <a:srgbClr val="7F7F7F"/>
                </a:solidFill>
                <a:ea typeface="+mn-lt"/>
                <a:cs typeface="+mn-lt"/>
              </a:rPr>
              <a:t>Alta flexibilidad y bajo acoplamiento.</a:t>
            </a:r>
            <a:endParaRPr lang="es-AR" sz="2000" dirty="0"/>
          </a:p>
          <a:p>
            <a:pPr marL="285750" indent="-285750">
              <a:buFont typeface="Arial"/>
              <a:buChar char="•"/>
            </a:pPr>
            <a:r>
              <a:rPr lang="es-AR" sz="1600" dirty="0">
                <a:solidFill>
                  <a:srgbClr val="7F7F7F"/>
                </a:solidFill>
                <a:ea typeface="+mn-lt"/>
                <a:cs typeface="+mn-lt"/>
              </a:rPr>
              <a:t>Posibilidad de notificaciones automáticas.</a:t>
            </a:r>
            <a:endParaRPr lang="es-AR" sz="2000" dirty="0"/>
          </a:p>
          <a:p>
            <a:pPr marL="285750" indent="-285750">
              <a:buFont typeface="Arial"/>
              <a:buChar char="•"/>
            </a:pPr>
            <a:r>
              <a:rPr lang="es-AR" sz="1600" dirty="0">
                <a:solidFill>
                  <a:srgbClr val="7F7F7F"/>
                </a:solidFill>
                <a:ea typeface="+mn-lt"/>
                <a:cs typeface="+mn-lt"/>
              </a:rPr>
              <a:t>Riesgo de efectos colaterales si hay muchos observadores.</a:t>
            </a:r>
            <a:br>
              <a:rPr lang="en-US" sz="2000" dirty="0"/>
            </a:br>
            <a:endParaRPr lang="en-US" sz="2000" dirty="0">
              <a:ea typeface="Calibri"/>
              <a:cs typeface="Calibri"/>
            </a:endParaRPr>
          </a:p>
          <a:p>
            <a:r>
              <a:rPr lang="es-AR" sz="1600" b="1" dirty="0">
                <a:solidFill>
                  <a:srgbClr val="7F7F7F"/>
                </a:solidFill>
                <a:ea typeface="+mn-lt"/>
                <a:cs typeface="+mn-lt"/>
              </a:rPr>
              <a:t>Implementación típica: registro y </a:t>
            </a:r>
            <a:r>
              <a:rPr lang="es-AR" sz="1600" b="1" dirty="0" err="1">
                <a:solidFill>
                  <a:srgbClr val="7F7F7F"/>
                </a:solidFill>
                <a:ea typeface="+mn-lt"/>
                <a:cs typeface="+mn-lt"/>
              </a:rPr>
              <a:t>desregistro</a:t>
            </a:r>
            <a:r>
              <a:rPr lang="es-AR" sz="1600" b="1" dirty="0">
                <a:solidFill>
                  <a:srgbClr val="7F7F7F"/>
                </a:solidFill>
                <a:ea typeface="+mn-lt"/>
                <a:cs typeface="+mn-lt"/>
              </a:rPr>
              <a:t> dinámico de observadores, con llamadas a </a:t>
            </a:r>
            <a:r>
              <a:rPr lang="es-AR" sz="1600" dirty="0" err="1">
                <a:solidFill>
                  <a:srgbClr val="7F7F7F"/>
                </a:solidFill>
                <a:latin typeface="Consolas"/>
                <a:ea typeface="+mn-lt"/>
                <a:cs typeface="+mn-lt"/>
              </a:rPr>
              <a:t>update</a:t>
            </a:r>
            <a:r>
              <a:rPr lang="es-AR" sz="1600" dirty="0">
                <a:solidFill>
                  <a:srgbClr val="7F7F7F"/>
                </a:solidFill>
                <a:latin typeface="Consolas"/>
                <a:ea typeface="+mn-lt"/>
                <a:cs typeface="+mn-lt"/>
              </a:rPr>
              <a:t>()</a:t>
            </a:r>
            <a:r>
              <a:rPr lang="es-AR" sz="1600" dirty="0">
                <a:solidFill>
                  <a:srgbClr val="7F7F7F"/>
                </a:solidFill>
                <a:ea typeface="+mn-lt"/>
                <a:cs typeface="+mn-lt"/>
              </a:rPr>
              <a:t> o métodos similares.</a:t>
            </a:r>
            <a:endParaRPr lang="es-AR" sz="2000" dirty="0">
              <a:ea typeface="+mn-lt"/>
              <a:cs typeface="+mn-lt"/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9ABB6EE4-7E15-D851-ACA5-DC54387ECF48}"/>
              </a:ext>
            </a:extLst>
          </p:cNvPr>
          <p:cNvSpPr/>
          <p:nvPr/>
        </p:nvSpPr>
        <p:spPr>
          <a:xfrm>
            <a:off x="448305" y="1680371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8730663E-2FD9-B1A0-B4C6-B6C3215B5D42}"/>
              </a:ext>
            </a:extLst>
          </p:cNvPr>
          <p:cNvSpPr/>
          <p:nvPr/>
        </p:nvSpPr>
        <p:spPr>
          <a:xfrm>
            <a:off x="448305" y="2446484"/>
            <a:ext cx="130628" cy="130628"/>
          </a:xfrm>
          <a:prstGeom prst="ellipse">
            <a:avLst/>
          </a:prstGeom>
          <a:solidFill>
            <a:srgbClr val="CF1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E5DAFF9D-ABF6-6DBF-DE04-CCC3CFB5B97A}"/>
              </a:ext>
            </a:extLst>
          </p:cNvPr>
          <p:cNvSpPr/>
          <p:nvPr/>
        </p:nvSpPr>
        <p:spPr>
          <a:xfrm>
            <a:off x="448305" y="3198739"/>
            <a:ext cx="130628" cy="130628"/>
          </a:xfrm>
          <a:prstGeom prst="ellipse">
            <a:avLst/>
          </a:prstGeom>
          <a:solidFill>
            <a:srgbClr val="ED6B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164E273E-D5B6-2D35-7D52-F55BEB4E93DC}"/>
              </a:ext>
            </a:extLst>
          </p:cNvPr>
          <p:cNvSpPr/>
          <p:nvPr/>
        </p:nvSpPr>
        <p:spPr>
          <a:xfrm>
            <a:off x="448305" y="4528776"/>
            <a:ext cx="130628" cy="1306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4B8FB95-46EE-FF5D-F7D1-D9537F05D043}"/>
              </a:ext>
            </a:extLst>
          </p:cNvPr>
          <p:cNvSpPr/>
          <p:nvPr/>
        </p:nvSpPr>
        <p:spPr>
          <a:xfrm>
            <a:off x="448305" y="5043040"/>
            <a:ext cx="130628" cy="1306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BDDDCCCF-ABD6-F346-475D-F6D5FE5FF06C}"/>
              </a:ext>
            </a:extLst>
          </p:cNvPr>
          <p:cNvSpPr/>
          <p:nvPr/>
        </p:nvSpPr>
        <p:spPr>
          <a:xfrm>
            <a:off x="448305" y="6347029"/>
            <a:ext cx="130628" cy="13062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73729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C553E-27C0-99B2-1E3B-DB930BF2E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CE28A18-C414-B0B0-7B2F-A00326C28AAA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¿Preguntas?</a:t>
            </a:r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0929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DD8B87C-C830-682A-4B7B-E9BA46DAD953}"/>
              </a:ext>
            </a:extLst>
          </p:cNvPr>
          <p:cNvSpPr/>
          <p:nvPr/>
        </p:nvSpPr>
        <p:spPr>
          <a:xfrm>
            <a:off x="-30822" y="0"/>
            <a:ext cx="5377970" cy="6858002"/>
          </a:xfrm>
          <a:prstGeom prst="rect">
            <a:avLst/>
          </a:prstGeom>
          <a:solidFill>
            <a:srgbClr val="E1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FF60EDB-6267-EFDB-1380-1704C3E89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27" b="14827"/>
          <a:stretch/>
        </p:blipFill>
        <p:spPr>
          <a:xfrm rot="16200000">
            <a:off x="3918106" y="1020714"/>
            <a:ext cx="6858001" cy="481657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B3135A7-4C40-FBEB-0B4B-542FE662277F}"/>
              </a:ext>
            </a:extLst>
          </p:cNvPr>
          <p:cNvSpPr/>
          <p:nvPr/>
        </p:nvSpPr>
        <p:spPr>
          <a:xfrm>
            <a:off x="711200" y="769256"/>
            <a:ext cx="8302171" cy="5384800"/>
          </a:xfrm>
          <a:prstGeom prst="rect">
            <a:avLst/>
          </a:prstGeom>
          <a:solidFill>
            <a:srgbClr val="4C4C4C">
              <a:alpha val="88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AB98000-0149-1801-9ECA-D5A25455BCCA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noFill/>
          <a:ln w="76200">
            <a:solidFill>
              <a:srgbClr val="F6A6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5BA26AD5-71CC-52AB-7D6C-4601C5C16AD7}"/>
              </a:ext>
            </a:extLst>
          </p:cNvPr>
          <p:cNvSpPr/>
          <p:nvPr/>
        </p:nvSpPr>
        <p:spPr>
          <a:xfrm>
            <a:off x="2109047" y="3983734"/>
            <a:ext cx="1493811" cy="568526"/>
          </a:xfrm>
          <a:custGeom>
            <a:avLst/>
            <a:gdLst>
              <a:gd name="connsiteX0" fmla="*/ 1346911 w 1493811"/>
              <a:gd name="connsiteY0" fmla="*/ 0 h 568526"/>
              <a:gd name="connsiteX1" fmla="*/ 43879 w 1493811"/>
              <a:gd name="connsiteY1" fmla="*/ 0 h 568526"/>
              <a:gd name="connsiteX2" fmla="*/ 0 w 1493811"/>
              <a:gd name="connsiteY2" fmla="*/ 43880 h 568526"/>
              <a:gd name="connsiteX3" fmla="*/ 0 w 1493811"/>
              <a:gd name="connsiteY3" fmla="*/ 524647 h 568526"/>
              <a:gd name="connsiteX4" fmla="*/ 13355 w 1493811"/>
              <a:gd name="connsiteY4" fmla="*/ 555172 h 568526"/>
              <a:gd name="connsiteX5" fmla="*/ 43879 w 1493811"/>
              <a:gd name="connsiteY5" fmla="*/ 568526 h 568526"/>
              <a:gd name="connsiteX6" fmla="*/ 1346911 w 1493811"/>
              <a:gd name="connsiteY6" fmla="*/ 568526 h 568526"/>
              <a:gd name="connsiteX7" fmla="*/ 1493812 w 1493811"/>
              <a:gd name="connsiteY7" fmla="*/ 360575 h 568526"/>
              <a:gd name="connsiteX8" fmla="*/ 1493812 w 1493811"/>
              <a:gd name="connsiteY8" fmla="*/ 207951 h 568526"/>
              <a:gd name="connsiteX9" fmla="*/ 1346911 w 1493811"/>
              <a:gd name="connsiteY9" fmla="*/ 0 h 568526"/>
              <a:gd name="connsiteX10" fmla="*/ 1066464 w 1493811"/>
              <a:gd name="connsiteY10" fmla="*/ 87759 h 568526"/>
              <a:gd name="connsiteX11" fmla="*/ 1127513 w 1493811"/>
              <a:gd name="connsiteY11" fmla="*/ 207951 h 568526"/>
              <a:gd name="connsiteX12" fmla="*/ 1127513 w 1493811"/>
              <a:gd name="connsiteY12" fmla="*/ 360575 h 568526"/>
              <a:gd name="connsiteX13" fmla="*/ 1066464 w 1493811"/>
              <a:gd name="connsiteY13" fmla="*/ 480767 h 568526"/>
              <a:gd name="connsiteX14" fmla="*/ 908116 w 1493811"/>
              <a:gd name="connsiteY14" fmla="*/ 480767 h 568526"/>
              <a:gd name="connsiteX15" fmla="*/ 934825 w 1493811"/>
              <a:gd name="connsiteY15" fmla="*/ 360575 h 568526"/>
              <a:gd name="connsiteX16" fmla="*/ 934825 w 1493811"/>
              <a:gd name="connsiteY16" fmla="*/ 207951 h 568526"/>
              <a:gd name="connsiteX17" fmla="*/ 908116 w 1493811"/>
              <a:gd name="connsiteY17" fmla="*/ 87759 h 568526"/>
              <a:gd name="connsiteX18" fmla="*/ 1066464 w 1493811"/>
              <a:gd name="connsiteY18" fmla="*/ 87759 h 568526"/>
              <a:gd name="connsiteX19" fmla="*/ 87759 w 1493811"/>
              <a:gd name="connsiteY19" fmla="*/ 87759 h 568526"/>
              <a:gd name="connsiteX20" fmla="*/ 787924 w 1493811"/>
              <a:gd name="connsiteY20" fmla="*/ 87759 h 568526"/>
              <a:gd name="connsiteX21" fmla="*/ 847066 w 1493811"/>
              <a:gd name="connsiteY21" fmla="*/ 207951 h 568526"/>
              <a:gd name="connsiteX22" fmla="*/ 847066 w 1493811"/>
              <a:gd name="connsiteY22" fmla="*/ 360575 h 568526"/>
              <a:gd name="connsiteX23" fmla="*/ 787924 w 1493811"/>
              <a:gd name="connsiteY23" fmla="*/ 480767 h 568526"/>
              <a:gd name="connsiteX24" fmla="*/ 87759 w 1493811"/>
              <a:gd name="connsiteY24" fmla="*/ 480767 h 568526"/>
              <a:gd name="connsiteX25" fmla="*/ 87759 w 1493811"/>
              <a:gd name="connsiteY25" fmla="*/ 87759 h 568526"/>
              <a:gd name="connsiteX26" fmla="*/ 1407961 w 1493811"/>
              <a:gd name="connsiteY26" fmla="*/ 360575 h 568526"/>
              <a:gd name="connsiteX27" fmla="*/ 1346911 w 1493811"/>
              <a:gd name="connsiteY27" fmla="*/ 480767 h 568526"/>
              <a:gd name="connsiteX28" fmla="*/ 1188563 w 1493811"/>
              <a:gd name="connsiteY28" fmla="*/ 480767 h 568526"/>
              <a:gd name="connsiteX29" fmla="*/ 1215272 w 1493811"/>
              <a:gd name="connsiteY29" fmla="*/ 360575 h 568526"/>
              <a:gd name="connsiteX30" fmla="*/ 1215272 w 1493811"/>
              <a:gd name="connsiteY30" fmla="*/ 207951 h 568526"/>
              <a:gd name="connsiteX31" fmla="*/ 1188563 w 1493811"/>
              <a:gd name="connsiteY31" fmla="*/ 87759 h 568526"/>
              <a:gd name="connsiteX32" fmla="*/ 1346911 w 1493811"/>
              <a:gd name="connsiteY32" fmla="*/ 87759 h 568526"/>
              <a:gd name="connsiteX33" fmla="*/ 1407961 w 1493811"/>
              <a:gd name="connsiteY33" fmla="*/ 207951 h 568526"/>
              <a:gd name="connsiteX34" fmla="*/ 1407961 w 1493811"/>
              <a:gd name="connsiteY34" fmla="*/ 360575 h 56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493811" h="568526">
                <a:moveTo>
                  <a:pt x="1346911" y="0"/>
                </a:moveTo>
                <a:lnTo>
                  <a:pt x="43879" y="0"/>
                </a:lnTo>
                <a:cubicBezTo>
                  <a:pt x="19078" y="0"/>
                  <a:pt x="0" y="19078"/>
                  <a:pt x="0" y="43880"/>
                </a:cubicBezTo>
                <a:lnTo>
                  <a:pt x="0" y="524647"/>
                </a:lnTo>
                <a:cubicBezTo>
                  <a:pt x="0" y="536093"/>
                  <a:pt x="3816" y="547540"/>
                  <a:pt x="13355" y="555172"/>
                </a:cubicBezTo>
                <a:cubicBezTo>
                  <a:pt x="20986" y="562803"/>
                  <a:pt x="32433" y="568526"/>
                  <a:pt x="43879" y="568526"/>
                </a:cubicBezTo>
                <a:lnTo>
                  <a:pt x="1346911" y="568526"/>
                </a:lnTo>
                <a:cubicBezTo>
                  <a:pt x="1428947" y="568526"/>
                  <a:pt x="1493812" y="476951"/>
                  <a:pt x="1493812" y="360575"/>
                </a:cubicBezTo>
                <a:lnTo>
                  <a:pt x="1493812" y="207951"/>
                </a:lnTo>
                <a:cubicBezTo>
                  <a:pt x="1493812" y="91575"/>
                  <a:pt x="1428947" y="0"/>
                  <a:pt x="1346911" y="0"/>
                </a:cubicBezTo>
                <a:close/>
                <a:moveTo>
                  <a:pt x="1066464" y="87759"/>
                </a:moveTo>
                <a:cubicBezTo>
                  <a:pt x="1095081" y="87759"/>
                  <a:pt x="1127513" y="139270"/>
                  <a:pt x="1127513" y="207951"/>
                </a:cubicBezTo>
                <a:lnTo>
                  <a:pt x="1127513" y="360575"/>
                </a:lnTo>
                <a:cubicBezTo>
                  <a:pt x="1127513" y="427349"/>
                  <a:pt x="1095081" y="480767"/>
                  <a:pt x="1066464" y="480767"/>
                </a:cubicBezTo>
                <a:lnTo>
                  <a:pt x="908116" y="480767"/>
                </a:lnTo>
                <a:cubicBezTo>
                  <a:pt x="925286" y="446426"/>
                  <a:pt x="934825" y="406363"/>
                  <a:pt x="934825" y="360575"/>
                </a:cubicBezTo>
                <a:lnTo>
                  <a:pt x="934825" y="207951"/>
                </a:lnTo>
                <a:cubicBezTo>
                  <a:pt x="934825" y="162163"/>
                  <a:pt x="925286" y="122100"/>
                  <a:pt x="908116" y="87759"/>
                </a:cubicBezTo>
                <a:lnTo>
                  <a:pt x="1066464" y="87759"/>
                </a:lnTo>
                <a:close/>
                <a:moveTo>
                  <a:pt x="87759" y="87759"/>
                </a:moveTo>
                <a:lnTo>
                  <a:pt x="787924" y="87759"/>
                </a:lnTo>
                <a:cubicBezTo>
                  <a:pt x="816541" y="87759"/>
                  <a:pt x="847066" y="139270"/>
                  <a:pt x="847066" y="207951"/>
                </a:cubicBezTo>
                <a:lnTo>
                  <a:pt x="847066" y="360575"/>
                </a:lnTo>
                <a:cubicBezTo>
                  <a:pt x="847066" y="427349"/>
                  <a:pt x="814633" y="480767"/>
                  <a:pt x="787924" y="480767"/>
                </a:cubicBezTo>
                <a:lnTo>
                  <a:pt x="87759" y="480767"/>
                </a:lnTo>
                <a:lnTo>
                  <a:pt x="87759" y="87759"/>
                </a:lnTo>
                <a:close/>
                <a:moveTo>
                  <a:pt x="1407961" y="360575"/>
                </a:moveTo>
                <a:cubicBezTo>
                  <a:pt x="1407961" y="427349"/>
                  <a:pt x="1375528" y="480767"/>
                  <a:pt x="1346911" y="480767"/>
                </a:cubicBezTo>
                <a:lnTo>
                  <a:pt x="1188563" y="480767"/>
                </a:lnTo>
                <a:cubicBezTo>
                  <a:pt x="1205733" y="446426"/>
                  <a:pt x="1215272" y="406363"/>
                  <a:pt x="1215272" y="360575"/>
                </a:cubicBezTo>
                <a:lnTo>
                  <a:pt x="1215272" y="207951"/>
                </a:lnTo>
                <a:cubicBezTo>
                  <a:pt x="1215272" y="162163"/>
                  <a:pt x="1205733" y="122100"/>
                  <a:pt x="1188563" y="87759"/>
                </a:cubicBezTo>
                <a:lnTo>
                  <a:pt x="1346911" y="87759"/>
                </a:lnTo>
                <a:cubicBezTo>
                  <a:pt x="1375528" y="87759"/>
                  <a:pt x="1407961" y="139270"/>
                  <a:pt x="1407961" y="207951"/>
                </a:cubicBezTo>
                <a:lnTo>
                  <a:pt x="1407961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D21CB0E9-B92C-3A4A-B769-17DA7A04C7AC}"/>
              </a:ext>
            </a:extLst>
          </p:cNvPr>
          <p:cNvSpPr/>
          <p:nvPr/>
        </p:nvSpPr>
        <p:spPr>
          <a:xfrm>
            <a:off x="1354003" y="3983734"/>
            <a:ext cx="1041214" cy="570433"/>
          </a:xfrm>
          <a:custGeom>
            <a:avLst/>
            <a:gdLst>
              <a:gd name="connsiteX0" fmla="*/ 894314 w 1041214"/>
              <a:gd name="connsiteY0" fmla="*/ 0 h 570433"/>
              <a:gd name="connsiteX1" fmla="*/ 45340 w 1041214"/>
              <a:gd name="connsiteY1" fmla="*/ 0 h 570433"/>
              <a:gd name="connsiteX2" fmla="*/ 7184 w 1041214"/>
              <a:gd name="connsiteY2" fmla="*/ 22894 h 570433"/>
              <a:gd name="connsiteX3" fmla="*/ 7184 w 1041214"/>
              <a:gd name="connsiteY3" fmla="*/ 66773 h 570433"/>
              <a:gd name="connsiteX4" fmla="*/ 7184 w 1041214"/>
              <a:gd name="connsiteY4" fmla="*/ 501753 h 570433"/>
              <a:gd name="connsiteX5" fmla="*/ 20539 w 1041214"/>
              <a:gd name="connsiteY5" fmla="*/ 562803 h 570433"/>
              <a:gd name="connsiteX6" fmla="*/ 43432 w 1041214"/>
              <a:gd name="connsiteY6" fmla="*/ 570434 h 570433"/>
              <a:gd name="connsiteX7" fmla="*/ 894314 w 1041214"/>
              <a:gd name="connsiteY7" fmla="*/ 570434 h 570433"/>
              <a:gd name="connsiteX8" fmla="*/ 1041215 w 1041214"/>
              <a:gd name="connsiteY8" fmla="*/ 362483 h 570433"/>
              <a:gd name="connsiteX9" fmla="*/ 1041215 w 1041214"/>
              <a:gd name="connsiteY9" fmla="*/ 209859 h 570433"/>
              <a:gd name="connsiteX10" fmla="*/ 894314 w 1041214"/>
              <a:gd name="connsiteY10" fmla="*/ 1908 h 570433"/>
              <a:gd name="connsiteX11" fmla="*/ 955364 w 1041214"/>
              <a:gd name="connsiteY11" fmla="*/ 360575 h 570433"/>
              <a:gd name="connsiteX12" fmla="*/ 894314 w 1041214"/>
              <a:gd name="connsiteY12" fmla="*/ 480767 h 570433"/>
              <a:gd name="connsiteX13" fmla="*/ 115929 w 1041214"/>
              <a:gd name="connsiteY13" fmla="*/ 480767 h 570433"/>
              <a:gd name="connsiteX14" fmla="*/ 150269 w 1041214"/>
              <a:gd name="connsiteY14" fmla="*/ 328143 h 570433"/>
              <a:gd name="connsiteX15" fmla="*/ 774122 w 1041214"/>
              <a:gd name="connsiteY15" fmla="*/ 328143 h 570433"/>
              <a:gd name="connsiteX16" fmla="*/ 818002 w 1041214"/>
              <a:gd name="connsiteY16" fmla="*/ 284263 h 570433"/>
              <a:gd name="connsiteX17" fmla="*/ 774122 w 1041214"/>
              <a:gd name="connsiteY17" fmla="*/ 240384 h 570433"/>
              <a:gd name="connsiteX18" fmla="*/ 150269 w 1041214"/>
              <a:gd name="connsiteY18" fmla="*/ 240384 h 570433"/>
              <a:gd name="connsiteX19" fmla="*/ 115929 w 1041214"/>
              <a:gd name="connsiteY19" fmla="*/ 87759 h 570433"/>
              <a:gd name="connsiteX20" fmla="*/ 894314 w 1041214"/>
              <a:gd name="connsiteY20" fmla="*/ 87759 h 570433"/>
              <a:gd name="connsiteX21" fmla="*/ 955364 w 1041214"/>
              <a:gd name="connsiteY21" fmla="*/ 207951 h 570433"/>
              <a:gd name="connsiteX22" fmla="*/ 955364 w 1041214"/>
              <a:gd name="connsiteY22" fmla="*/ 360575 h 570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41214" h="570433">
                <a:moveTo>
                  <a:pt x="894314" y="0"/>
                </a:moveTo>
                <a:lnTo>
                  <a:pt x="45340" y="0"/>
                </a:lnTo>
                <a:cubicBezTo>
                  <a:pt x="30078" y="0"/>
                  <a:pt x="14815" y="9539"/>
                  <a:pt x="7184" y="22894"/>
                </a:cubicBezTo>
                <a:cubicBezTo>
                  <a:pt x="-447" y="36248"/>
                  <a:pt x="-447" y="53419"/>
                  <a:pt x="7184" y="66773"/>
                </a:cubicBezTo>
                <a:cubicBezTo>
                  <a:pt x="81588" y="185057"/>
                  <a:pt x="81588" y="383469"/>
                  <a:pt x="7184" y="501753"/>
                </a:cubicBezTo>
                <a:cubicBezTo>
                  <a:pt x="-6171" y="522739"/>
                  <a:pt x="-447" y="549448"/>
                  <a:pt x="20539" y="562803"/>
                </a:cubicBezTo>
                <a:cubicBezTo>
                  <a:pt x="28170" y="566618"/>
                  <a:pt x="35801" y="570434"/>
                  <a:pt x="43432" y="570434"/>
                </a:cubicBezTo>
                <a:lnTo>
                  <a:pt x="894314" y="570434"/>
                </a:lnTo>
                <a:cubicBezTo>
                  <a:pt x="976349" y="570434"/>
                  <a:pt x="1041215" y="478859"/>
                  <a:pt x="1041215" y="362483"/>
                </a:cubicBezTo>
                <a:lnTo>
                  <a:pt x="1041215" y="209859"/>
                </a:lnTo>
                <a:cubicBezTo>
                  <a:pt x="1041215" y="93483"/>
                  <a:pt x="976349" y="1908"/>
                  <a:pt x="894314" y="1908"/>
                </a:cubicBezTo>
                <a:close/>
                <a:moveTo>
                  <a:pt x="955364" y="360575"/>
                </a:moveTo>
                <a:cubicBezTo>
                  <a:pt x="955364" y="427349"/>
                  <a:pt x="922931" y="480767"/>
                  <a:pt x="894314" y="480767"/>
                </a:cubicBezTo>
                <a:lnTo>
                  <a:pt x="115929" y="480767"/>
                </a:lnTo>
                <a:cubicBezTo>
                  <a:pt x="135007" y="433072"/>
                  <a:pt x="146454" y="381561"/>
                  <a:pt x="150269" y="328143"/>
                </a:cubicBezTo>
                <a:lnTo>
                  <a:pt x="774122" y="328143"/>
                </a:lnTo>
                <a:cubicBezTo>
                  <a:pt x="798923" y="328143"/>
                  <a:pt x="818002" y="309065"/>
                  <a:pt x="818002" y="284263"/>
                </a:cubicBezTo>
                <a:cubicBezTo>
                  <a:pt x="818002" y="259462"/>
                  <a:pt x="798923" y="240384"/>
                  <a:pt x="774122" y="240384"/>
                </a:cubicBezTo>
                <a:lnTo>
                  <a:pt x="150269" y="240384"/>
                </a:lnTo>
                <a:cubicBezTo>
                  <a:pt x="146454" y="186965"/>
                  <a:pt x="135007" y="135454"/>
                  <a:pt x="115929" y="87759"/>
                </a:cubicBezTo>
                <a:lnTo>
                  <a:pt x="894314" y="87759"/>
                </a:lnTo>
                <a:cubicBezTo>
                  <a:pt x="922931" y="87759"/>
                  <a:pt x="955364" y="139270"/>
                  <a:pt x="955364" y="207951"/>
                </a:cubicBezTo>
                <a:lnTo>
                  <a:pt x="955364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7D4F3068-400A-1AAD-3A7E-E85AD3AB46A7}"/>
              </a:ext>
            </a:extLst>
          </p:cNvPr>
          <p:cNvSpPr/>
          <p:nvPr/>
        </p:nvSpPr>
        <p:spPr>
          <a:xfrm>
            <a:off x="1542647" y="2860037"/>
            <a:ext cx="1764575" cy="1213364"/>
          </a:xfrm>
          <a:custGeom>
            <a:avLst/>
            <a:gdLst>
              <a:gd name="connsiteX0" fmla="*/ 1665296 w 1764575"/>
              <a:gd name="connsiteY0" fmla="*/ 927194 h 1213364"/>
              <a:gd name="connsiteX1" fmla="*/ 1751147 w 1764575"/>
              <a:gd name="connsiteY1" fmla="*/ 717335 h 1213364"/>
              <a:gd name="connsiteX2" fmla="*/ 1751147 w 1764575"/>
              <a:gd name="connsiteY2" fmla="*/ 656285 h 1213364"/>
              <a:gd name="connsiteX3" fmla="*/ 1720622 w 1764575"/>
              <a:gd name="connsiteY3" fmla="*/ 642930 h 1213364"/>
              <a:gd name="connsiteX4" fmla="*/ 1505040 w 1764575"/>
              <a:gd name="connsiteY4" fmla="*/ 642930 h 1213364"/>
              <a:gd name="connsiteX5" fmla="*/ 1505040 w 1764575"/>
              <a:gd name="connsiteY5" fmla="*/ 43880 h 1213364"/>
              <a:gd name="connsiteX6" fmla="*/ 1461161 w 1764575"/>
              <a:gd name="connsiteY6" fmla="*/ 0 h 1213364"/>
              <a:gd name="connsiteX7" fmla="*/ 264966 w 1764575"/>
              <a:gd name="connsiteY7" fmla="*/ 0 h 1213364"/>
              <a:gd name="connsiteX8" fmla="*/ 13136 w 1764575"/>
              <a:gd name="connsiteY8" fmla="*/ 13355 h 1213364"/>
              <a:gd name="connsiteX9" fmla="*/ 7413 w 1764575"/>
              <a:gd name="connsiteY9" fmla="*/ 68681 h 1213364"/>
              <a:gd name="connsiteX10" fmla="*/ 7413 w 1764575"/>
              <a:gd name="connsiteY10" fmla="*/ 662009 h 1213364"/>
              <a:gd name="connsiteX11" fmla="*/ 5505 w 1764575"/>
              <a:gd name="connsiteY11" fmla="*/ 707796 h 1213364"/>
              <a:gd name="connsiteX12" fmla="*/ 43661 w 1764575"/>
              <a:gd name="connsiteY12" fmla="*/ 730690 h 1213364"/>
              <a:gd name="connsiteX13" fmla="*/ 215363 w 1764575"/>
              <a:gd name="connsiteY13" fmla="*/ 730690 h 1213364"/>
              <a:gd name="connsiteX14" fmla="*/ 177207 w 1764575"/>
              <a:gd name="connsiteY14" fmla="*/ 850881 h 1213364"/>
              <a:gd name="connsiteX15" fmla="*/ 177207 w 1764575"/>
              <a:gd name="connsiteY15" fmla="*/ 1005414 h 1213364"/>
              <a:gd name="connsiteX16" fmla="*/ 385158 w 1764575"/>
              <a:gd name="connsiteY16" fmla="*/ 1213364 h 1213364"/>
              <a:gd name="connsiteX17" fmla="*/ 1720622 w 1764575"/>
              <a:gd name="connsiteY17" fmla="*/ 1213364 h 1213364"/>
              <a:gd name="connsiteX18" fmla="*/ 1760686 w 1764575"/>
              <a:gd name="connsiteY18" fmla="*/ 1186655 h 1213364"/>
              <a:gd name="connsiteX19" fmla="*/ 1751147 w 1764575"/>
              <a:gd name="connsiteY19" fmla="*/ 1138960 h 1213364"/>
              <a:gd name="connsiteX20" fmla="*/ 1665296 w 1764575"/>
              <a:gd name="connsiteY20" fmla="*/ 929101 h 1213364"/>
              <a:gd name="connsiteX21" fmla="*/ 160037 w 1764575"/>
              <a:gd name="connsiteY21" fmla="*/ 518923 h 1213364"/>
              <a:gd name="connsiteX22" fmla="*/ 1266565 w 1764575"/>
              <a:gd name="connsiteY22" fmla="*/ 518923 h 1213364"/>
              <a:gd name="connsiteX23" fmla="*/ 1310444 w 1764575"/>
              <a:gd name="connsiteY23" fmla="*/ 475044 h 1213364"/>
              <a:gd name="connsiteX24" fmla="*/ 1266565 w 1764575"/>
              <a:gd name="connsiteY24" fmla="*/ 431164 h 1213364"/>
              <a:gd name="connsiteX25" fmla="*/ 173392 w 1764575"/>
              <a:gd name="connsiteY25" fmla="*/ 431164 h 1213364"/>
              <a:gd name="connsiteX26" fmla="*/ 173392 w 1764575"/>
              <a:gd name="connsiteY26" fmla="*/ 299525 h 1213364"/>
              <a:gd name="connsiteX27" fmla="*/ 1266565 w 1764575"/>
              <a:gd name="connsiteY27" fmla="*/ 299525 h 1213364"/>
              <a:gd name="connsiteX28" fmla="*/ 1310444 w 1764575"/>
              <a:gd name="connsiteY28" fmla="*/ 255646 h 1213364"/>
              <a:gd name="connsiteX29" fmla="*/ 1266565 w 1764575"/>
              <a:gd name="connsiteY29" fmla="*/ 211766 h 1213364"/>
              <a:gd name="connsiteX30" fmla="*/ 160037 w 1764575"/>
              <a:gd name="connsiteY30" fmla="*/ 211766 h 1213364"/>
              <a:gd name="connsiteX31" fmla="*/ 118065 w 1764575"/>
              <a:gd name="connsiteY31" fmla="*/ 87759 h 1213364"/>
              <a:gd name="connsiteX32" fmla="*/ 1417281 w 1764575"/>
              <a:gd name="connsiteY32" fmla="*/ 87759 h 1213364"/>
              <a:gd name="connsiteX33" fmla="*/ 1417281 w 1764575"/>
              <a:gd name="connsiteY33" fmla="*/ 642930 h 1213364"/>
              <a:gd name="connsiteX34" fmla="*/ 118065 w 1764575"/>
              <a:gd name="connsiteY34" fmla="*/ 642930 h 1213364"/>
              <a:gd name="connsiteX35" fmla="*/ 160037 w 1764575"/>
              <a:gd name="connsiteY35" fmla="*/ 518923 h 1213364"/>
              <a:gd name="connsiteX36" fmla="*/ 385158 w 1764575"/>
              <a:gd name="connsiteY36" fmla="*/ 1123698 h 1213364"/>
              <a:gd name="connsiteX37" fmla="*/ 264966 w 1764575"/>
              <a:gd name="connsiteY37" fmla="*/ 1003506 h 1213364"/>
              <a:gd name="connsiteX38" fmla="*/ 264966 w 1764575"/>
              <a:gd name="connsiteY38" fmla="*/ 848973 h 1213364"/>
              <a:gd name="connsiteX39" fmla="*/ 385158 w 1764575"/>
              <a:gd name="connsiteY39" fmla="*/ 728782 h 1213364"/>
              <a:gd name="connsiteX40" fmla="*/ 1632863 w 1764575"/>
              <a:gd name="connsiteY40" fmla="*/ 728782 h 1213364"/>
              <a:gd name="connsiteX41" fmla="*/ 1581353 w 1764575"/>
              <a:gd name="connsiteY41" fmla="*/ 881406 h 1213364"/>
              <a:gd name="connsiteX42" fmla="*/ 484364 w 1764575"/>
              <a:gd name="connsiteY42" fmla="*/ 881406 h 1213364"/>
              <a:gd name="connsiteX43" fmla="*/ 440485 w 1764575"/>
              <a:gd name="connsiteY43" fmla="*/ 925286 h 1213364"/>
              <a:gd name="connsiteX44" fmla="*/ 484364 w 1764575"/>
              <a:gd name="connsiteY44" fmla="*/ 969165 h 1213364"/>
              <a:gd name="connsiteX45" fmla="*/ 1579445 w 1764575"/>
              <a:gd name="connsiteY45" fmla="*/ 969165 h 1213364"/>
              <a:gd name="connsiteX46" fmla="*/ 1630955 w 1764575"/>
              <a:gd name="connsiteY46" fmla="*/ 1121790 h 1213364"/>
              <a:gd name="connsiteX47" fmla="*/ 385158 w 1764575"/>
              <a:gd name="connsiteY47" fmla="*/ 1121790 h 1213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764575" h="1213364">
                <a:moveTo>
                  <a:pt x="1665296" y="927194"/>
                </a:moveTo>
                <a:cubicBezTo>
                  <a:pt x="1665296" y="847066"/>
                  <a:pt x="1695821" y="774569"/>
                  <a:pt x="1751147" y="717335"/>
                </a:cubicBezTo>
                <a:cubicBezTo>
                  <a:pt x="1768318" y="700165"/>
                  <a:pt x="1768318" y="673455"/>
                  <a:pt x="1751147" y="656285"/>
                </a:cubicBezTo>
                <a:cubicBezTo>
                  <a:pt x="1743516" y="646746"/>
                  <a:pt x="1732069" y="642930"/>
                  <a:pt x="1720622" y="642930"/>
                </a:cubicBezTo>
                <a:lnTo>
                  <a:pt x="1505040" y="642930"/>
                </a:lnTo>
                <a:lnTo>
                  <a:pt x="1505040" y="43880"/>
                </a:lnTo>
                <a:cubicBezTo>
                  <a:pt x="1505040" y="19078"/>
                  <a:pt x="1485962" y="0"/>
                  <a:pt x="1461161" y="0"/>
                </a:cubicBezTo>
                <a:lnTo>
                  <a:pt x="264966" y="0"/>
                </a:lnTo>
                <a:cubicBezTo>
                  <a:pt x="105983" y="0"/>
                  <a:pt x="22040" y="4452"/>
                  <a:pt x="13136" y="13355"/>
                </a:cubicBezTo>
                <a:cubicBezTo>
                  <a:pt x="-2126" y="28617"/>
                  <a:pt x="-4034" y="51511"/>
                  <a:pt x="7413" y="68681"/>
                </a:cubicBezTo>
                <a:cubicBezTo>
                  <a:pt x="116158" y="232752"/>
                  <a:pt x="116158" y="497937"/>
                  <a:pt x="7413" y="662009"/>
                </a:cubicBezTo>
                <a:cubicBezTo>
                  <a:pt x="-2126" y="675363"/>
                  <a:pt x="-2126" y="692533"/>
                  <a:pt x="5505" y="707796"/>
                </a:cubicBezTo>
                <a:cubicBezTo>
                  <a:pt x="13136" y="721151"/>
                  <a:pt x="28399" y="730690"/>
                  <a:pt x="43661" y="730690"/>
                </a:cubicBezTo>
                <a:lnTo>
                  <a:pt x="215363" y="730690"/>
                </a:lnTo>
                <a:cubicBezTo>
                  <a:pt x="190562" y="765030"/>
                  <a:pt x="177207" y="805094"/>
                  <a:pt x="177207" y="850881"/>
                </a:cubicBezTo>
                <a:lnTo>
                  <a:pt x="177207" y="1005414"/>
                </a:lnTo>
                <a:cubicBezTo>
                  <a:pt x="177207" y="1119882"/>
                  <a:pt x="270690" y="1213364"/>
                  <a:pt x="385158" y="1213364"/>
                </a:cubicBezTo>
                <a:lnTo>
                  <a:pt x="1720622" y="1213364"/>
                </a:lnTo>
                <a:cubicBezTo>
                  <a:pt x="1737793" y="1213364"/>
                  <a:pt x="1754963" y="1203825"/>
                  <a:pt x="1760686" y="1186655"/>
                </a:cubicBezTo>
                <a:cubicBezTo>
                  <a:pt x="1768318" y="1169485"/>
                  <a:pt x="1764502" y="1152315"/>
                  <a:pt x="1751147" y="1138960"/>
                </a:cubicBezTo>
                <a:cubicBezTo>
                  <a:pt x="1695821" y="1083634"/>
                  <a:pt x="1665296" y="1009229"/>
                  <a:pt x="1665296" y="929101"/>
                </a:cubicBezTo>
                <a:close/>
                <a:moveTo>
                  <a:pt x="160037" y="518923"/>
                </a:moveTo>
                <a:lnTo>
                  <a:pt x="1266565" y="518923"/>
                </a:lnTo>
                <a:cubicBezTo>
                  <a:pt x="1291366" y="518923"/>
                  <a:pt x="1310444" y="499845"/>
                  <a:pt x="1310444" y="475044"/>
                </a:cubicBezTo>
                <a:cubicBezTo>
                  <a:pt x="1310444" y="450242"/>
                  <a:pt x="1291366" y="431164"/>
                  <a:pt x="1266565" y="431164"/>
                </a:cubicBezTo>
                <a:lnTo>
                  <a:pt x="173392" y="431164"/>
                </a:lnTo>
                <a:cubicBezTo>
                  <a:pt x="177207" y="387285"/>
                  <a:pt x="177207" y="343405"/>
                  <a:pt x="173392" y="299525"/>
                </a:cubicBezTo>
                <a:lnTo>
                  <a:pt x="1266565" y="299525"/>
                </a:lnTo>
                <a:cubicBezTo>
                  <a:pt x="1291366" y="299525"/>
                  <a:pt x="1310444" y="280447"/>
                  <a:pt x="1310444" y="255646"/>
                </a:cubicBezTo>
                <a:cubicBezTo>
                  <a:pt x="1310444" y="230844"/>
                  <a:pt x="1291366" y="211766"/>
                  <a:pt x="1266565" y="211766"/>
                </a:cubicBezTo>
                <a:lnTo>
                  <a:pt x="160037" y="211766"/>
                </a:lnTo>
                <a:cubicBezTo>
                  <a:pt x="150498" y="167887"/>
                  <a:pt x="137143" y="125915"/>
                  <a:pt x="118065" y="87759"/>
                </a:cubicBezTo>
                <a:lnTo>
                  <a:pt x="1417281" y="87759"/>
                </a:lnTo>
                <a:lnTo>
                  <a:pt x="1417281" y="642930"/>
                </a:lnTo>
                <a:lnTo>
                  <a:pt x="118065" y="642930"/>
                </a:lnTo>
                <a:cubicBezTo>
                  <a:pt x="135236" y="604774"/>
                  <a:pt x="150498" y="562803"/>
                  <a:pt x="160037" y="518923"/>
                </a:cubicBezTo>
                <a:close/>
                <a:moveTo>
                  <a:pt x="385158" y="1123698"/>
                </a:moveTo>
                <a:cubicBezTo>
                  <a:pt x="318385" y="1123698"/>
                  <a:pt x="264966" y="1070279"/>
                  <a:pt x="264966" y="1003506"/>
                </a:cubicBezTo>
                <a:lnTo>
                  <a:pt x="264966" y="848973"/>
                </a:lnTo>
                <a:cubicBezTo>
                  <a:pt x="264966" y="782200"/>
                  <a:pt x="318385" y="728782"/>
                  <a:pt x="385158" y="728782"/>
                </a:cubicBezTo>
                <a:lnTo>
                  <a:pt x="1632863" y="728782"/>
                </a:lnTo>
                <a:cubicBezTo>
                  <a:pt x="1604246" y="774569"/>
                  <a:pt x="1587076" y="827988"/>
                  <a:pt x="1581353" y="881406"/>
                </a:cubicBezTo>
                <a:lnTo>
                  <a:pt x="484364" y="881406"/>
                </a:lnTo>
                <a:cubicBezTo>
                  <a:pt x="459563" y="881406"/>
                  <a:pt x="440485" y="900484"/>
                  <a:pt x="440485" y="925286"/>
                </a:cubicBezTo>
                <a:cubicBezTo>
                  <a:pt x="440485" y="950087"/>
                  <a:pt x="459563" y="969165"/>
                  <a:pt x="484364" y="969165"/>
                </a:cubicBezTo>
                <a:lnTo>
                  <a:pt x="1579445" y="969165"/>
                </a:lnTo>
                <a:cubicBezTo>
                  <a:pt x="1585168" y="1024492"/>
                  <a:pt x="1602338" y="1076002"/>
                  <a:pt x="1630955" y="1121790"/>
                </a:cubicBezTo>
                <a:lnTo>
                  <a:pt x="385158" y="1121790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4C604BF-27CC-0AB6-ED8F-4C46731ADF22}"/>
              </a:ext>
            </a:extLst>
          </p:cNvPr>
          <p:cNvSpPr txBox="1"/>
          <p:nvPr/>
        </p:nvSpPr>
        <p:spPr>
          <a:xfrm>
            <a:off x="3721407" y="2533846"/>
            <a:ext cx="4339343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HSU, S.; CURRIE, A. y BERGMAN, S. </a:t>
            </a:r>
            <a:r>
              <a:rPr lang="en-US" sz="2400" i="1" dirty="0" err="1">
                <a:solidFill>
                  <a:schemeClr val="bg1"/>
                </a:solidFill>
                <a:ea typeface="+mn-lt"/>
                <a:cs typeface="+mn-lt"/>
              </a:rPr>
              <a:t>Construir</a:t>
            </a:r>
            <a:r>
              <a:rPr lang="en-US" sz="2400" i="1" dirty="0">
                <a:solidFill>
                  <a:schemeClr val="bg1"/>
                </a:solidFill>
                <a:ea typeface="+mn-lt"/>
                <a:cs typeface="+mn-lt"/>
              </a:rPr>
              <a:t> software </a:t>
            </a:r>
            <a:r>
              <a:rPr lang="en-US" sz="2400" i="1" dirty="0" err="1">
                <a:solidFill>
                  <a:schemeClr val="bg1"/>
                </a:solidFill>
                <a:ea typeface="+mn-lt"/>
                <a:cs typeface="+mn-lt"/>
              </a:rPr>
              <a:t>verde</a:t>
            </a:r>
            <a:r>
              <a:rPr lang="en-US" sz="2400" i="1" dirty="0">
                <a:solidFill>
                  <a:schemeClr val="bg1"/>
                </a:solidFill>
                <a:ea typeface="+mn-lt"/>
                <a:cs typeface="+mn-lt"/>
              </a:rPr>
              <a:t>: un </a:t>
            </a:r>
            <a:r>
              <a:rPr lang="en-US" sz="2400" i="1" dirty="0" err="1">
                <a:solidFill>
                  <a:schemeClr val="bg1"/>
                </a:solidFill>
                <a:ea typeface="+mn-lt"/>
                <a:cs typeface="+mn-lt"/>
              </a:rPr>
              <a:t>enfoque</a:t>
            </a:r>
            <a:r>
              <a:rPr lang="en-US" sz="2400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ea typeface="+mn-lt"/>
                <a:cs typeface="+mn-lt"/>
              </a:rPr>
              <a:t>sostenible</a:t>
            </a:r>
            <a:r>
              <a:rPr lang="en-US" sz="2400" i="1" dirty="0">
                <a:solidFill>
                  <a:schemeClr val="bg1"/>
                </a:solidFill>
                <a:ea typeface="+mn-lt"/>
                <a:cs typeface="+mn-lt"/>
              </a:rPr>
              <a:t> para </a:t>
            </a:r>
            <a:r>
              <a:rPr lang="en-US" sz="2400" i="1" dirty="0" err="1">
                <a:solidFill>
                  <a:schemeClr val="bg1"/>
                </a:solidFill>
                <a:ea typeface="+mn-lt"/>
                <a:cs typeface="+mn-lt"/>
              </a:rPr>
              <a:t>el</a:t>
            </a:r>
            <a:r>
              <a:rPr lang="en-US" sz="2400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ea typeface="+mn-lt"/>
                <a:cs typeface="+mn-lt"/>
              </a:rPr>
              <a:t>desarrollo</a:t>
            </a:r>
            <a:r>
              <a:rPr lang="en-US" sz="2400" i="1" dirty="0">
                <a:solidFill>
                  <a:schemeClr val="bg1"/>
                </a:solidFill>
                <a:ea typeface="+mn-lt"/>
                <a:cs typeface="+mn-lt"/>
              </a:rPr>
              <a:t> y la </a:t>
            </a:r>
            <a:r>
              <a:rPr lang="en-US" sz="2400" i="1" dirty="0" err="1">
                <a:solidFill>
                  <a:schemeClr val="bg1"/>
                </a:solidFill>
                <a:ea typeface="+mn-lt"/>
                <a:cs typeface="+mn-lt"/>
              </a:rPr>
              <a:t>operación</a:t>
            </a:r>
            <a:r>
              <a:rPr lang="en-US" sz="2400" i="1" dirty="0">
                <a:solidFill>
                  <a:schemeClr val="bg1"/>
                </a:solidFill>
                <a:ea typeface="+mn-lt"/>
                <a:cs typeface="+mn-lt"/>
              </a:rPr>
              <a:t> de software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. Barcelona: </a:t>
            </a:r>
            <a:r>
              <a:rPr lang="en-US" sz="2400" dirty="0" err="1">
                <a:solidFill>
                  <a:schemeClr val="bg1"/>
                </a:solidFill>
                <a:ea typeface="+mn-lt"/>
                <a:cs typeface="+mn-lt"/>
              </a:rPr>
              <a:t>Marcombo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, 2025.</a:t>
            </a:r>
            <a:endParaRPr lang="es-ES" dirty="0">
              <a:solidFill>
                <a:schemeClr val="bg1"/>
              </a:solidFill>
              <a:ea typeface="+mn-lt"/>
              <a:cs typeface="+mn-lt"/>
            </a:endParaRPr>
          </a:p>
          <a:p>
            <a:pPr algn="just"/>
            <a:endParaRPr lang="es-ES" sz="2400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ED7F5F4-A574-CA23-2CDF-5BDAAF16B18E}"/>
              </a:ext>
            </a:extLst>
          </p:cNvPr>
          <p:cNvSpPr/>
          <p:nvPr/>
        </p:nvSpPr>
        <p:spPr>
          <a:xfrm>
            <a:off x="1446049" y="184224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E4696E-CA28-96BB-4B35-22F4027C4739}"/>
              </a:ext>
            </a:extLst>
          </p:cNvPr>
          <p:cNvSpPr txBox="1"/>
          <p:nvPr/>
        </p:nvSpPr>
        <p:spPr>
          <a:xfrm>
            <a:off x="1355464" y="1193601"/>
            <a:ext cx="7411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es-AR" sz="3600" b="1" dirty="0">
                <a:solidFill>
                  <a:schemeClr val="bg1"/>
                </a:solidFill>
              </a:rPr>
              <a:t>Bibliografía </a:t>
            </a:r>
            <a:r>
              <a:rPr lang="es-AR" sz="3600" dirty="0">
                <a:solidFill>
                  <a:schemeClr val="bg1"/>
                </a:solidFill>
              </a:rPr>
              <a:t>utilizada para este recurso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5C11561-5277-DDC7-0B64-90992CBE1AA7}"/>
              </a:ext>
            </a:extLst>
          </p:cNvPr>
          <p:cNvSpPr/>
          <p:nvPr/>
        </p:nvSpPr>
        <p:spPr>
          <a:xfrm>
            <a:off x="6465665" y="559716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49819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i="0" u="none" strike="noStrike" dirty="0">
                <a:solidFill>
                  <a:schemeClr val="bg1"/>
                </a:solidFill>
                <a:effectLst/>
              </a:rPr>
              <a:t>¡Muchas gracias!</a:t>
            </a:r>
            <a:r>
              <a:rPr lang="es-AR" sz="6600" b="0" i="0" dirty="0">
                <a:solidFill>
                  <a:schemeClr val="bg1"/>
                </a:solidFill>
                <a:effectLst/>
              </a:rPr>
              <a:t>​</a:t>
            </a:r>
            <a:endParaRPr lang="es-AR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9649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VIRT - PPT">
      <a:dk1>
        <a:srgbClr val="494847"/>
      </a:dk1>
      <a:lt1>
        <a:srgbClr val="FFFFFF"/>
      </a:lt1>
      <a:dk2>
        <a:srgbClr val="62A730"/>
      </a:dk2>
      <a:lt2>
        <a:srgbClr val="0E1B2B"/>
      </a:lt2>
      <a:accent1>
        <a:srgbClr val="04A4CA"/>
      </a:accent1>
      <a:accent2>
        <a:srgbClr val="9F79AE"/>
      </a:accent2>
      <a:accent3>
        <a:srgbClr val="CC122B"/>
      </a:accent3>
      <a:accent4>
        <a:srgbClr val="E96920"/>
      </a:accent4>
      <a:accent5>
        <a:srgbClr val="F1A20D"/>
      </a:accent5>
      <a:accent6>
        <a:srgbClr val="FFFFFF"/>
      </a:accent6>
      <a:hlink>
        <a:srgbClr val="C9122A"/>
      </a:hlink>
      <a:folHlink>
        <a:srgbClr val="494A49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F098A7DE-A46E-344A-A14C-BAD293D7C40B}"/>
    </a:ext>
  </a:extLst>
</a:theme>
</file>

<file path=ppt/theme/theme2.xml><?xml version="1.0" encoding="utf-8"?>
<a:theme xmlns:a="http://schemas.openxmlformats.org/drawingml/2006/main" name="1_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1BB692B7-E3C2-4F4B-AB4D-F7A92AB8677F}"/>
    </a:ext>
  </a:extLst>
</a:theme>
</file>

<file path=ppt/theme/theme3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5f0631a-2ac1-434a-9e75-b23938e5739a" xsi:nil="true"/>
    <lcf76f155ced4ddcb4097134ff3c332f xmlns="232756c5-2869-4da6-aa3d-6ef32daae75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8C92D704EFF064BA8390B1F0BCDA6A5" ma:contentTypeVersion="19" ma:contentTypeDescription="Crear nuevo documento." ma:contentTypeScope="" ma:versionID="2ca7b30a8b21261bae43d849cd732259">
  <xsd:schema xmlns:xsd="http://www.w3.org/2001/XMLSchema" xmlns:xs="http://www.w3.org/2001/XMLSchema" xmlns:p="http://schemas.microsoft.com/office/2006/metadata/properties" xmlns:ns2="232756c5-2869-4da6-aa3d-6ef32daae75e" xmlns:ns3="b5f0631a-2ac1-434a-9e75-b23938e5739a" targetNamespace="http://schemas.microsoft.com/office/2006/metadata/properties" ma:root="true" ma:fieldsID="1cf8f755b6fc91a6ab28aee5ac077d21" ns2:_="" ns3:_="">
    <xsd:import namespace="232756c5-2869-4da6-aa3d-6ef32daae75e"/>
    <xsd:import namespace="b5f0631a-2ac1-434a-9e75-b23938e573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2756c5-2869-4da6-aa3d-6ef32daae7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f0631a-2ac1-434a-9e75-b23938e5739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e9c1aa3-7ebd-4368-a771-30b49c08b8be}" ma:internalName="TaxCatchAll" ma:showField="CatchAllData" ma:web="b5f0631a-2ac1-434a-9e75-b23938e573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81803CA-FEBB-4A0D-BD4D-E9503F1B167C}">
  <ds:schemaRefs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2006/metadata/properties"/>
    <ds:schemaRef ds:uri="http://purl.org/dc/dcmitype/"/>
    <ds:schemaRef ds:uri="http://schemas.microsoft.com/office/infopath/2007/PartnerControls"/>
    <ds:schemaRef ds:uri="b5f0631a-2ac1-434a-9e75-b23938e5739a"/>
    <ds:schemaRef ds:uri="232756c5-2869-4da6-aa3d-6ef32daae75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02C34BE-D40D-40B4-A303-F89083FD93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2756c5-2869-4da6-aa3d-6ef32daae75e"/>
    <ds:schemaRef ds:uri="b5f0631a-2ac1-434a-9e75-b23938e573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138D084-BA7E-443E-A554-F8A46FD7CBB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44979d0-d31d-4c57-8ba0-491aff4acaed}" enabled="0" method="" siteId="{344979d0-d31d-4c57-8ba0-491aff4acae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58</TotalTime>
  <Words>865</Words>
  <Application>Microsoft Office PowerPoint</Application>
  <PresentationFormat>Panorámica</PresentationFormat>
  <Paragraphs>104</Paragraphs>
  <Slides>24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3</vt:i4>
      </vt:variant>
      <vt:variant>
        <vt:lpstr>Títulos de diapositiva</vt:lpstr>
      </vt:variant>
      <vt:variant>
        <vt:i4>24</vt:i4>
      </vt:variant>
    </vt:vector>
  </HeadingPairs>
  <TitlesOfParts>
    <vt:vector size="27" baseType="lpstr">
      <vt:lpstr>Tema de Office</vt:lpstr>
      <vt:lpstr>1_Office Theme</vt:lpstr>
      <vt:lpstr>Faceta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RODRIGUEZ SOFIA MERCEDES</dc:creator>
  <cp:lastModifiedBy>ADDESSO CAMILA</cp:lastModifiedBy>
  <cp:revision>226</cp:revision>
  <dcterms:created xsi:type="dcterms:W3CDTF">2022-08-30T18:57:15Z</dcterms:created>
  <dcterms:modified xsi:type="dcterms:W3CDTF">2025-10-22T15:25:49Z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0x010100D8C92D704EFF064BA8390B1F0BCDA6A5</vt:lpwstr>
  </property>
  <property fmtid="{D5CDD505-2E9C-101B-9397-08002B2CF9AE}" pid="3" name="MediaServiceImageTags">
    <vt:lpwstr/>
  </property>
</Properties>
</file>
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49"/>
  </p:notesMasterIdLst>
  <p:handoutMasterIdLst>
    <p:handoutMasterId r:id="rId50"/>
  </p:handoutMasterIdLst>
  <p:sldIdLst>
    <p:sldId id="344" r:id="rId7"/>
    <p:sldId id="346" r:id="rId8"/>
    <p:sldId id="258" r:id="rId9"/>
    <p:sldId id="326" r:id="rId10"/>
    <p:sldId id="348" r:id="rId11"/>
    <p:sldId id="356" r:id="rId12"/>
    <p:sldId id="355" r:id="rId13"/>
    <p:sldId id="347" r:id="rId14"/>
    <p:sldId id="349" r:id="rId15"/>
    <p:sldId id="350" r:id="rId16"/>
    <p:sldId id="357" r:id="rId17"/>
    <p:sldId id="351" r:id="rId18"/>
    <p:sldId id="358" r:id="rId19"/>
    <p:sldId id="352" r:id="rId20"/>
    <p:sldId id="359" r:id="rId21"/>
    <p:sldId id="361" r:id="rId22"/>
    <p:sldId id="362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54" r:id="rId44"/>
    <p:sldId id="353" r:id="rId45"/>
    <p:sldId id="316" r:id="rId46"/>
    <p:sldId id="384" r:id="rId47"/>
    <p:sldId id="27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517B6-CEF2-D818-6712-B53E4482B4C3}" v="11" dt="2025-10-06T12:30:34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6654" autoAdjust="0"/>
  </p:normalViewPr>
  <p:slideViewPr>
    <p:cSldViewPr snapToGrid="0">
      <p:cViewPr varScale="1">
        <p:scale>
          <a:sx n="95" d="100"/>
          <a:sy n="95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handoutMaster" Target="handoutMasters/handoutMaster1.xml"/><Relationship Id="rId55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0093D7-0187-44F5-9801-7367383E1B54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s-AR"/>
        </a:p>
      </dgm:t>
    </dgm:pt>
    <dgm:pt modelId="{07601D07-FF7B-437A-BD4E-D8CAB76A144B}">
      <dgm:prSet/>
      <dgm:spPr/>
      <dgm:t>
        <a:bodyPr/>
        <a:lstStyle/>
        <a:p>
          <a:pPr algn="just"/>
          <a:r>
            <a:rPr lang="es-ES" dirty="0"/>
            <a:t>• Los </a:t>
          </a:r>
          <a:r>
            <a:rPr lang="es-ES" i="1" dirty="0" err="1"/>
            <a:t>Code</a:t>
          </a:r>
          <a:r>
            <a:rPr lang="es-ES" i="1" dirty="0"/>
            <a:t> </a:t>
          </a:r>
          <a:r>
            <a:rPr lang="es-ES" i="1" dirty="0" err="1"/>
            <a:t>Smells</a:t>
          </a:r>
          <a:r>
            <a:rPr lang="es-ES" dirty="0"/>
            <a:t>, como su traducción nos dice, son “olores de código”.</a:t>
          </a:r>
          <a:endParaRPr lang="es-AR" dirty="0"/>
        </a:p>
      </dgm:t>
    </dgm:pt>
    <dgm:pt modelId="{9E3E545D-58BC-482B-A263-0F4A7AC2DA59}" type="parTrans" cxnId="{C28D2DCE-5E84-4F3F-8AF4-6F0E95C1247E}">
      <dgm:prSet/>
      <dgm:spPr/>
      <dgm:t>
        <a:bodyPr/>
        <a:lstStyle/>
        <a:p>
          <a:pPr algn="just"/>
          <a:endParaRPr lang="es-AR"/>
        </a:p>
      </dgm:t>
    </dgm:pt>
    <dgm:pt modelId="{979D8CBC-6CB5-4C3F-A222-4F4B5A0552A3}" type="sibTrans" cxnId="{C28D2DCE-5E84-4F3F-8AF4-6F0E95C1247E}">
      <dgm:prSet/>
      <dgm:spPr/>
      <dgm:t>
        <a:bodyPr/>
        <a:lstStyle/>
        <a:p>
          <a:pPr algn="just"/>
          <a:endParaRPr lang="es-AR"/>
        </a:p>
      </dgm:t>
    </dgm:pt>
    <dgm:pt modelId="{A2126BF1-4EB6-4E83-94A0-E56EF2A7FEF9}">
      <dgm:prSet/>
      <dgm:spPr/>
      <dgm:t>
        <a:bodyPr/>
        <a:lstStyle/>
        <a:p>
          <a:pPr algn="just"/>
          <a:r>
            <a:rPr lang="es-ES" dirty="0"/>
            <a:t>• Los </a:t>
          </a:r>
          <a:r>
            <a:rPr lang="es-ES" i="1" dirty="0" err="1"/>
            <a:t>smells</a:t>
          </a:r>
          <a:r>
            <a:rPr lang="es-ES" dirty="0"/>
            <a:t> no necesariamente significan que esté mal lo que diseñé/implementé, sino que son señales de algo que se puede mejorar (no hay que ser terminante, muchos </a:t>
          </a:r>
          <a:r>
            <a:rPr lang="es-ES" i="1" dirty="0" err="1"/>
            <a:t>code</a:t>
          </a:r>
          <a:r>
            <a:rPr lang="es-ES" i="1" dirty="0"/>
            <a:t> </a:t>
          </a:r>
          <a:r>
            <a:rPr lang="es-ES" i="1" dirty="0" err="1"/>
            <a:t>smells</a:t>
          </a:r>
          <a:r>
            <a:rPr lang="es-ES" i="1" dirty="0"/>
            <a:t> </a:t>
          </a:r>
          <a:r>
            <a:rPr lang="es-ES" dirty="0"/>
            <a:t>se entrecruzan al tratar de solucionarlos).</a:t>
          </a:r>
          <a:endParaRPr lang="es-AR" dirty="0"/>
        </a:p>
      </dgm:t>
    </dgm:pt>
    <dgm:pt modelId="{BB3F401C-43D6-45DC-92AB-D20CF800592E}" type="parTrans" cxnId="{6216B320-F279-42D1-A9AE-AC8079AEE359}">
      <dgm:prSet/>
      <dgm:spPr/>
      <dgm:t>
        <a:bodyPr/>
        <a:lstStyle/>
        <a:p>
          <a:pPr algn="just"/>
          <a:endParaRPr lang="es-AR"/>
        </a:p>
      </dgm:t>
    </dgm:pt>
    <dgm:pt modelId="{A54F3B88-B4DB-4DFF-974D-7BC36826F283}" type="sibTrans" cxnId="{6216B320-F279-42D1-A9AE-AC8079AEE359}">
      <dgm:prSet/>
      <dgm:spPr/>
      <dgm:t>
        <a:bodyPr/>
        <a:lstStyle/>
        <a:p>
          <a:pPr algn="just"/>
          <a:endParaRPr lang="es-AR"/>
        </a:p>
      </dgm:t>
    </dgm:pt>
    <dgm:pt modelId="{97EDF01D-F149-4FEB-B487-442DC3542C78}">
      <dgm:prSet/>
      <dgm:spPr/>
      <dgm:t>
        <a:bodyPr/>
        <a:lstStyle/>
        <a:p>
          <a:pPr algn="just"/>
          <a:r>
            <a:rPr lang="es-ES"/>
            <a:t>• Nosotros debemos ser capaces de sentir estos “malos olores” en nuestro código para que, de esta forma, se pueda mejorar nuestro diseño.</a:t>
          </a:r>
          <a:endParaRPr lang="es-AR"/>
        </a:p>
      </dgm:t>
    </dgm:pt>
    <dgm:pt modelId="{673F7DA1-88A4-4761-BFD0-F24B4D419E08}" type="parTrans" cxnId="{541C38C7-1ECA-4F63-B8C4-D75A83E9E512}">
      <dgm:prSet/>
      <dgm:spPr/>
      <dgm:t>
        <a:bodyPr/>
        <a:lstStyle/>
        <a:p>
          <a:pPr algn="just"/>
          <a:endParaRPr lang="es-AR"/>
        </a:p>
      </dgm:t>
    </dgm:pt>
    <dgm:pt modelId="{62C09E54-DF52-49E3-B7D9-DC6480893FDE}" type="sibTrans" cxnId="{541C38C7-1ECA-4F63-B8C4-D75A83E9E512}">
      <dgm:prSet/>
      <dgm:spPr/>
      <dgm:t>
        <a:bodyPr/>
        <a:lstStyle/>
        <a:p>
          <a:pPr algn="just"/>
          <a:endParaRPr lang="es-AR"/>
        </a:p>
      </dgm:t>
    </dgm:pt>
    <dgm:pt modelId="{59882F11-48D2-446B-848E-D090BF85F434}" type="pres">
      <dgm:prSet presAssocID="{3D0093D7-0187-44F5-9801-7367383E1B54}" presName="linear" presStyleCnt="0">
        <dgm:presLayoutVars>
          <dgm:animLvl val="lvl"/>
          <dgm:resizeHandles val="exact"/>
        </dgm:presLayoutVars>
      </dgm:prSet>
      <dgm:spPr/>
    </dgm:pt>
    <dgm:pt modelId="{A1928DB2-B8B1-4B29-A8E4-D9497E8063E0}" type="pres">
      <dgm:prSet presAssocID="{07601D07-FF7B-437A-BD4E-D8CAB76A14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7773A9-A490-4AFA-B09F-11006CBAAFEA}" type="pres">
      <dgm:prSet presAssocID="{979D8CBC-6CB5-4C3F-A222-4F4B5A0552A3}" presName="spacer" presStyleCnt="0"/>
      <dgm:spPr/>
    </dgm:pt>
    <dgm:pt modelId="{786F1B2E-1659-425D-A543-F56772E8606C}" type="pres">
      <dgm:prSet presAssocID="{A2126BF1-4EB6-4E83-94A0-E56EF2A7FEF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98B4F0-4251-4FBA-AD31-040DC2E28BA4}" type="pres">
      <dgm:prSet presAssocID="{A54F3B88-B4DB-4DFF-974D-7BC36826F283}" presName="spacer" presStyleCnt="0"/>
      <dgm:spPr/>
    </dgm:pt>
    <dgm:pt modelId="{B33D2DDE-2857-435E-A6B5-281F9F124962}" type="pres">
      <dgm:prSet presAssocID="{97EDF01D-F149-4FEB-B487-442DC3542C7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216B320-F279-42D1-A9AE-AC8079AEE359}" srcId="{3D0093D7-0187-44F5-9801-7367383E1B54}" destId="{A2126BF1-4EB6-4E83-94A0-E56EF2A7FEF9}" srcOrd="1" destOrd="0" parTransId="{BB3F401C-43D6-45DC-92AB-D20CF800592E}" sibTransId="{A54F3B88-B4DB-4DFF-974D-7BC36826F283}"/>
    <dgm:cxn modelId="{141B0D5B-7B28-4C98-82F0-07340CCB1260}" type="presOf" srcId="{3D0093D7-0187-44F5-9801-7367383E1B54}" destId="{59882F11-48D2-446B-848E-D090BF85F434}" srcOrd="0" destOrd="0" presId="urn:microsoft.com/office/officeart/2005/8/layout/vList2"/>
    <dgm:cxn modelId="{B90A705B-0402-434D-94A5-D6F009FD5B66}" type="presOf" srcId="{97EDF01D-F149-4FEB-B487-442DC3542C78}" destId="{B33D2DDE-2857-435E-A6B5-281F9F124962}" srcOrd="0" destOrd="0" presId="urn:microsoft.com/office/officeart/2005/8/layout/vList2"/>
    <dgm:cxn modelId="{27047491-2A1C-4C23-9FFD-3B3574BC577E}" type="presOf" srcId="{A2126BF1-4EB6-4E83-94A0-E56EF2A7FEF9}" destId="{786F1B2E-1659-425D-A543-F56772E8606C}" srcOrd="0" destOrd="0" presId="urn:microsoft.com/office/officeart/2005/8/layout/vList2"/>
    <dgm:cxn modelId="{541C38C7-1ECA-4F63-B8C4-D75A83E9E512}" srcId="{3D0093D7-0187-44F5-9801-7367383E1B54}" destId="{97EDF01D-F149-4FEB-B487-442DC3542C78}" srcOrd="2" destOrd="0" parTransId="{673F7DA1-88A4-4761-BFD0-F24B4D419E08}" sibTransId="{62C09E54-DF52-49E3-B7D9-DC6480893FDE}"/>
    <dgm:cxn modelId="{8024BBCD-ABE2-40B1-821C-ED624E53EB94}" type="presOf" srcId="{07601D07-FF7B-437A-BD4E-D8CAB76A144B}" destId="{A1928DB2-B8B1-4B29-A8E4-D9497E8063E0}" srcOrd="0" destOrd="0" presId="urn:microsoft.com/office/officeart/2005/8/layout/vList2"/>
    <dgm:cxn modelId="{C28D2DCE-5E84-4F3F-8AF4-6F0E95C1247E}" srcId="{3D0093D7-0187-44F5-9801-7367383E1B54}" destId="{07601D07-FF7B-437A-BD4E-D8CAB76A144B}" srcOrd="0" destOrd="0" parTransId="{9E3E545D-58BC-482B-A263-0F4A7AC2DA59}" sibTransId="{979D8CBC-6CB5-4C3F-A222-4F4B5A0552A3}"/>
    <dgm:cxn modelId="{47D46592-A5D2-4B47-92E8-A739A0FDDD20}" type="presParOf" srcId="{59882F11-48D2-446B-848E-D090BF85F434}" destId="{A1928DB2-B8B1-4B29-A8E4-D9497E8063E0}" srcOrd="0" destOrd="0" presId="urn:microsoft.com/office/officeart/2005/8/layout/vList2"/>
    <dgm:cxn modelId="{C26DC56B-8F88-4CF2-ABF4-4DDB90288FEC}" type="presParOf" srcId="{59882F11-48D2-446B-848E-D090BF85F434}" destId="{BE7773A9-A490-4AFA-B09F-11006CBAAFEA}" srcOrd="1" destOrd="0" presId="urn:microsoft.com/office/officeart/2005/8/layout/vList2"/>
    <dgm:cxn modelId="{BBBCEDD0-BD1B-45B9-A0A5-4C29800917A6}" type="presParOf" srcId="{59882F11-48D2-446B-848E-D090BF85F434}" destId="{786F1B2E-1659-425D-A543-F56772E8606C}" srcOrd="2" destOrd="0" presId="urn:microsoft.com/office/officeart/2005/8/layout/vList2"/>
    <dgm:cxn modelId="{3E663C2B-1E82-4682-9A0E-423B195CD49D}" type="presParOf" srcId="{59882F11-48D2-446B-848E-D090BF85F434}" destId="{F598B4F0-4251-4FBA-AD31-040DC2E28BA4}" srcOrd="3" destOrd="0" presId="urn:microsoft.com/office/officeart/2005/8/layout/vList2"/>
    <dgm:cxn modelId="{281E9898-D0BC-4944-BE70-BC39A8A0CD22}" type="presParOf" srcId="{59882F11-48D2-446B-848E-D090BF85F434}" destId="{B33D2DDE-2857-435E-A6B5-281F9F12496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34A24F-E914-4E2A-BE92-47F5A0EC8D79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597F6265-F8BF-412F-A596-AAF86080B075}">
      <dgm:prSet custT="1"/>
      <dgm:spPr/>
      <dgm:t>
        <a:bodyPr/>
        <a:lstStyle/>
        <a:p>
          <a:r>
            <a:rPr lang="es-ES" sz="2400" b="1" dirty="0"/>
            <a:t>Un método largo podemos descomponerlo en varias partes. De cada parte del método debemos: </a:t>
          </a:r>
          <a:endParaRPr lang="es-AR" sz="2400" b="1" dirty="0"/>
        </a:p>
      </dgm:t>
    </dgm:pt>
    <dgm:pt modelId="{559C5307-5866-4D70-80D2-739F45498873}" type="parTrans" cxnId="{164D9710-6957-43DF-84F0-01FFE2F668FA}">
      <dgm:prSet/>
      <dgm:spPr/>
      <dgm:t>
        <a:bodyPr/>
        <a:lstStyle/>
        <a:p>
          <a:endParaRPr lang="es-AR"/>
        </a:p>
      </dgm:t>
    </dgm:pt>
    <dgm:pt modelId="{63D37C0E-EF16-42A7-B6E1-CA8F0D1ADDF2}" type="sibTrans" cxnId="{164D9710-6957-43DF-84F0-01FFE2F668FA}">
      <dgm:prSet/>
      <dgm:spPr/>
      <dgm:t>
        <a:bodyPr/>
        <a:lstStyle/>
        <a:p>
          <a:endParaRPr lang="es-AR"/>
        </a:p>
      </dgm:t>
    </dgm:pt>
    <dgm:pt modelId="{B63C68AA-4CE9-4B12-931C-3351C2D65953}">
      <dgm:prSet/>
      <dgm:spPr/>
      <dgm:t>
        <a:bodyPr/>
        <a:lstStyle/>
        <a:p>
          <a:r>
            <a:rPr lang="es-ES" dirty="0"/>
            <a:t>Identificar el objetivo que cumple.</a:t>
          </a:r>
          <a:endParaRPr lang="es-AR" dirty="0"/>
        </a:p>
      </dgm:t>
    </dgm:pt>
    <dgm:pt modelId="{1E5A9646-686A-4BFE-9CEB-1ECEE33A205C}" type="parTrans" cxnId="{F8BAD66F-C94E-4F25-AD21-E190E5AC7BF7}">
      <dgm:prSet/>
      <dgm:spPr/>
      <dgm:t>
        <a:bodyPr/>
        <a:lstStyle/>
        <a:p>
          <a:endParaRPr lang="es-AR"/>
        </a:p>
      </dgm:t>
    </dgm:pt>
    <dgm:pt modelId="{531C4B47-6A32-498A-B40D-34A771405C46}" type="sibTrans" cxnId="{F8BAD66F-C94E-4F25-AD21-E190E5AC7BF7}">
      <dgm:prSet/>
      <dgm:spPr/>
      <dgm:t>
        <a:bodyPr/>
        <a:lstStyle/>
        <a:p>
          <a:endParaRPr lang="es-AR"/>
        </a:p>
      </dgm:t>
    </dgm:pt>
    <dgm:pt modelId="{1CC26E95-F808-499D-AACD-97D623DEDD4B}">
      <dgm:prSet/>
      <dgm:spPr/>
      <dgm:t>
        <a:bodyPr/>
        <a:lstStyle/>
        <a:p>
          <a:r>
            <a:rPr lang="es-ES" dirty="0"/>
            <a:t>Implementar esa abstracción: ponerle un nombre representativo y encontrar qué objeto es responsable de ese objetivo. </a:t>
          </a:r>
          <a:endParaRPr lang="es-AR" dirty="0"/>
        </a:p>
      </dgm:t>
    </dgm:pt>
    <dgm:pt modelId="{72C5F288-E851-4A10-8946-330FC71668AB}" type="parTrans" cxnId="{80D83E57-7DAF-495A-B52D-52D747A9518E}">
      <dgm:prSet/>
      <dgm:spPr/>
      <dgm:t>
        <a:bodyPr/>
        <a:lstStyle/>
        <a:p>
          <a:endParaRPr lang="es-AR"/>
        </a:p>
      </dgm:t>
    </dgm:pt>
    <dgm:pt modelId="{C7B70BEF-1152-4FEF-8883-F4AD149B9967}" type="sibTrans" cxnId="{80D83E57-7DAF-495A-B52D-52D747A9518E}">
      <dgm:prSet/>
      <dgm:spPr/>
      <dgm:t>
        <a:bodyPr/>
        <a:lstStyle/>
        <a:p>
          <a:endParaRPr lang="es-AR"/>
        </a:p>
      </dgm:t>
    </dgm:pt>
    <dgm:pt modelId="{5574BEBC-61DF-47CF-AA03-0297837C6B46}">
      <dgm:prSet/>
      <dgm:spPr/>
      <dgm:t>
        <a:bodyPr/>
        <a:lstStyle/>
        <a:p>
          <a:r>
            <a:rPr lang="es-ES" dirty="0"/>
            <a:t>Delegar el método original en varios </a:t>
          </a:r>
          <a:r>
            <a:rPr lang="es-ES" dirty="0" err="1"/>
            <a:t>submétodos</a:t>
          </a:r>
          <a:r>
            <a:rPr lang="es-ES" dirty="0"/>
            <a:t> nos permite entender mejor qué es lo que hace.</a:t>
          </a:r>
          <a:endParaRPr lang="es-AR" dirty="0"/>
        </a:p>
      </dgm:t>
    </dgm:pt>
    <dgm:pt modelId="{C0E51840-692E-417E-A4F7-705C03B1073A}" type="parTrans" cxnId="{A5888B88-6411-4291-AE49-BCF133F13A78}">
      <dgm:prSet/>
      <dgm:spPr/>
      <dgm:t>
        <a:bodyPr/>
        <a:lstStyle/>
        <a:p>
          <a:endParaRPr lang="es-AR"/>
        </a:p>
      </dgm:t>
    </dgm:pt>
    <dgm:pt modelId="{F7EF2345-B1F2-4F14-B87E-8C80866CA741}" type="sibTrans" cxnId="{A5888B88-6411-4291-AE49-BCF133F13A78}">
      <dgm:prSet/>
      <dgm:spPr/>
      <dgm:t>
        <a:bodyPr/>
        <a:lstStyle/>
        <a:p>
          <a:endParaRPr lang="es-AR"/>
        </a:p>
      </dgm:t>
    </dgm:pt>
    <dgm:pt modelId="{F7A40785-041E-47E4-B8F3-08526F3A7AA1}">
      <dgm:prSet/>
      <dgm:spPr/>
      <dgm:t>
        <a:bodyPr/>
        <a:lstStyle/>
        <a:p>
          <a:r>
            <a:rPr lang="es-ES" dirty="0"/>
            <a:t>Los métodos generados pueden ser utilizados en otro contexto.</a:t>
          </a:r>
          <a:endParaRPr lang="es-AR" dirty="0"/>
        </a:p>
      </dgm:t>
    </dgm:pt>
    <dgm:pt modelId="{B674FDDD-74B0-426E-BB5C-AE2ADA8B1A5F}" type="parTrans" cxnId="{D455F2D6-6878-43D2-8495-2E6ED3A49E4F}">
      <dgm:prSet/>
      <dgm:spPr/>
      <dgm:t>
        <a:bodyPr/>
        <a:lstStyle/>
        <a:p>
          <a:endParaRPr lang="es-AR"/>
        </a:p>
      </dgm:t>
    </dgm:pt>
    <dgm:pt modelId="{AF75DBFB-1130-4007-AD4D-8615F16D3FF1}" type="sibTrans" cxnId="{D455F2D6-6878-43D2-8495-2E6ED3A49E4F}">
      <dgm:prSet/>
      <dgm:spPr/>
      <dgm:t>
        <a:bodyPr/>
        <a:lstStyle/>
        <a:p>
          <a:endParaRPr lang="es-AR"/>
        </a:p>
      </dgm:t>
    </dgm:pt>
    <dgm:pt modelId="{35502A6B-6F2B-4877-9D8E-715103D04BED}" type="pres">
      <dgm:prSet presAssocID="{4E34A24F-E914-4E2A-BE92-47F5A0EC8D79}" presName="Name0" presStyleCnt="0">
        <dgm:presLayoutVars>
          <dgm:dir/>
          <dgm:animLvl val="lvl"/>
          <dgm:resizeHandles val="exact"/>
        </dgm:presLayoutVars>
      </dgm:prSet>
      <dgm:spPr/>
    </dgm:pt>
    <dgm:pt modelId="{F4E336E0-79C5-4355-B7CB-B2BE8786DB97}" type="pres">
      <dgm:prSet presAssocID="{597F6265-F8BF-412F-A596-AAF86080B075}" presName="linNode" presStyleCnt="0"/>
      <dgm:spPr/>
    </dgm:pt>
    <dgm:pt modelId="{22794156-36E1-47FE-90D1-28B75F3183C4}" type="pres">
      <dgm:prSet presAssocID="{597F6265-F8BF-412F-A596-AAF86080B075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67F98552-40F6-4E88-A4F8-26DE4E3EE26E}" type="pres">
      <dgm:prSet presAssocID="{597F6265-F8BF-412F-A596-AAF86080B075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D92950B-0D72-400B-BC94-6FBCCB3D1E0E}" type="presOf" srcId="{F7A40785-041E-47E4-B8F3-08526F3A7AA1}" destId="{67F98552-40F6-4E88-A4F8-26DE4E3EE26E}" srcOrd="0" destOrd="2" presId="urn:microsoft.com/office/officeart/2005/8/layout/vList5"/>
    <dgm:cxn modelId="{164D9710-6957-43DF-84F0-01FFE2F668FA}" srcId="{4E34A24F-E914-4E2A-BE92-47F5A0EC8D79}" destId="{597F6265-F8BF-412F-A596-AAF86080B075}" srcOrd="0" destOrd="0" parTransId="{559C5307-5866-4D70-80D2-739F45498873}" sibTransId="{63D37C0E-EF16-42A7-B6E1-CA8F0D1ADDF2}"/>
    <dgm:cxn modelId="{C0AF7C14-017A-4EA4-BB36-58A5917E3A75}" type="presOf" srcId="{5574BEBC-61DF-47CF-AA03-0297837C6B46}" destId="{67F98552-40F6-4E88-A4F8-26DE4E3EE26E}" srcOrd="0" destOrd="3" presId="urn:microsoft.com/office/officeart/2005/8/layout/vList5"/>
    <dgm:cxn modelId="{F8BAD66F-C94E-4F25-AD21-E190E5AC7BF7}" srcId="{597F6265-F8BF-412F-A596-AAF86080B075}" destId="{B63C68AA-4CE9-4B12-931C-3351C2D65953}" srcOrd="0" destOrd="0" parTransId="{1E5A9646-686A-4BFE-9CEB-1ECEE33A205C}" sibTransId="{531C4B47-6A32-498A-B40D-34A771405C46}"/>
    <dgm:cxn modelId="{2962B772-48B9-4294-97A2-E8D841BDB223}" type="presOf" srcId="{B63C68AA-4CE9-4B12-931C-3351C2D65953}" destId="{67F98552-40F6-4E88-A4F8-26DE4E3EE26E}" srcOrd="0" destOrd="0" presId="urn:microsoft.com/office/officeart/2005/8/layout/vList5"/>
    <dgm:cxn modelId="{80D83E57-7DAF-495A-B52D-52D747A9518E}" srcId="{597F6265-F8BF-412F-A596-AAF86080B075}" destId="{1CC26E95-F808-499D-AACD-97D623DEDD4B}" srcOrd="1" destOrd="0" parTransId="{72C5F288-E851-4A10-8946-330FC71668AB}" sibTransId="{C7B70BEF-1152-4FEF-8883-F4AD149B9967}"/>
    <dgm:cxn modelId="{A5888B88-6411-4291-AE49-BCF133F13A78}" srcId="{597F6265-F8BF-412F-A596-AAF86080B075}" destId="{5574BEBC-61DF-47CF-AA03-0297837C6B46}" srcOrd="3" destOrd="0" parTransId="{C0E51840-692E-417E-A4F7-705C03B1073A}" sibTransId="{F7EF2345-B1F2-4F14-B87E-8C80866CA741}"/>
    <dgm:cxn modelId="{0B1F53B2-7DA7-47FF-ADE7-8574F1376706}" type="presOf" srcId="{4E34A24F-E914-4E2A-BE92-47F5A0EC8D79}" destId="{35502A6B-6F2B-4877-9D8E-715103D04BED}" srcOrd="0" destOrd="0" presId="urn:microsoft.com/office/officeart/2005/8/layout/vList5"/>
    <dgm:cxn modelId="{D455F2D6-6878-43D2-8495-2E6ED3A49E4F}" srcId="{597F6265-F8BF-412F-A596-AAF86080B075}" destId="{F7A40785-041E-47E4-B8F3-08526F3A7AA1}" srcOrd="2" destOrd="0" parTransId="{B674FDDD-74B0-426E-BB5C-AE2ADA8B1A5F}" sibTransId="{AF75DBFB-1130-4007-AD4D-8615F16D3FF1}"/>
    <dgm:cxn modelId="{2B8B79E3-B9D5-4B14-8A11-AC6237D113F1}" type="presOf" srcId="{1CC26E95-F808-499D-AACD-97D623DEDD4B}" destId="{67F98552-40F6-4E88-A4F8-26DE4E3EE26E}" srcOrd="0" destOrd="1" presId="urn:microsoft.com/office/officeart/2005/8/layout/vList5"/>
    <dgm:cxn modelId="{06C308FE-98F2-4C1E-80BA-B72E4E1007A6}" type="presOf" srcId="{597F6265-F8BF-412F-A596-AAF86080B075}" destId="{22794156-36E1-47FE-90D1-28B75F3183C4}" srcOrd="0" destOrd="0" presId="urn:microsoft.com/office/officeart/2005/8/layout/vList5"/>
    <dgm:cxn modelId="{693FCC70-4C69-458C-8FE7-25CB64297A80}" type="presParOf" srcId="{35502A6B-6F2B-4877-9D8E-715103D04BED}" destId="{F4E336E0-79C5-4355-B7CB-B2BE8786DB97}" srcOrd="0" destOrd="0" presId="urn:microsoft.com/office/officeart/2005/8/layout/vList5"/>
    <dgm:cxn modelId="{A0E470C8-59A9-43EA-BBFF-8A82C6301C16}" type="presParOf" srcId="{F4E336E0-79C5-4355-B7CB-B2BE8786DB97}" destId="{22794156-36E1-47FE-90D1-28B75F3183C4}" srcOrd="0" destOrd="0" presId="urn:microsoft.com/office/officeart/2005/8/layout/vList5"/>
    <dgm:cxn modelId="{F9F6296C-F81B-499F-AD44-586CAF67C44C}" type="presParOf" srcId="{F4E336E0-79C5-4355-B7CB-B2BE8786DB97}" destId="{67F98552-40F6-4E88-A4F8-26DE4E3EE26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FE367C-B9C8-4ECD-AFF2-939CD3C7ACCF}" type="doc">
      <dgm:prSet loTypeId="urn:microsoft.com/office/officeart/2005/8/layout/l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CD5E975-E539-4264-BF55-1D17BB3DF1CE}">
      <dgm:prSet custT="1"/>
      <dgm:spPr/>
      <dgm:t>
        <a:bodyPr/>
        <a:lstStyle/>
        <a:p>
          <a:r>
            <a:rPr lang="es-ES" sz="2000" b="1" dirty="0"/>
            <a:t>Generar subclases:</a:t>
          </a:r>
          <a:endParaRPr lang="es-AR" sz="2000" b="1" dirty="0"/>
        </a:p>
      </dgm:t>
    </dgm:pt>
    <dgm:pt modelId="{4B2D70E8-C7AE-4A23-9E16-30D48142B31E}" type="parTrans" cxnId="{9078C325-5488-4B26-8A52-1FBDDD38BBF0}">
      <dgm:prSet/>
      <dgm:spPr/>
      <dgm:t>
        <a:bodyPr/>
        <a:lstStyle/>
        <a:p>
          <a:endParaRPr lang="es-AR"/>
        </a:p>
      </dgm:t>
    </dgm:pt>
    <dgm:pt modelId="{EE773383-3DCE-4EF0-96C1-26A31506D90A}" type="sibTrans" cxnId="{9078C325-5488-4B26-8A52-1FBDDD38BBF0}">
      <dgm:prSet/>
      <dgm:spPr/>
      <dgm:t>
        <a:bodyPr/>
        <a:lstStyle/>
        <a:p>
          <a:endParaRPr lang="es-AR"/>
        </a:p>
      </dgm:t>
    </dgm:pt>
    <dgm:pt modelId="{13930E1C-E0A7-4CA2-AEA0-31B32A004343}">
      <dgm:prSet custT="1"/>
      <dgm:spPr/>
      <dgm:t>
        <a:bodyPr/>
        <a:lstStyle/>
        <a:p>
          <a:r>
            <a:rPr lang="es-ES" sz="2000" b="1" dirty="0"/>
            <a:t>Generar interfaces:</a:t>
          </a:r>
          <a:endParaRPr lang="es-AR" sz="2000" b="1" dirty="0"/>
        </a:p>
      </dgm:t>
    </dgm:pt>
    <dgm:pt modelId="{90A88D3E-8909-44E2-9E0F-09C47D44987B}" type="parTrans" cxnId="{1D827000-554B-4B9A-9370-EAE31E8047E0}">
      <dgm:prSet/>
      <dgm:spPr/>
      <dgm:t>
        <a:bodyPr/>
        <a:lstStyle/>
        <a:p>
          <a:endParaRPr lang="es-AR"/>
        </a:p>
      </dgm:t>
    </dgm:pt>
    <dgm:pt modelId="{5F18BCF0-BBB4-4A63-AEDF-59495FAE48E7}" type="sibTrans" cxnId="{1D827000-554B-4B9A-9370-EAE31E8047E0}">
      <dgm:prSet/>
      <dgm:spPr/>
      <dgm:t>
        <a:bodyPr/>
        <a:lstStyle/>
        <a:p>
          <a:endParaRPr lang="es-AR"/>
        </a:p>
      </dgm:t>
    </dgm:pt>
    <dgm:pt modelId="{E897F26D-673F-4532-8B3C-78774D1D875A}">
      <dgm:prSet custT="1"/>
      <dgm:spPr/>
      <dgm:t>
        <a:bodyPr/>
        <a:lstStyle/>
        <a:p>
          <a:r>
            <a:rPr lang="es-ES" sz="1600" dirty="0"/>
            <a:t>Si parte del comportamiento de la </a:t>
          </a:r>
          <a:r>
            <a:rPr lang="es-ES" sz="1600" i="1" dirty="0" err="1"/>
            <a:t>God</a:t>
          </a:r>
          <a:r>
            <a:rPr lang="es-ES" sz="1600" i="1" dirty="0"/>
            <a:t> </a:t>
          </a:r>
          <a:r>
            <a:rPr lang="es-ES" sz="1600" i="1" dirty="0" err="1"/>
            <a:t>Class</a:t>
          </a:r>
          <a:r>
            <a:rPr lang="es-ES" sz="1600" i="1" dirty="0"/>
            <a:t> </a:t>
          </a:r>
          <a:r>
            <a:rPr lang="es-ES" sz="1600" dirty="0"/>
            <a:t>se puede implementar de diferentes maneras, entonces una solución es convertir a nuestra vieja </a:t>
          </a:r>
          <a:r>
            <a:rPr lang="es-ES" sz="1600" i="1" dirty="0" err="1"/>
            <a:t>God</a:t>
          </a:r>
          <a:r>
            <a:rPr lang="es-ES" sz="1600" i="1" dirty="0"/>
            <a:t> </a:t>
          </a:r>
          <a:r>
            <a:rPr lang="es-ES" sz="1600" i="1" dirty="0" err="1"/>
            <a:t>Class</a:t>
          </a:r>
          <a:r>
            <a:rPr lang="es-ES" sz="1600" i="1" dirty="0"/>
            <a:t> </a:t>
          </a:r>
          <a:r>
            <a:rPr lang="es-ES" sz="1600" dirty="0"/>
            <a:t>en una clase Abstracta y luego generar subclases que definan el comportamiento específico necesario. </a:t>
          </a:r>
          <a:endParaRPr lang="es-AR" sz="1600" dirty="0"/>
        </a:p>
      </dgm:t>
    </dgm:pt>
    <dgm:pt modelId="{D41017D6-92E1-49D3-A199-B579EAB8127D}" type="parTrans" cxnId="{9BF048B3-6B27-4CFD-92A3-3C6231543529}">
      <dgm:prSet/>
      <dgm:spPr/>
      <dgm:t>
        <a:bodyPr/>
        <a:lstStyle/>
        <a:p>
          <a:endParaRPr lang="es-AR"/>
        </a:p>
      </dgm:t>
    </dgm:pt>
    <dgm:pt modelId="{1FEB8C21-A09F-4170-8811-CE9629FCE33E}" type="sibTrans" cxnId="{9BF048B3-6B27-4CFD-92A3-3C6231543529}">
      <dgm:prSet/>
      <dgm:spPr/>
      <dgm:t>
        <a:bodyPr/>
        <a:lstStyle/>
        <a:p>
          <a:endParaRPr lang="es-AR"/>
        </a:p>
      </dgm:t>
    </dgm:pt>
    <dgm:pt modelId="{9EB64471-29F5-449E-B121-84E217987E9F}">
      <dgm:prSet custT="1"/>
      <dgm:spPr/>
      <dgm:t>
        <a:bodyPr/>
        <a:lstStyle/>
        <a:p>
          <a:r>
            <a:rPr lang="es-ES" sz="1600" dirty="0"/>
            <a:t>Si lo que queremos es brindar una lista de operaciones con diferentes comportamientos que el cliente puede utilizar, podemos generar una/varias interface(s) y luego crear clases concretas que cumplan con dicha interfaz e implementen las diferentes funcionalidades.</a:t>
          </a:r>
          <a:endParaRPr lang="es-AR" sz="1600" dirty="0"/>
        </a:p>
      </dgm:t>
    </dgm:pt>
    <dgm:pt modelId="{2933EC89-5A58-4A73-95BE-FC26193F4856}" type="parTrans" cxnId="{3D5BB9F3-5A90-443A-A92E-2C8EC98940CC}">
      <dgm:prSet/>
      <dgm:spPr/>
      <dgm:t>
        <a:bodyPr/>
        <a:lstStyle/>
        <a:p>
          <a:endParaRPr lang="es-AR"/>
        </a:p>
      </dgm:t>
    </dgm:pt>
    <dgm:pt modelId="{5D53041F-F778-4A08-89CD-7B00F92699FF}" type="sibTrans" cxnId="{3D5BB9F3-5A90-443A-A92E-2C8EC98940CC}">
      <dgm:prSet/>
      <dgm:spPr/>
      <dgm:t>
        <a:bodyPr/>
        <a:lstStyle/>
        <a:p>
          <a:endParaRPr lang="es-AR"/>
        </a:p>
      </dgm:t>
    </dgm:pt>
    <dgm:pt modelId="{4B204C98-021A-4C86-B150-CCA4EC39EE32}" type="pres">
      <dgm:prSet presAssocID="{92FE367C-B9C8-4ECD-AFF2-939CD3C7ACC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569506C-480E-46E7-ABD9-1A6BA4C389C9}" type="pres">
      <dgm:prSet presAssocID="{FCD5E975-E539-4264-BF55-1D17BB3DF1CE}" presName="horFlow" presStyleCnt="0"/>
      <dgm:spPr/>
    </dgm:pt>
    <dgm:pt modelId="{0224C47C-C3BE-4B32-AE9A-88B4BB71BFC0}" type="pres">
      <dgm:prSet presAssocID="{FCD5E975-E539-4264-BF55-1D17BB3DF1CE}" presName="bigChev" presStyleLbl="node1" presStyleIdx="0" presStyleCnt="2" custScaleX="77897"/>
      <dgm:spPr/>
    </dgm:pt>
    <dgm:pt modelId="{4F715F41-8712-40D3-ABBB-CD9B1E977E25}" type="pres">
      <dgm:prSet presAssocID="{D41017D6-92E1-49D3-A199-B579EAB8127D}" presName="parTrans" presStyleCnt="0"/>
      <dgm:spPr/>
    </dgm:pt>
    <dgm:pt modelId="{153121DF-9CC7-4D1A-85DA-038C1435D0A8}" type="pres">
      <dgm:prSet presAssocID="{E897F26D-673F-4532-8B3C-78774D1D875A}" presName="node" presStyleLbl="alignAccFollowNode1" presStyleIdx="0" presStyleCnt="2" custScaleX="173529">
        <dgm:presLayoutVars>
          <dgm:bulletEnabled val="1"/>
        </dgm:presLayoutVars>
      </dgm:prSet>
      <dgm:spPr/>
    </dgm:pt>
    <dgm:pt modelId="{D417B6DA-B202-49D4-A903-1ABA0A867BBA}" type="pres">
      <dgm:prSet presAssocID="{FCD5E975-E539-4264-BF55-1D17BB3DF1CE}" presName="vSp" presStyleCnt="0"/>
      <dgm:spPr/>
    </dgm:pt>
    <dgm:pt modelId="{8ADA19A3-A58D-4136-A322-11B1297E952E}" type="pres">
      <dgm:prSet presAssocID="{13930E1C-E0A7-4CA2-AEA0-31B32A004343}" presName="horFlow" presStyleCnt="0"/>
      <dgm:spPr/>
    </dgm:pt>
    <dgm:pt modelId="{465EF28F-FF01-4F0D-B28C-C6D151091557}" type="pres">
      <dgm:prSet presAssocID="{13930E1C-E0A7-4CA2-AEA0-31B32A004343}" presName="bigChev" presStyleLbl="node1" presStyleIdx="1" presStyleCnt="2" custScaleX="77897"/>
      <dgm:spPr/>
    </dgm:pt>
    <dgm:pt modelId="{AE918484-977E-4F53-A2C3-C6AB6206342B}" type="pres">
      <dgm:prSet presAssocID="{2933EC89-5A58-4A73-95BE-FC26193F4856}" presName="parTrans" presStyleCnt="0"/>
      <dgm:spPr/>
    </dgm:pt>
    <dgm:pt modelId="{F5761B48-FCB5-4DFA-84A6-2A7ABB42C04A}" type="pres">
      <dgm:prSet presAssocID="{9EB64471-29F5-449E-B121-84E217987E9F}" presName="node" presStyleLbl="alignAccFollowNode1" presStyleIdx="1" presStyleCnt="2" custScaleX="173529">
        <dgm:presLayoutVars>
          <dgm:bulletEnabled val="1"/>
        </dgm:presLayoutVars>
      </dgm:prSet>
      <dgm:spPr/>
    </dgm:pt>
  </dgm:ptLst>
  <dgm:cxnLst>
    <dgm:cxn modelId="{1D827000-554B-4B9A-9370-EAE31E8047E0}" srcId="{92FE367C-B9C8-4ECD-AFF2-939CD3C7ACCF}" destId="{13930E1C-E0A7-4CA2-AEA0-31B32A004343}" srcOrd="1" destOrd="0" parTransId="{90A88D3E-8909-44E2-9E0F-09C47D44987B}" sibTransId="{5F18BCF0-BBB4-4A63-AEDF-59495FAE48E7}"/>
    <dgm:cxn modelId="{9078C325-5488-4B26-8A52-1FBDDD38BBF0}" srcId="{92FE367C-B9C8-4ECD-AFF2-939CD3C7ACCF}" destId="{FCD5E975-E539-4264-BF55-1D17BB3DF1CE}" srcOrd="0" destOrd="0" parTransId="{4B2D70E8-C7AE-4A23-9E16-30D48142B31E}" sibTransId="{EE773383-3DCE-4EF0-96C1-26A31506D90A}"/>
    <dgm:cxn modelId="{6FD0DB3E-426E-4F0A-8BB0-B189FC5820AC}" type="presOf" srcId="{FCD5E975-E539-4264-BF55-1D17BB3DF1CE}" destId="{0224C47C-C3BE-4B32-AE9A-88B4BB71BFC0}" srcOrd="0" destOrd="0" presId="urn:microsoft.com/office/officeart/2005/8/layout/lProcess3"/>
    <dgm:cxn modelId="{17F0823F-4733-4759-8654-12D9141B6DF8}" type="presOf" srcId="{9EB64471-29F5-449E-B121-84E217987E9F}" destId="{F5761B48-FCB5-4DFA-84A6-2A7ABB42C04A}" srcOrd="0" destOrd="0" presId="urn:microsoft.com/office/officeart/2005/8/layout/lProcess3"/>
    <dgm:cxn modelId="{49EDAC79-FE10-4B78-8AC1-2836230EBF03}" type="presOf" srcId="{13930E1C-E0A7-4CA2-AEA0-31B32A004343}" destId="{465EF28F-FF01-4F0D-B28C-C6D151091557}" srcOrd="0" destOrd="0" presId="urn:microsoft.com/office/officeart/2005/8/layout/lProcess3"/>
    <dgm:cxn modelId="{CDCD39A8-1127-46A6-ADF3-28F4A99B5E2D}" type="presOf" srcId="{92FE367C-B9C8-4ECD-AFF2-939CD3C7ACCF}" destId="{4B204C98-021A-4C86-B150-CCA4EC39EE32}" srcOrd="0" destOrd="0" presId="urn:microsoft.com/office/officeart/2005/8/layout/lProcess3"/>
    <dgm:cxn modelId="{9BF048B3-6B27-4CFD-92A3-3C6231543529}" srcId="{FCD5E975-E539-4264-BF55-1D17BB3DF1CE}" destId="{E897F26D-673F-4532-8B3C-78774D1D875A}" srcOrd="0" destOrd="0" parTransId="{D41017D6-92E1-49D3-A199-B579EAB8127D}" sibTransId="{1FEB8C21-A09F-4170-8811-CE9629FCE33E}"/>
    <dgm:cxn modelId="{3D5BB9F3-5A90-443A-A92E-2C8EC98940CC}" srcId="{13930E1C-E0A7-4CA2-AEA0-31B32A004343}" destId="{9EB64471-29F5-449E-B121-84E217987E9F}" srcOrd="0" destOrd="0" parTransId="{2933EC89-5A58-4A73-95BE-FC26193F4856}" sibTransId="{5D53041F-F778-4A08-89CD-7B00F92699FF}"/>
    <dgm:cxn modelId="{E605A0F5-06E7-4EF5-8F21-1CAD9AF0EB4C}" type="presOf" srcId="{E897F26D-673F-4532-8B3C-78774D1D875A}" destId="{153121DF-9CC7-4D1A-85DA-038C1435D0A8}" srcOrd="0" destOrd="0" presId="urn:microsoft.com/office/officeart/2005/8/layout/lProcess3"/>
    <dgm:cxn modelId="{CDD51205-45CD-4581-A198-3C6B96F55B4F}" type="presParOf" srcId="{4B204C98-021A-4C86-B150-CCA4EC39EE32}" destId="{B569506C-480E-46E7-ABD9-1A6BA4C389C9}" srcOrd="0" destOrd="0" presId="urn:microsoft.com/office/officeart/2005/8/layout/lProcess3"/>
    <dgm:cxn modelId="{181AE987-CED4-4086-8B59-4BE90985129A}" type="presParOf" srcId="{B569506C-480E-46E7-ABD9-1A6BA4C389C9}" destId="{0224C47C-C3BE-4B32-AE9A-88B4BB71BFC0}" srcOrd="0" destOrd="0" presId="urn:microsoft.com/office/officeart/2005/8/layout/lProcess3"/>
    <dgm:cxn modelId="{AC4514C3-3486-48C1-B60B-D30B1CDA97C0}" type="presParOf" srcId="{B569506C-480E-46E7-ABD9-1A6BA4C389C9}" destId="{4F715F41-8712-40D3-ABBB-CD9B1E977E25}" srcOrd="1" destOrd="0" presId="urn:microsoft.com/office/officeart/2005/8/layout/lProcess3"/>
    <dgm:cxn modelId="{328F5190-EBCD-4B1C-AE36-FA40ECDF7EE0}" type="presParOf" srcId="{B569506C-480E-46E7-ABD9-1A6BA4C389C9}" destId="{153121DF-9CC7-4D1A-85DA-038C1435D0A8}" srcOrd="2" destOrd="0" presId="urn:microsoft.com/office/officeart/2005/8/layout/lProcess3"/>
    <dgm:cxn modelId="{AAE84E63-B430-4E57-8691-82F9F6108F7F}" type="presParOf" srcId="{4B204C98-021A-4C86-B150-CCA4EC39EE32}" destId="{D417B6DA-B202-49D4-A903-1ABA0A867BBA}" srcOrd="1" destOrd="0" presId="urn:microsoft.com/office/officeart/2005/8/layout/lProcess3"/>
    <dgm:cxn modelId="{9F665B68-7409-4A3A-A80F-53219F0366E5}" type="presParOf" srcId="{4B204C98-021A-4C86-B150-CCA4EC39EE32}" destId="{8ADA19A3-A58D-4136-A322-11B1297E952E}" srcOrd="2" destOrd="0" presId="urn:microsoft.com/office/officeart/2005/8/layout/lProcess3"/>
    <dgm:cxn modelId="{1FC3F107-03B1-45CB-99C7-3CB5B1EF5720}" type="presParOf" srcId="{8ADA19A3-A58D-4136-A322-11B1297E952E}" destId="{465EF28F-FF01-4F0D-B28C-C6D151091557}" srcOrd="0" destOrd="0" presId="urn:microsoft.com/office/officeart/2005/8/layout/lProcess3"/>
    <dgm:cxn modelId="{86CB6503-0F5A-41CE-B27D-D5A4FFD7270B}" type="presParOf" srcId="{8ADA19A3-A58D-4136-A322-11B1297E952E}" destId="{AE918484-977E-4F53-A2C3-C6AB6206342B}" srcOrd="1" destOrd="0" presId="urn:microsoft.com/office/officeart/2005/8/layout/lProcess3"/>
    <dgm:cxn modelId="{CD0CD98F-7156-45EC-B77D-7F14BB6E1532}" type="presParOf" srcId="{8ADA19A3-A58D-4136-A322-11B1297E952E}" destId="{F5761B48-FCB5-4DFA-84A6-2A7ABB42C04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DDCBA0-6A55-4715-A796-B4AF40E3450B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E0400B4F-B9CF-4DCF-A93C-886BD11A6371}">
      <dgm:prSet custT="1"/>
      <dgm:spPr/>
      <dgm:t>
        <a:bodyPr/>
        <a:lstStyle/>
        <a:p>
          <a:r>
            <a:rPr lang="es-ES" sz="2000" b="1"/>
            <a:t>La herencia es rígida: </a:t>
          </a:r>
          <a:endParaRPr lang="es-AR" sz="2000"/>
        </a:p>
      </dgm:t>
    </dgm:pt>
    <dgm:pt modelId="{DB56EA25-E3C0-428E-B431-DDC3547178C0}" type="parTrans" cxnId="{B00EF71E-F637-42D8-8497-68BB8EE91FFB}">
      <dgm:prSet/>
      <dgm:spPr/>
      <dgm:t>
        <a:bodyPr/>
        <a:lstStyle/>
        <a:p>
          <a:endParaRPr lang="es-AR" sz="1600"/>
        </a:p>
      </dgm:t>
    </dgm:pt>
    <dgm:pt modelId="{1C87C81A-E52D-419B-99AA-ED0A742CB766}" type="sibTrans" cxnId="{B00EF71E-F637-42D8-8497-68BB8EE91FFB}">
      <dgm:prSet/>
      <dgm:spPr/>
      <dgm:t>
        <a:bodyPr/>
        <a:lstStyle/>
        <a:p>
          <a:endParaRPr lang="es-AR" sz="1600"/>
        </a:p>
      </dgm:t>
    </dgm:pt>
    <dgm:pt modelId="{F5A3644B-CBBC-40AA-A8D2-6F335737CD02}">
      <dgm:prSet custT="1"/>
      <dgm:spPr/>
      <dgm:t>
        <a:bodyPr/>
        <a:lstStyle/>
        <a:p>
          <a:pPr algn="just"/>
          <a:r>
            <a:rPr lang="es-ES" sz="1800" b="0" dirty="0"/>
            <a:t>Obliga a definir más métodos que los necesarios (en ciertos casos).</a:t>
          </a:r>
          <a:endParaRPr lang="es-AR" sz="1800" b="0" dirty="0"/>
        </a:p>
      </dgm:t>
    </dgm:pt>
    <dgm:pt modelId="{13F4194C-BD5E-4EF3-9EF1-A250710A8147}" type="parTrans" cxnId="{AF77953E-844B-497E-A87B-08A48A460B51}">
      <dgm:prSet/>
      <dgm:spPr/>
      <dgm:t>
        <a:bodyPr/>
        <a:lstStyle/>
        <a:p>
          <a:endParaRPr lang="es-AR" sz="1600"/>
        </a:p>
      </dgm:t>
    </dgm:pt>
    <dgm:pt modelId="{80B16C47-ACDA-4376-AE99-B6D6364D599D}" type="sibTrans" cxnId="{AF77953E-844B-497E-A87B-08A48A460B51}">
      <dgm:prSet/>
      <dgm:spPr/>
      <dgm:t>
        <a:bodyPr/>
        <a:lstStyle/>
        <a:p>
          <a:endParaRPr lang="es-AR" sz="1600"/>
        </a:p>
      </dgm:t>
    </dgm:pt>
    <dgm:pt modelId="{447414C1-3838-446B-B9C9-E2170F779A26}">
      <dgm:prSet custT="1"/>
      <dgm:spPr/>
      <dgm:t>
        <a:bodyPr/>
        <a:lstStyle/>
        <a:p>
          <a:pPr algn="just"/>
          <a:r>
            <a:rPr lang="es-ES" sz="1800" b="0" dirty="0"/>
            <a:t>En la mayoría de los lenguajes la herencia es simple, lo que se transforma en una limitante. </a:t>
          </a:r>
          <a:endParaRPr lang="es-AR" sz="1800" b="0" dirty="0"/>
        </a:p>
      </dgm:t>
    </dgm:pt>
    <dgm:pt modelId="{33DD863C-0304-4236-A98E-E964D54441F0}" type="parTrans" cxnId="{DF4AC65A-33F9-4F09-B4C6-81FC4198A3A5}">
      <dgm:prSet/>
      <dgm:spPr/>
      <dgm:t>
        <a:bodyPr/>
        <a:lstStyle/>
        <a:p>
          <a:endParaRPr lang="es-AR" sz="1600"/>
        </a:p>
      </dgm:t>
    </dgm:pt>
    <dgm:pt modelId="{ED97D820-E7A2-4654-B911-EF8366E44FAF}" type="sibTrans" cxnId="{DF4AC65A-33F9-4F09-B4C6-81FC4198A3A5}">
      <dgm:prSet/>
      <dgm:spPr/>
      <dgm:t>
        <a:bodyPr/>
        <a:lstStyle/>
        <a:p>
          <a:endParaRPr lang="es-AR" sz="1600"/>
        </a:p>
      </dgm:t>
    </dgm:pt>
    <dgm:pt modelId="{C08E4133-B85B-4CC8-A906-5E4D8B8AE17F}">
      <dgm:prSet custT="1"/>
      <dgm:spPr/>
      <dgm:t>
        <a:bodyPr/>
        <a:lstStyle/>
        <a:p>
          <a:r>
            <a:rPr lang="es-ES" sz="2000" b="1" u="sng" dirty="0"/>
            <a:t>Solución</a:t>
          </a:r>
          <a:r>
            <a:rPr lang="es-ES" sz="2000" b="1" dirty="0"/>
            <a:t>: si no son lo mismo, ¿para qué forzarlo? Utilizar composición por sobre herencia</a:t>
          </a:r>
          <a:endParaRPr lang="es-AR" sz="2000" dirty="0"/>
        </a:p>
      </dgm:t>
    </dgm:pt>
    <dgm:pt modelId="{9652F6AA-70B4-4CB8-B2B6-5A36A3F62097}" type="parTrans" cxnId="{8D35A895-F41F-4C86-B8C4-6B848E2561BD}">
      <dgm:prSet/>
      <dgm:spPr/>
      <dgm:t>
        <a:bodyPr/>
        <a:lstStyle/>
        <a:p>
          <a:endParaRPr lang="es-AR" sz="1600"/>
        </a:p>
      </dgm:t>
    </dgm:pt>
    <dgm:pt modelId="{AA4B3CEC-E3FC-490F-9C77-10C6C6092E35}" type="sibTrans" cxnId="{8D35A895-F41F-4C86-B8C4-6B848E2561BD}">
      <dgm:prSet/>
      <dgm:spPr/>
      <dgm:t>
        <a:bodyPr/>
        <a:lstStyle/>
        <a:p>
          <a:endParaRPr lang="es-AR" sz="1600"/>
        </a:p>
      </dgm:t>
    </dgm:pt>
    <dgm:pt modelId="{0A13E7AF-AC5B-4062-823A-CAEA879B4AB8}" type="pres">
      <dgm:prSet presAssocID="{BEDDCBA0-6A55-4715-A796-B4AF40E3450B}" presName="linear" presStyleCnt="0">
        <dgm:presLayoutVars>
          <dgm:animLvl val="lvl"/>
          <dgm:resizeHandles val="exact"/>
        </dgm:presLayoutVars>
      </dgm:prSet>
      <dgm:spPr/>
    </dgm:pt>
    <dgm:pt modelId="{34EA2573-D5AE-489A-A114-25144406BC19}" type="pres">
      <dgm:prSet presAssocID="{E0400B4F-B9CF-4DCF-A93C-886BD11A63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9F5C6A-BFD3-43E4-A0B3-8FE2048C1DC4}" type="pres">
      <dgm:prSet presAssocID="{E0400B4F-B9CF-4DCF-A93C-886BD11A6371}" presName="childText" presStyleLbl="revTx" presStyleIdx="0" presStyleCnt="1">
        <dgm:presLayoutVars>
          <dgm:bulletEnabled val="1"/>
        </dgm:presLayoutVars>
      </dgm:prSet>
      <dgm:spPr/>
    </dgm:pt>
    <dgm:pt modelId="{80D02A5B-7B71-4D6A-8C45-820C2148DDEF}" type="pres">
      <dgm:prSet presAssocID="{C08E4133-B85B-4CC8-A906-5E4D8B8AE17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00EF71E-F637-42D8-8497-68BB8EE91FFB}" srcId="{BEDDCBA0-6A55-4715-A796-B4AF40E3450B}" destId="{E0400B4F-B9CF-4DCF-A93C-886BD11A6371}" srcOrd="0" destOrd="0" parTransId="{DB56EA25-E3C0-428E-B431-DDC3547178C0}" sibTransId="{1C87C81A-E52D-419B-99AA-ED0A742CB766}"/>
    <dgm:cxn modelId="{AF77953E-844B-497E-A87B-08A48A460B51}" srcId="{E0400B4F-B9CF-4DCF-A93C-886BD11A6371}" destId="{F5A3644B-CBBC-40AA-A8D2-6F335737CD02}" srcOrd="0" destOrd="0" parTransId="{13F4194C-BD5E-4EF3-9EF1-A250710A8147}" sibTransId="{80B16C47-ACDA-4376-AE99-B6D6364D599D}"/>
    <dgm:cxn modelId="{9269E574-2D5D-423C-BE39-663DBE1D59BC}" type="presOf" srcId="{447414C1-3838-446B-B9C9-E2170F779A26}" destId="{489F5C6A-BFD3-43E4-A0B3-8FE2048C1DC4}" srcOrd="0" destOrd="1" presId="urn:microsoft.com/office/officeart/2005/8/layout/vList2"/>
    <dgm:cxn modelId="{DF4AC65A-33F9-4F09-B4C6-81FC4198A3A5}" srcId="{E0400B4F-B9CF-4DCF-A93C-886BD11A6371}" destId="{447414C1-3838-446B-B9C9-E2170F779A26}" srcOrd="1" destOrd="0" parTransId="{33DD863C-0304-4236-A98E-E964D54441F0}" sibTransId="{ED97D820-E7A2-4654-B911-EF8366E44FAF}"/>
    <dgm:cxn modelId="{720C6480-9EB9-4E00-B528-07E1A3685BFC}" type="presOf" srcId="{BEDDCBA0-6A55-4715-A796-B4AF40E3450B}" destId="{0A13E7AF-AC5B-4062-823A-CAEA879B4AB8}" srcOrd="0" destOrd="0" presId="urn:microsoft.com/office/officeart/2005/8/layout/vList2"/>
    <dgm:cxn modelId="{D95BE58E-DFB6-49BD-B47A-D1836A51B45B}" type="presOf" srcId="{C08E4133-B85B-4CC8-A906-5E4D8B8AE17F}" destId="{80D02A5B-7B71-4D6A-8C45-820C2148DDEF}" srcOrd="0" destOrd="0" presId="urn:microsoft.com/office/officeart/2005/8/layout/vList2"/>
    <dgm:cxn modelId="{8D35A895-F41F-4C86-B8C4-6B848E2561BD}" srcId="{BEDDCBA0-6A55-4715-A796-B4AF40E3450B}" destId="{C08E4133-B85B-4CC8-A906-5E4D8B8AE17F}" srcOrd="1" destOrd="0" parTransId="{9652F6AA-70B4-4CB8-B2B6-5A36A3F62097}" sibTransId="{AA4B3CEC-E3FC-490F-9C77-10C6C6092E35}"/>
    <dgm:cxn modelId="{C3E9CEB7-D797-40CA-BD14-4A62CA19D6B8}" type="presOf" srcId="{F5A3644B-CBBC-40AA-A8D2-6F335737CD02}" destId="{489F5C6A-BFD3-43E4-A0B3-8FE2048C1DC4}" srcOrd="0" destOrd="0" presId="urn:microsoft.com/office/officeart/2005/8/layout/vList2"/>
    <dgm:cxn modelId="{B6979ACC-D76D-4D35-A903-113FB0B392DB}" type="presOf" srcId="{E0400B4F-B9CF-4DCF-A93C-886BD11A6371}" destId="{34EA2573-D5AE-489A-A114-25144406BC19}" srcOrd="0" destOrd="0" presId="urn:microsoft.com/office/officeart/2005/8/layout/vList2"/>
    <dgm:cxn modelId="{A426815E-FD70-40B7-B3C2-B44DC15FD4E6}" type="presParOf" srcId="{0A13E7AF-AC5B-4062-823A-CAEA879B4AB8}" destId="{34EA2573-D5AE-489A-A114-25144406BC19}" srcOrd="0" destOrd="0" presId="urn:microsoft.com/office/officeart/2005/8/layout/vList2"/>
    <dgm:cxn modelId="{2400A531-76A2-44E4-BCD1-83C10D753AEC}" type="presParOf" srcId="{0A13E7AF-AC5B-4062-823A-CAEA879B4AB8}" destId="{489F5C6A-BFD3-43E4-A0B3-8FE2048C1DC4}" srcOrd="1" destOrd="0" presId="urn:microsoft.com/office/officeart/2005/8/layout/vList2"/>
    <dgm:cxn modelId="{E62B4CAD-BDFD-4CA0-B648-863EEFC6753D}" type="presParOf" srcId="{0A13E7AF-AC5B-4062-823A-CAEA879B4AB8}" destId="{80D02A5B-7B71-4D6A-8C45-820C2148DD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28DB2-B8B1-4B29-A8E4-D9497E8063E0}">
      <dsp:nvSpPr>
        <dsp:cNvPr id="0" name=""/>
        <dsp:cNvSpPr/>
      </dsp:nvSpPr>
      <dsp:spPr>
        <a:xfrm>
          <a:off x="0" y="60996"/>
          <a:ext cx="7790104" cy="1338662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• Los </a:t>
          </a:r>
          <a:r>
            <a:rPr lang="es-ES" sz="1900" i="1" kern="1200" dirty="0" err="1"/>
            <a:t>Code</a:t>
          </a:r>
          <a:r>
            <a:rPr lang="es-ES" sz="1900" i="1" kern="1200" dirty="0"/>
            <a:t> </a:t>
          </a:r>
          <a:r>
            <a:rPr lang="es-ES" sz="1900" i="1" kern="1200" dirty="0" err="1"/>
            <a:t>Smells</a:t>
          </a:r>
          <a:r>
            <a:rPr lang="es-ES" sz="1900" kern="1200" dirty="0"/>
            <a:t>, como su traducción nos dice, son “olores de código”.</a:t>
          </a:r>
          <a:endParaRPr lang="es-AR" sz="1900" kern="1200" dirty="0"/>
        </a:p>
      </dsp:txBody>
      <dsp:txXfrm>
        <a:off x="65348" y="126344"/>
        <a:ext cx="7659408" cy="1207966"/>
      </dsp:txXfrm>
    </dsp:sp>
    <dsp:sp modelId="{786F1B2E-1659-425D-A543-F56772E8606C}">
      <dsp:nvSpPr>
        <dsp:cNvPr id="0" name=""/>
        <dsp:cNvSpPr/>
      </dsp:nvSpPr>
      <dsp:spPr>
        <a:xfrm>
          <a:off x="0" y="1454379"/>
          <a:ext cx="7790104" cy="1338662"/>
        </a:xfrm>
        <a:prstGeom prst="roundRect">
          <a:avLst/>
        </a:prstGeom>
        <a:solidFill>
          <a:schemeClr val="accent2">
            <a:shade val="80000"/>
            <a:hueOff val="-48646"/>
            <a:satOff val="350"/>
            <a:lumOff val="110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• Los </a:t>
          </a:r>
          <a:r>
            <a:rPr lang="es-ES" sz="1900" i="1" kern="1200" dirty="0" err="1"/>
            <a:t>smells</a:t>
          </a:r>
          <a:r>
            <a:rPr lang="es-ES" sz="1900" kern="1200" dirty="0"/>
            <a:t> no necesariamente significan que esté mal lo que diseñé/implementé, sino que son señales de algo que se puede mejorar (no hay que ser terminante, muchos </a:t>
          </a:r>
          <a:r>
            <a:rPr lang="es-ES" sz="1900" i="1" kern="1200" dirty="0" err="1"/>
            <a:t>code</a:t>
          </a:r>
          <a:r>
            <a:rPr lang="es-ES" sz="1900" i="1" kern="1200" dirty="0"/>
            <a:t> </a:t>
          </a:r>
          <a:r>
            <a:rPr lang="es-ES" sz="1900" i="1" kern="1200" dirty="0" err="1"/>
            <a:t>smells</a:t>
          </a:r>
          <a:r>
            <a:rPr lang="es-ES" sz="1900" i="1" kern="1200" dirty="0"/>
            <a:t> </a:t>
          </a:r>
          <a:r>
            <a:rPr lang="es-ES" sz="1900" kern="1200" dirty="0"/>
            <a:t>se entrecruzan al tratar de solucionarlos).</a:t>
          </a:r>
          <a:endParaRPr lang="es-AR" sz="1900" kern="1200" dirty="0"/>
        </a:p>
      </dsp:txBody>
      <dsp:txXfrm>
        <a:off x="65348" y="1519727"/>
        <a:ext cx="7659408" cy="1207966"/>
      </dsp:txXfrm>
    </dsp:sp>
    <dsp:sp modelId="{B33D2DDE-2857-435E-A6B5-281F9F124962}">
      <dsp:nvSpPr>
        <dsp:cNvPr id="0" name=""/>
        <dsp:cNvSpPr/>
      </dsp:nvSpPr>
      <dsp:spPr>
        <a:xfrm>
          <a:off x="0" y="2847762"/>
          <a:ext cx="7790104" cy="1338662"/>
        </a:xfrm>
        <a:prstGeom prst="roundRect">
          <a:avLst/>
        </a:prstGeom>
        <a:solidFill>
          <a:schemeClr val="accent2">
            <a:shade val="80000"/>
            <a:hueOff val="-97291"/>
            <a:satOff val="699"/>
            <a:lumOff val="220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Nosotros debemos ser capaces de sentir estos “malos olores” en nuestro código para que, de esta forma, se pueda mejorar nuestro diseño.</a:t>
          </a:r>
          <a:endParaRPr lang="es-AR" sz="1900" kern="1200"/>
        </a:p>
      </dsp:txBody>
      <dsp:txXfrm>
        <a:off x="65348" y="2913110"/>
        <a:ext cx="7659408" cy="1207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98552-40F6-4E88-A4F8-26DE4E3EE26E}">
      <dsp:nvSpPr>
        <dsp:cNvPr id="0" name=""/>
        <dsp:cNvSpPr/>
      </dsp:nvSpPr>
      <dsp:spPr>
        <a:xfrm rot="5400000">
          <a:off x="3812711" y="-703060"/>
          <a:ext cx="2799949" cy="490605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Identificar el objetivo que cumple.</a:t>
          </a:r>
          <a:endParaRPr lang="es-A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Implementar esa abstracción: ponerle un nombre representativo y encontrar qué objeto es responsable de ese objetivo. </a:t>
          </a:r>
          <a:endParaRPr lang="es-A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Los métodos generados pueden ser utilizados en otro contexto.</a:t>
          </a:r>
          <a:endParaRPr lang="es-A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Delegar el método original en varios </a:t>
          </a:r>
          <a:r>
            <a:rPr lang="es-ES" sz="1800" kern="1200" dirty="0" err="1"/>
            <a:t>submétodos</a:t>
          </a:r>
          <a:r>
            <a:rPr lang="es-ES" sz="1800" kern="1200" dirty="0"/>
            <a:t> nos permite entender mejor qué es lo que hace.</a:t>
          </a:r>
          <a:endParaRPr lang="es-AR" sz="1800" kern="1200" dirty="0"/>
        </a:p>
      </dsp:txBody>
      <dsp:txXfrm rot="-5400000">
        <a:off x="2759657" y="486676"/>
        <a:ext cx="4769375" cy="2526585"/>
      </dsp:txXfrm>
    </dsp:sp>
    <dsp:sp modelId="{22794156-36E1-47FE-90D1-28B75F3183C4}">
      <dsp:nvSpPr>
        <dsp:cNvPr id="0" name=""/>
        <dsp:cNvSpPr/>
      </dsp:nvSpPr>
      <dsp:spPr>
        <a:xfrm>
          <a:off x="0" y="0"/>
          <a:ext cx="2759657" cy="349993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Un método largo podemos descomponerlo en varias partes. De cada parte del método debemos: </a:t>
          </a:r>
          <a:endParaRPr lang="es-AR" sz="2400" b="1" kern="1200" dirty="0"/>
        </a:p>
      </dsp:txBody>
      <dsp:txXfrm>
        <a:off x="134715" y="134715"/>
        <a:ext cx="2490227" cy="3230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4C47C-C3BE-4B32-AE9A-88B4BB71BFC0}">
      <dsp:nvSpPr>
        <dsp:cNvPr id="0" name=""/>
        <dsp:cNvSpPr/>
      </dsp:nvSpPr>
      <dsp:spPr>
        <a:xfrm>
          <a:off x="346576" y="442"/>
          <a:ext cx="3108086" cy="159599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Generar subclases:</a:t>
          </a:r>
          <a:endParaRPr lang="es-AR" sz="2000" b="1" kern="1200" dirty="0"/>
        </a:p>
      </dsp:txBody>
      <dsp:txXfrm>
        <a:off x="1144575" y="442"/>
        <a:ext cx="1512088" cy="1595998"/>
      </dsp:txXfrm>
    </dsp:sp>
    <dsp:sp modelId="{153121DF-9CC7-4D1A-85DA-038C1435D0A8}">
      <dsp:nvSpPr>
        <dsp:cNvPr id="0" name=""/>
        <dsp:cNvSpPr/>
      </dsp:nvSpPr>
      <dsp:spPr>
        <a:xfrm>
          <a:off x="2935963" y="136101"/>
          <a:ext cx="5746752" cy="1324678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Si parte del comportamiento de la </a:t>
          </a:r>
          <a:r>
            <a:rPr lang="es-ES" sz="1600" i="1" kern="1200" dirty="0" err="1"/>
            <a:t>God</a:t>
          </a:r>
          <a:r>
            <a:rPr lang="es-ES" sz="1600" i="1" kern="1200" dirty="0"/>
            <a:t> </a:t>
          </a:r>
          <a:r>
            <a:rPr lang="es-ES" sz="1600" i="1" kern="1200" dirty="0" err="1"/>
            <a:t>Class</a:t>
          </a:r>
          <a:r>
            <a:rPr lang="es-ES" sz="1600" i="1" kern="1200" dirty="0"/>
            <a:t> </a:t>
          </a:r>
          <a:r>
            <a:rPr lang="es-ES" sz="1600" kern="1200" dirty="0"/>
            <a:t>se puede implementar de diferentes maneras, entonces una solución es convertir a nuestra vieja </a:t>
          </a:r>
          <a:r>
            <a:rPr lang="es-ES" sz="1600" i="1" kern="1200" dirty="0" err="1"/>
            <a:t>God</a:t>
          </a:r>
          <a:r>
            <a:rPr lang="es-ES" sz="1600" i="1" kern="1200" dirty="0"/>
            <a:t> </a:t>
          </a:r>
          <a:r>
            <a:rPr lang="es-ES" sz="1600" i="1" kern="1200" dirty="0" err="1"/>
            <a:t>Class</a:t>
          </a:r>
          <a:r>
            <a:rPr lang="es-ES" sz="1600" i="1" kern="1200" dirty="0"/>
            <a:t> </a:t>
          </a:r>
          <a:r>
            <a:rPr lang="es-ES" sz="1600" kern="1200" dirty="0"/>
            <a:t>en una clase Abstracta y luego generar subclases que definan el comportamiento específico necesario. </a:t>
          </a:r>
          <a:endParaRPr lang="es-AR" sz="1600" kern="1200" dirty="0"/>
        </a:p>
      </dsp:txBody>
      <dsp:txXfrm>
        <a:off x="3598302" y="136101"/>
        <a:ext cx="4422074" cy="1324678"/>
      </dsp:txXfrm>
    </dsp:sp>
    <dsp:sp modelId="{465EF28F-FF01-4F0D-B28C-C6D151091557}">
      <dsp:nvSpPr>
        <dsp:cNvPr id="0" name=""/>
        <dsp:cNvSpPr/>
      </dsp:nvSpPr>
      <dsp:spPr>
        <a:xfrm>
          <a:off x="346576" y="1819879"/>
          <a:ext cx="3108086" cy="1595998"/>
        </a:xfrm>
        <a:prstGeom prst="chevron">
          <a:avLst/>
        </a:prstGeom>
        <a:solidFill>
          <a:schemeClr val="accent4">
            <a:hueOff val="1045220"/>
            <a:satOff val="7733"/>
            <a:lumOff val="-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Generar interfaces:</a:t>
          </a:r>
          <a:endParaRPr lang="es-AR" sz="2000" b="1" kern="1200" dirty="0"/>
        </a:p>
      </dsp:txBody>
      <dsp:txXfrm>
        <a:off x="1144575" y="1819879"/>
        <a:ext cx="1512088" cy="1595998"/>
      </dsp:txXfrm>
    </dsp:sp>
    <dsp:sp modelId="{F5761B48-FCB5-4DFA-84A6-2A7ABB42C04A}">
      <dsp:nvSpPr>
        <dsp:cNvPr id="0" name=""/>
        <dsp:cNvSpPr/>
      </dsp:nvSpPr>
      <dsp:spPr>
        <a:xfrm>
          <a:off x="2935963" y="1955539"/>
          <a:ext cx="5746752" cy="1324678"/>
        </a:xfrm>
        <a:prstGeom prst="chevron">
          <a:avLst/>
        </a:prstGeom>
        <a:solidFill>
          <a:schemeClr val="accent4">
            <a:tint val="40000"/>
            <a:alpha val="90000"/>
            <a:hueOff val="952756"/>
            <a:satOff val="9403"/>
            <a:lumOff val="46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952756"/>
              <a:satOff val="9403"/>
              <a:lumOff val="4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Si lo que queremos es brindar una lista de operaciones con diferentes comportamientos que el cliente puede utilizar, podemos generar una/varias interface(s) y luego crear clases concretas que cumplan con dicha interfaz e implementen las diferentes funcionalidades.</a:t>
          </a:r>
          <a:endParaRPr lang="es-AR" sz="1600" kern="1200" dirty="0"/>
        </a:p>
      </dsp:txBody>
      <dsp:txXfrm>
        <a:off x="3598302" y="1955539"/>
        <a:ext cx="4422074" cy="1324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A2573-D5AE-489A-A114-25144406BC19}">
      <dsp:nvSpPr>
        <dsp:cNvPr id="0" name=""/>
        <dsp:cNvSpPr/>
      </dsp:nvSpPr>
      <dsp:spPr>
        <a:xfrm>
          <a:off x="0" y="1355"/>
          <a:ext cx="7835048" cy="1029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La herencia es rígida: </a:t>
          </a:r>
          <a:endParaRPr lang="es-AR" sz="2000" kern="1200"/>
        </a:p>
      </dsp:txBody>
      <dsp:txXfrm>
        <a:off x="50261" y="51616"/>
        <a:ext cx="7734526" cy="929078"/>
      </dsp:txXfrm>
    </dsp:sp>
    <dsp:sp modelId="{489F5C6A-BFD3-43E4-A0B3-8FE2048C1DC4}">
      <dsp:nvSpPr>
        <dsp:cNvPr id="0" name=""/>
        <dsp:cNvSpPr/>
      </dsp:nvSpPr>
      <dsp:spPr>
        <a:xfrm>
          <a:off x="0" y="1030955"/>
          <a:ext cx="7835048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6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kern="1200" dirty="0"/>
            <a:t>Obliga a definir más métodos que los necesarios (en ciertos casos).</a:t>
          </a:r>
          <a:endParaRPr lang="es-AR" sz="1800" b="0" kern="1200" dirty="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kern="1200" dirty="0"/>
            <a:t>En la mayoría de los lenguajes la herencia es simple, lo que se transforma en una limitante. </a:t>
          </a:r>
          <a:endParaRPr lang="es-AR" sz="1800" b="0" kern="1200" dirty="0"/>
        </a:p>
      </dsp:txBody>
      <dsp:txXfrm>
        <a:off x="0" y="1030955"/>
        <a:ext cx="7835048" cy="910800"/>
      </dsp:txXfrm>
    </dsp:sp>
    <dsp:sp modelId="{80D02A5B-7B71-4D6A-8C45-820C2148DDEF}">
      <dsp:nvSpPr>
        <dsp:cNvPr id="0" name=""/>
        <dsp:cNvSpPr/>
      </dsp:nvSpPr>
      <dsp:spPr>
        <a:xfrm>
          <a:off x="0" y="1941755"/>
          <a:ext cx="7835048" cy="1029600"/>
        </a:xfrm>
        <a:prstGeom prst="roundRect">
          <a:avLst/>
        </a:prstGeom>
        <a:solidFill>
          <a:schemeClr val="accent4">
            <a:hueOff val="1045220"/>
            <a:satOff val="7733"/>
            <a:lumOff val="-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u="sng" kern="1200" dirty="0"/>
            <a:t>Solución</a:t>
          </a:r>
          <a:r>
            <a:rPr lang="es-ES" sz="2000" b="1" kern="1200" dirty="0"/>
            <a:t>: si no son lo mismo, ¿para qué forzarlo? Utilizar composición por sobre herencia</a:t>
          </a:r>
          <a:endParaRPr lang="es-AR" sz="2000" kern="1200" dirty="0"/>
        </a:p>
      </dsp:txBody>
      <dsp:txXfrm>
        <a:off x="50261" y="1992016"/>
        <a:ext cx="7734526" cy="929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95782" y="619677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2323217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Code</a:t>
            </a:r>
            <a:r>
              <a:rPr lang="es-AR" sz="3200" b="1" i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Smells</a:t>
            </a:r>
            <a:endParaRPr lang="es-ES" b="1" i="1" dirty="0" err="1">
              <a:ea typeface="+mn-lt"/>
              <a:cs typeface="+mn-lt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550290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2CE32E-A228-D4B0-934D-14A2DD199F45}"/>
              </a:ext>
            </a:extLst>
          </p:cNvPr>
          <p:cNvSpPr txBox="1"/>
          <p:nvPr/>
        </p:nvSpPr>
        <p:spPr>
          <a:xfrm>
            <a:off x="1322660" y="3400083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ES" b="1" dirty="0" err="1">
              <a:ea typeface="+mn-lt"/>
              <a:cs typeface="+mn-lt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712EC99-1936-139F-7A4D-617397B42856}"/>
              </a:ext>
            </a:extLst>
          </p:cNvPr>
          <p:cNvSpPr/>
          <p:nvPr/>
        </p:nvSpPr>
        <p:spPr>
          <a:xfrm>
            <a:off x="863949" y="3651526"/>
            <a:ext cx="130628" cy="13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Code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Smells</a:t>
            </a:r>
            <a:endParaRPr lang="es-ES" b="1" i="1" dirty="0" err="1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AD5E5F-5C2E-803F-7884-704C37B932C8}"/>
              </a:ext>
            </a:extLst>
          </p:cNvPr>
          <p:cNvSpPr txBox="1"/>
          <p:nvPr/>
        </p:nvSpPr>
        <p:spPr>
          <a:xfrm>
            <a:off x="396039" y="633329"/>
            <a:ext cx="3295650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</a:rPr>
              <a:t>¿Qué </a:t>
            </a:r>
            <a:r>
              <a:rPr lang="es-ES" sz="4000" b="1">
                <a:solidFill>
                  <a:schemeClr val="bg1"/>
                </a:solidFill>
              </a:rPr>
              <a:t>son?</a:t>
            </a:r>
            <a:endParaRPr lang="es-E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F68C41F-1069-6CCE-42EE-9AF308F02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78761"/>
              </p:ext>
            </p:extLst>
          </p:nvPr>
        </p:nvGraphicFramePr>
        <p:xfrm>
          <a:off x="918582" y="1864620"/>
          <a:ext cx="7790104" cy="4247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51D9-55D6-42D5-638F-3B09671B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138B72-523D-F587-17DA-2D83462F31C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Código duplicado</a:t>
            </a:r>
          </a:p>
        </p:txBody>
      </p:sp>
    </p:spTree>
    <p:extLst>
      <p:ext uri="{BB962C8B-B14F-4D97-AF65-F5344CB8AC3E}">
        <p14:creationId xmlns:p14="http://schemas.microsoft.com/office/powerpoint/2010/main" val="339815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F121-2460-6DC1-FFB7-A954DD95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B59C72F-73B2-C63F-FB4F-FEE30870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13" y="1919190"/>
            <a:ext cx="8195762" cy="1690496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B547374-FB2B-9CBA-8ABB-CC0E25EE2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13" y="4290208"/>
            <a:ext cx="8505099" cy="1794342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1708049-1481-7F81-E3CC-40FB862E865A}"/>
              </a:ext>
            </a:extLst>
          </p:cNvPr>
          <p:cNvCxnSpPr/>
          <p:nvPr/>
        </p:nvCxnSpPr>
        <p:spPr>
          <a:xfrm>
            <a:off x="293582" y="3888538"/>
            <a:ext cx="8951977" cy="5157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9F69E5F-E056-2ABC-CC23-06001A29C094}"/>
              </a:ext>
            </a:extLst>
          </p:cNvPr>
          <p:cNvSpPr txBox="1"/>
          <p:nvPr/>
        </p:nvSpPr>
        <p:spPr>
          <a:xfrm>
            <a:off x="418913" y="597023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Código duplicado</a:t>
            </a:r>
          </a:p>
        </p:txBody>
      </p:sp>
    </p:spTree>
    <p:extLst>
      <p:ext uri="{BB962C8B-B14F-4D97-AF65-F5344CB8AC3E}">
        <p14:creationId xmlns:p14="http://schemas.microsoft.com/office/powerpoint/2010/main" val="384155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B2B4E323-9803-26E2-527D-3FE314B2C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00" y="1990714"/>
            <a:ext cx="7981063" cy="11497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65E49B4-9F1E-5D10-EB0D-C178CFB3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26" y="3413421"/>
            <a:ext cx="7569841" cy="1107782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AC48B5F-03B1-A1B7-A77E-66252D4CE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26" y="5318209"/>
            <a:ext cx="7964279" cy="1112792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53031D1-BC59-BBA6-F47A-1D96D170CE39}"/>
              </a:ext>
            </a:extLst>
          </p:cNvPr>
          <p:cNvCxnSpPr>
            <a:cxnSpLocks/>
          </p:cNvCxnSpPr>
          <p:nvPr/>
        </p:nvCxnSpPr>
        <p:spPr>
          <a:xfrm flipV="1">
            <a:off x="418913" y="3140457"/>
            <a:ext cx="8660919" cy="326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A396949-84EC-C5F5-352B-A5C8BA7A69A6}"/>
              </a:ext>
            </a:extLst>
          </p:cNvPr>
          <p:cNvCxnSpPr/>
          <p:nvPr/>
        </p:nvCxnSpPr>
        <p:spPr>
          <a:xfrm>
            <a:off x="215793" y="4947795"/>
            <a:ext cx="8951977" cy="5157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292FFDEB-EC1E-CDA0-EB2C-FEE320EA141D}"/>
              </a:ext>
            </a:extLst>
          </p:cNvPr>
          <p:cNvSpPr txBox="1"/>
          <p:nvPr/>
        </p:nvSpPr>
        <p:spPr>
          <a:xfrm>
            <a:off x="418913" y="597023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Código duplicado</a:t>
            </a:r>
          </a:p>
        </p:txBody>
      </p:sp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E3392D6-FE84-C5B0-0D10-AD251AD49DC4}"/>
              </a:ext>
            </a:extLst>
          </p:cNvPr>
          <p:cNvSpPr txBox="1"/>
          <p:nvPr/>
        </p:nvSpPr>
        <p:spPr>
          <a:xfrm>
            <a:off x="515399" y="591668"/>
            <a:ext cx="5774993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Y esto quedaría así…</a:t>
            </a:r>
            <a:endParaRPr lang="es-ES" sz="1400" b="1" dirty="0">
              <a:solidFill>
                <a:schemeClr val="bg1"/>
              </a:solidFill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0EFB879-4E00-596D-1BE2-6E2DCDF8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38" y="2065349"/>
            <a:ext cx="5524046" cy="1677217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A8246F5-A1DE-4489-F541-E8BEA0B99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38" y="4175324"/>
            <a:ext cx="5855866" cy="176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D3F2EB5-54D7-BD8F-05D5-A7E500C3BF83}"/>
              </a:ext>
            </a:extLst>
          </p:cNvPr>
          <p:cNvSpPr txBox="1"/>
          <p:nvPr/>
        </p:nvSpPr>
        <p:spPr>
          <a:xfrm>
            <a:off x="628054" y="2058653"/>
            <a:ext cx="8523967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No queremos duplicar la misma idea en el código. </a:t>
            </a:r>
            <a:endParaRPr lang="es-ES" dirty="0">
              <a:ea typeface="+mn-lt"/>
              <a:cs typeface="+mn-lt"/>
            </a:endParaRPr>
          </a:p>
          <a:p>
            <a:r>
              <a:rPr lang="es-ES" sz="2400" dirty="0">
                <a:ea typeface="+mn-lt"/>
                <a:cs typeface="+mn-lt"/>
              </a:rPr>
              <a:t>Dos lemas que nos acompañan son: </a:t>
            </a:r>
            <a:br>
              <a:rPr lang="es-ES" sz="2400" dirty="0">
                <a:ea typeface="+mn-lt"/>
                <a:cs typeface="+mn-lt"/>
              </a:rPr>
            </a:br>
            <a:endParaRPr lang="es-ES" sz="2400" dirty="0">
              <a:ea typeface="+mn-lt"/>
              <a:cs typeface="+mn-lt"/>
            </a:endParaRPr>
          </a:p>
          <a:p>
            <a:pPr marL="342900" indent="-342900">
              <a:buClr>
                <a:schemeClr val="accent3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b="1" i="1" dirty="0">
                <a:solidFill>
                  <a:schemeClr val="accent3"/>
                </a:solidFill>
                <a:ea typeface="+mn-lt"/>
                <a:cs typeface="+mn-lt"/>
              </a:rPr>
              <a:t>Once and </a:t>
            </a:r>
            <a:r>
              <a:rPr lang="es-ES" sz="2400" b="1" i="1" dirty="0" err="1">
                <a:solidFill>
                  <a:schemeClr val="accent3"/>
                </a:solidFill>
                <a:ea typeface="+mn-lt"/>
                <a:cs typeface="+mn-lt"/>
              </a:rPr>
              <a:t>only</a:t>
            </a:r>
            <a:r>
              <a:rPr lang="es-ES" sz="2400" b="1" i="1" dirty="0">
                <a:solidFill>
                  <a:schemeClr val="accent3"/>
                </a:solidFill>
                <a:ea typeface="+mn-lt"/>
                <a:cs typeface="+mn-lt"/>
              </a:rPr>
              <a:t> once:</a:t>
            </a:r>
            <a:r>
              <a:rPr lang="es-ES" sz="2400" i="1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hacer las cosas una sola vez.</a:t>
            </a:r>
            <a:endParaRPr lang="es-ES" dirty="0">
              <a:ea typeface="+mn-lt"/>
              <a:cs typeface="+mn-lt"/>
            </a:endParaRPr>
          </a:p>
          <a:p>
            <a:pPr marL="342900" indent="-342900">
              <a:buClr>
                <a:schemeClr val="accent3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b="1" i="1" dirty="0" err="1">
                <a:solidFill>
                  <a:schemeClr val="accent3"/>
                </a:solidFill>
                <a:ea typeface="+mn-lt"/>
                <a:cs typeface="+mn-lt"/>
              </a:rPr>
              <a:t>Don't</a:t>
            </a:r>
            <a:r>
              <a:rPr lang="es-ES" sz="2400" b="1" i="1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s-ES" sz="2400" b="1" i="1" dirty="0" err="1">
                <a:solidFill>
                  <a:schemeClr val="accent3"/>
                </a:solidFill>
                <a:ea typeface="+mn-lt"/>
                <a:cs typeface="+mn-lt"/>
              </a:rPr>
              <a:t>repeat</a:t>
            </a:r>
            <a:r>
              <a:rPr lang="es-ES" sz="2400" b="1" i="1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s-ES" sz="2400" b="1" i="1" dirty="0" err="1">
                <a:solidFill>
                  <a:schemeClr val="accent3"/>
                </a:solidFill>
                <a:ea typeface="+mn-lt"/>
                <a:cs typeface="+mn-lt"/>
              </a:rPr>
              <a:t>yourself</a:t>
            </a:r>
            <a:r>
              <a:rPr lang="es-ES" sz="2400" b="1" i="1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(DRY). </a:t>
            </a:r>
            <a:br>
              <a:rPr lang="es-ES" sz="2400" dirty="0">
                <a:ea typeface="Calibri"/>
                <a:cs typeface="Calibri"/>
              </a:rPr>
            </a:br>
            <a:endParaRPr lang="en-US" sz="2400" dirty="0">
              <a:ea typeface="Calibri"/>
              <a:cs typeface="Calibri"/>
            </a:endParaRPr>
          </a:p>
          <a:p>
            <a:pPr marL="342900" indent="-342900">
              <a:buClr>
                <a:schemeClr val="accent3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Y esto no sólo vale para el código, también aplica para el diseño en general. Dos de las formas más conocidas para evitar este </a:t>
            </a:r>
            <a:r>
              <a:rPr lang="es-ES" sz="2400" i="1" dirty="0">
                <a:ea typeface="+mn-lt"/>
                <a:cs typeface="+mn-lt"/>
              </a:rPr>
              <a:t>smell</a:t>
            </a:r>
            <a:r>
              <a:rPr lang="es-ES" sz="2400" dirty="0">
                <a:ea typeface="+mn-lt"/>
                <a:cs typeface="+mn-lt"/>
              </a:rPr>
              <a:t> en diseño es la composición y la herencia.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2E2655C-78CE-7E45-650D-85A41868A39F}"/>
              </a:ext>
            </a:extLst>
          </p:cNvPr>
          <p:cNvSpPr txBox="1"/>
          <p:nvPr/>
        </p:nvSpPr>
        <p:spPr>
          <a:xfrm>
            <a:off x="418913" y="597023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Código duplicado</a:t>
            </a: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DFB3-23E6-4A6B-7F7A-BE5A2678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1E5BAE-8603-06D0-7E78-0F765B03CF1F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Métodos largos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10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F23FDB6-4381-C563-5010-5F4D52F19D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439087"/>
              </p:ext>
            </p:extLst>
          </p:nvPr>
        </p:nvGraphicFramePr>
        <p:xfrm>
          <a:off x="892748" y="2098758"/>
          <a:ext cx="7665715" cy="3499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E0606A7C-85C7-B1E7-03E2-36A7CD3885E5}"/>
              </a:ext>
            </a:extLst>
          </p:cNvPr>
          <p:cNvSpPr txBox="1"/>
          <p:nvPr/>
        </p:nvSpPr>
        <p:spPr>
          <a:xfrm>
            <a:off x="429682" y="549417"/>
            <a:ext cx="915640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400" b="1" dirty="0">
                <a:solidFill>
                  <a:prstClr val="white"/>
                </a:solidFill>
                <a:ea typeface="+mn-lt"/>
                <a:cs typeface="+mn-lt"/>
              </a:rPr>
              <a:t>Métodos largos</a:t>
            </a:r>
            <a:endParaRPr lang="es-ES" sz="11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03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AD17D-A2DB-5E0F-0682-F680B2F5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EE47EC-9CFC-F568-4F4C-C79580137D83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God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– Long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endParaRPr lang="es-ES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7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87DB4F-D5FB-185F-3EAC-D54D5D4994CB}"/>
              </a:ext>
            </a:extLst>
          </p:cNvPr>
          <p:cNvSpPr txBox="1"/>
          <p:nvPr/>
        </p:nvSpPr>
        <p:spPr>
          <a:xfrm>
            <a:off x="884728" y="2089990"/>
            <a:ext cx="7689778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Las clases por lo general comienzan siendo pequeñas, pero con el tiempo se hinchan a medida que el sistema crece. Es decir, la clase hace “de todo”.</a:t>
            </a:r>
          </a:p>
          <a:p>
            <a:br>
              <a:rPr lang="es-ES" sz="2400" dirty="0">
                <a:ea typeface="+mn-lt"/>
                <a:cs typeface="+mn-lt"/>
              </a:rPr>
            </a:br>
            <a:r>
              <a:rPr lang="es-ES" sz="2400" dirty="0">
                <a:ea typeface="+mn-lt"/>
                <a:cs typeface="+mn-lt"/>
              </a:rPr>
              <a:t>Para solucionar esto debemos: </a:t>
            </a:r>
            <a:br>
              <a:rPr lang="es-ES" sz="2400" dirty="0">
                <a:ea typeface="+mn-lt"/>
                <a:cs typeface="+mn-lt"/>
              </a:rPr>
            </a:br>
            <a:r>
              <a:rPr lang="es-ES" sz="2400" dirty="0">
                <a:solidFill>
                  <a:schemeClr val="accent5"/>
                </a:solidFill>
                <a:ea typeface="+mn-lt"/>
                <a:cs typeface="+mn-lt"/>
              </a:rPr>
              <a:t>•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Generar nuevas clases:</a:t>
            </a:r>
            <a:r>
              <a:rPr lang="es-ES" sz="2400" dirty="0">
                <a:solidFill>
                  <a:schemeClr val="accent5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si el comportamiento de la clase es grande, y cumple con varias funciones al mismo tiempo, se debe dividir la </a:t>
            </a:r>
            <a:r>
              <a:rPr lang="es-ES" sz="2400" i="1" dirty="0" err="1">
                <a:ea typeface="+mn-lt"/>
                <a:cs typeface="+mn-lt"/>
              </a:rPr>
              <a:t>God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Class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en más clases que cumplan con un solo propósito. -&gt; Alta cohesión 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8DAA6A-6DD8-5912-29D6-0FD8725EFC9B}"/>
              </a:ext>
            </a:extLst>
          </p:cNvPr>
          <p:cNvSpPr txBox="1"/>
          <p:nvPr/>
        </p:nvSpPr>
        <p:spPr>
          <a:xfrm>
            <a:off x="499717" y="597023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God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– Long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endParaRPr lang="es-ES" sz="1050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09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D28A-E743-CB8C-20E6-B945B428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9B330515-1026-7A80-200E-E3D18A8144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86162"/>
              </p:ext>
            </p:extLst>
          </p:nvPr>
        </p:nvGraphicFramePr>
        <p:xfrm>
          <a:off x="194917" y="2074696"/>
          <a:ext cx="9029293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ED1796FB-A624-29EA-2545-23FEFBEA2AB2}"/>
              </a:ext>
            </a:extLst>
          </p:cNvPr>
          <p:cNvSpPr txBox="1"/>
          <p:nvPr/>
        </p:nvSpPr>
        <p:spPr>
          <a:xfrm>
            <a:off x="499717" y="597023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God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– Long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endParaRPr lang="es-ES" sz="1050" b="1" i="1" dirty="0" err="1">
              <a:solidFill>
                <a:prstClr val="white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C75560-6A0B-10BC-ACFF-4C44B0F2DDC4}"/>
              </a:ext>
            </a:extLst>
          </p:cNvPr>
          <p:cNvSpPr txBox="1"/>
          <p:nvPr/>
        </p:nvSpPr>
        <p:spPr>
          <a:xfrm>
            <a:off x="967870" y="5748339"/>
            <a:ext cx="7483386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600" dirty="0">
                <a:ea typeface="+mn-lt"/>
                <a:cs typeface="+mn-lt"/>
              </a:rPr>
              <a:t>Si la </a:t>
            </a:r>
            <a:r>
              <a:rPr lang="es-ES" sz="1600" i="1" dirty="0" err="1">
                <a:ea typeface="+mn-lt"/>
                <a:cs typeface="+mn-lt"/>
              </a:rPr>
              <a:t>God</a:t>
            </a:r>
            <a:r>
              <a:rPr lang="es-ES" sz="1600" i="1" dirty="0">
                <a:ea typeface="+mn-lt"/>
                <a:cs typeface="+mn-lt"/>
              </a:rPr>
              <a:t> </a:t>
            </a:r>
            <a:r>
              <a:rPr lang="es-ES" sz="1600" i="1" dirty="0" err="1">
                <a:ea typeface="+mn-lt"/>
                <a:cs typeface="+mn-lt"/>
              </a:rPr>
              <a:t>Class</a:t>
            </a:r>
            <a:r>
              <a:rPr lang="es-ES" sz="1600" i="1" dirty="0">
                <a:ea typeface="+mn-lt"/>
                <a:cs typeface="+mn-lt"/>
              </a:rPr>
              <a:t> </a:t>
            </a:r>
            <a:r>
              <a:rPr lang="es-ES" sz="1600" dirty="0">
                <a:ea typeface="+mn-lt"/>
                <a:cs typeface="+mn-lt"/>
              </a:rPr>
              <a:t>es responsable de una interfaz gráfica, se debe comenzar a pensar en el patrón MVC, e ir descomponiendo las responsabilidades entre las diferentes capas involucradas.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101515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717C7-C401-24C5-7132-4F00EAC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62B6322-7520-5B24-2FFE-DC241DA59B28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Parámetros largos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237622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35AA-BD79-1A3F-2C30-3628E737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460CFA8-C292-8739-445F-364FF13DFF34}"/>
              </a:ext>
            </a:extLst>
          </p:cNvPr>
          <p:cNvSpPr txBox="1"/>
          <p:nvPr/>
        </p:nvSpPr>
        <p:spPr>
          <a:xfrm>
            <a:off x="499717" y="1690172"/>
            <a:ext cx="8556051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s-ES" dirty="0">
                <a:ea typeface="+mn-lt"/>
                <a:cs typeface="+mn-lt"/>
              </a:rPr>
              <a:t>Puede darse cuando varios algoritmos se combinan en un solo método. O también cuando nos estamos olvidando de alguna abstracción del dominio. </a:t>
            </a:r>
            <a:endParaRPr lang="es-ES" sz="1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s-ES" dirty="0">
                <a:ea typeface="+mn-lt"/>
                <a:cs typeface="+mn-lt"/>
              </a:rPr>
              <a:t>Si un objeto va a brindar un servicio a otro, lo mejor sería que la cantidad de parámetros del método en cuestión no varíe.</a:t>
            </a:r>
            <a:endParaRPr lang="es-ES" sz="1400" dirty="0"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60737A5-DFA6-F108-FA28-557F29CDB1E4}"/>
              </a:ext>
            </a:extLst>
          </p:cNvPr>
          <p:cNvSpPr txBox="1"/>
          <p:nvPr/>
        </p:nvSpPr>
        <p:spPr>
          <a:xfrm>
            <a:off x="499717" y="61306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Parámetros largos</a:t>
            </a:r>
            <a:endParaRPr lang="es-ES" sz="105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15FD87-131A-CBD5-9691-BB2A9EE33444}"/>
              </a:ext>
            </a:extLst>
          </p:cNvPr>
          <p:cNvSpPr txBox="1"/>
          <p:nvPr/>
        </p:nvSpPr>
        <p:spPr>
          <a:xfrm>
            <a:off x="840803" y="2936049"/>
            <a:ext cx="8656123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accent3"/>
                </a:solidFill>
                <a:ea typeface="+mn-lt"/>
                <a:cs typeface="+mn-lt"/>
              </a:rPr>
              <a:t>Por ejemplo: </a:t>
            </a:r>
            <a:endParaRPr lang="es-ES" sz="1200" dirty="0">
              <a:solidFill>
                <a:schemeClr val="accent3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64E5BF-4B30-5243-2707-2877A81C2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36" y="3524366"/>
            <a:ext cx="7037854" cy="702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B604AC6-923C-C6A5-591A-FC4F99E97B09}"/>
              </a:ext>
            </a:extLst>
          </p:cNvPr>
          <p:cNvSpPr txBox="1"/>
          <p:nvPr/>
        </p:nvSpPr>
        <p:spPr>
          <a:xfrm>
            <a:off x="840803" y="4373412"/>
            <a:ext cx="8142776" cy="11079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ea typeface="+mn-lt"/>
                <a:cs typeface="+mn-lt"/>
              </a:rPr>
              <a:t>Este método está totalmente sujeto a esos parámetros, y cualquier cambio en alguno de ellos afectaría a todo nuestro código. Del mismo modo, al querer agregar un parámetro más, estaríamos “rompiendo” con el cliente que está utilizando este servicio.</a:t>
            </a:r>
            <a:endParaRPr lang="es-ES" sz="1200" dirty="0">
              <a:ea typeface="+mn-lt"/>
              <a:cs typeface="+mn-lt"/>
            </a:endParaRPr>
          </a:p>
          <a:p>
            <a:r>
              <a:rPr lang="es-ES" sz="1600" b="1" u="sng" dirty="0">
                <a:solidFill>
                  <a:schemeClr val="accent3"/>
                </a:solidFill>
                <a:ea typeface="+mn-lt"/>
                <a:cs typeface="+mn-lt"/>
              </a:rPr>
              <a:t>La solución:</a:t>
            </a:r>
            <a:endParaRPr lang="es-ES" sz="1200" b="1" dirty="0">
              <a:solidFill>
                <a:schemeClr val="accent3"/>
              </a:solidFill>
              <a:ea typeface="+mn-lt"/>
              <a:cs typeface="+mn-lt"/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3648B85B-115A-8310-60EE-14E34421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03" y="5627791"/>
            <a:ext cx="7156187" cy="70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70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D608-0B4F-09E6-1A4C-BAA0A84D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B8789A-A747-EEE1-6E50-B6B37132F6E5}"/>
              </a:ext>
            </a:extLst>
          </p:cNvPr>
          <p:cNvSpPr txBox="1"/>
          <p:nvPr/>
        </p:nvSpPr>
        <p:spPr>
          <a:xfrm>
            <a:off x="1316762" y="2246050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Ruptura de encapsulamiento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14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E4C3-0974-6D9F-B98B-0952FBA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8DB8684-C7B0-714B-B1F7-0F83DDFC8036}"/>
              </a:ext>
            </a:extLst>
          </p:cNvPr>
          <p:cNvSpPr txBox="1"/>
          <p:nvPr/>
        </p:nvSpPr>
        <p:spPr>
          <a:xfrm>
            <a:off x="499716" y="1678272"/>
            <a:ext cx="8443758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000" dirty="0">
                <a:ea typeface="+mn-lt"/>
                <a:cs typeface="+mn-lt"/>
              </a:rPr>
              <a:t>Se presenta cuando una clase tiene dependencias en la implementación de otra clase.</a:t>
            </a:r>
            <a:endParaRPr lang="es-ES" sz="1600" dirty="0">
              <a:ea typeface="+mn-lt"/>
              <a:cs typeface="+mn-lt"/>
            </a:endParaRPr>
          </a:p>
          <a:p>
            <a:pPr algn="just"/>
            <a:endParaRPr lang="es-ES" sz="2000" dirty="0">
              <a:ea typeface="+mn-lt"/>
              <a:cs typeface="+mn-lt"/>
            </a:endParaRPr>
          </a:p>
          <a:p>
            <a:pPr algn="just"/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Por ejemplo: </a:t>
            </a:r>
            <a:r>
              <a:rPr lang="es-ES" sz="2000" dirty="0">
                <a:ea typeface="+mn-lt"/>
                <a:cs typeface="+mn-lt"/>
              </a:rPr>
              <a:t>sabemos que una clase tiene una lista de objetos, y que a su vez esos objetos tienen una lista de otros objetos, y así sucesivamente… Algo del estilo:</a:t>
            </a:r>
            <a:endParaRPr lang="es-ES" sz="1600" dirty="0"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550CF1-608C-B684-472D-CCE9A2C12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292" y="4001641"/>
            <a:ext cx="5979131" cy="73992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BFA3A4F-89E8-265F-272D-BB73A88E4B2F}"/>
              </a:ext>
            </a:extLst>
          </p:cNvPr>
          <p:cNvSpPr txBox="1"/>
          <p:nvPr/>
        </p:nvSpPr>
        <p:spPr>
          <a:xfrm>
            <a:off x="620032" y="5179728"/>
            <a:ext cx="816302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ea typeface="+mn-lt"/>
                <a:cs typeface="+mn-lt"/>
              </a:rPr>
              <a:t>Solución: hablar y pedir.</a:t>
            </a:r>
            <a:endParaRPr lang="es-ES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E065EA-185F-8FD6-EA55-79DBF8E6B276}"/>
              </a:ext>
            </a:extLst>
          </p:cNvPr>
          <p:cNvSpPr txBox="1"/>
          <p:nvPr/>
        </p:nvSpPr>
        <p:spPr>
          <a:xfrm>
            <a:off x="359647" y="58600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Ruptura de encapsulamiento</a:t>
            </a:r>
            <a:endParaRPr lang="es-ES" sz="105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349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AA27-B141-A5EE-39A3-3D9447B0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53F7F3-3042-3CEA-E009-489E29D612BE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Herencia rechazada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73996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63FB-35D0-7381-8C28-561F8E99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AB235D6-4723-6DCC-7700-CEBA5AC40252}"/>
              </a:ext>
            </a:extLst>
          </p:cNvPr>
          <p:cNvSpPr txBox="1"/>
          <p:nvPr/>
        </p:nvSpPr>
        <p:spPr>
          <a:xfrm>
            <a:off x="450997" y="1728901"/>
            <a:ext cx="8428308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Se da cuando una clase sobrescribe completamente un método base definido por su padre sin importarle lo que este le haya dicho que tenía que hacer.</a:t>
            </a:r>
            <a:endParaRPr lang="es-E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9B4130A6-AB2B-C9DC-E8C4-B42D0E7D2D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9000700"/>
              </p:ext>
            </p:extLst>
          </p:nvPr>
        </p:nvGraphicFramePr>
        <p:xfrm>
          <a:off x="835859" y="2934858"/>
          <a:ext cx="7835048" cy="2972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2206E4D-6CD5-66C6-A1F1-F8C05D524A10}"/>
              </a:ext>
            </a:extLst>
          </p:cNvPr>
          <p:cNvSpPr txBox="1"/>
          <p:nvPr/>
        </p:nvSpPr>
        <p:spPr>
          <a:xfrm>
            <a:off x="450997" y="586144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Herencia rechazada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3893584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A092-AD03-BB50-8093-95C23BD1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CBA4EAD-E649-81C2-0191-AC0621D894A1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Lazy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endParaRPr lang="es-ES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42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45FA-31C5-5AB4-8CE9-FC5EADE1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F04E69-685C-0BFF-97A1-F3AB32ADD0C5}"/>
              </a:ext>
            </a:extLst>
          </p:cNvPr>
          <p:cNvSpPr txBox="1"/>
          <p:nvPr/>
        </p:nvSpPr>
        <p:spPr>
          <a:xfrm>
            <a:off x="537073" y="1677339"/>
            <a:ext cx="8293889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La clase no hace nada o hace muy poco. </a:t>
            </a:r>
            <a:br>
              <a:rPr lang="es-ES" sz="2000" dirty="0">
                <a:ea typeface="+mn-lt"/>
                <a:cs typeface="+mn-lt"/>
              </a:rPr>
            </a:br>
            <a:br>
              <a:rPr lang="es-ES" sz="2000" dirty="0">
                <a:ea typeface="+mn-lt"/>
                <a:cs typeface="+mn-lt"/>
              </a:rPr>
            </a:br>
            <a:r>
              <a:rPr lang="es-ES" sz="2000" dirty="0">
                <a:ea typeface="+mn-lt"/>
                <a:cs typeface="+mn-lt"/>
              </a:rPr>
              <a:t>Suele darse en el caso de la extrema delegación o porque el componente fue diseñado “por las dudas”</a:t>
            </a:r>
            <a:endParaRPr lang="es-ES" sz="1600" dirty="0"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C3D710-CF7B-8117-9558-7A92731D8D54}"/>
              </a:ext>
            </a:extLst>
          </p:cNvPr>
          <p:cNvSpPr txBox="1"/>
          <p:nvPr/>
        </p:nvSpPr>
        <p:spPr>
          <a:xfrm>
            <a:off x="537073" y="3228945"/>
            <a:ext cx="9016336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Algo del estilo: </a:t>
            </a:r>
            <a:endParaRPr lang="es-E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64F7F1-C15A-D0F4-DA1C-20D4478EF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73" y="3804820"/>
            <a:ext cx="7866612" cy="9131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528FF2-77CD-2CF6-F5C4-D8D608FFF34C}"/>
              </a:ext>
            </a:extLst>
          </p:cNvPr>
          <p:cNvSpPr txBox="1"/>
          <p:nvPr/>
        </p:nvSpPr>
        <p:spPr>
          <a:xfrm>
            <a:off x="537073" y="5126924"/>
            <a:ext cx="8425695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u="sng" dirty="0">
                <a:solidFill>
                  <a:schemeClr val="accent2"/>
                </a:solidFill>
                <a:ea typeface="+mn-lt"/>
                <a:cs typeface="+mn-lt"/>
              </a:rPr>
              <a:t>Solución:</a:t>
            </a:r>
            <a:r>
              <a:rPr lang="es-ES" sz="20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borrar las clases PLD (“por las dudas”) y diseñar una solución extensible pero cerrada al cambio. </a:t>
            </a:r>
            <a:endParaRPr lang="es-ES" sz="1600" dirty="0">
              <a:ea typeface="+mn-lt"/>
              <a:cs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BAEE8F-219F-C2D5-9415-1444B0702689}"/>
              </a:ext>
            </a:extLst>
          </p:cNvPr>
          <p:cNvSpPr txBox="1"/>
          <p:nvPr/>
        </p:nvSpPr>
        <p:spPr>
          <a:xfrm>
            <a:off x="467039" y="56039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Lazy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endParaRPr lang="es-ES" sz="1050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558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4DEA-048C-AB6A-19F8-DB66507B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D0DD43-0464-1C3E-1E09-18BC2B5112AB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Complejidad artificial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015206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C5CB-DFC6-4055-E3A1-8AFF6EB6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36EF78-8151-E6FA-BDB4-D47621A2FBAF}"/>
              </a:ext>
            </a:extLst>
          </p:cNvPr>
          <p:cNvSpPr txBox="1"/>
          <p:nvPr/>
        </p:nvSpPr>
        <p:spPr>
          <a:xfrm>
            <a:off x="354574" y="2098631"/>
            <a:ext cx="9016336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Y este es otro </a:t>
            </a:r>
            <a:r>
              <a:rPr lang="es-ES" sz="2000" i="1" dirty="0">
                <a:ea typeface="+mn-lt"/>
                <a:cs typeface="+mn-lt"/>
              </a:rPr>
              <a:t>smell</a:t>
            </a:r>
            <a:r>
              <a:rPr lang="es-ES" sz="2000" dirty="0">
                <a:ea typeface="+mn-lt"/>
                <a:cs typeface="+mn-lt"/>
              </a:rPr>
              <a:t> que a todos nos genera dolores de cabeza.</a:t>
            </a:r>
            <a:endParaRPr lang="es-ES" sz="1600" dirty="0">
              <a:ea typeface="+mn-lt"/>
              <a:cs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681E-9D7C-CAF5-9112-BEC046963189}"/>
              </a:ext>
            </a:extLst>
          </p:cNvPr>
          <p:cNvSpPr txBox="1"/>
          <p:nvPr/>
        </p:nvSpPr>
        <p:spPr>
          <a:xfrm>
            <a:off x="2338193" y="2921168"/>
            <a:ext cx="5049098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 err="1">
                <a:ea typeface="+mn-lt"/>
                <a:cs typeface="+mn-lt"/>
              </a:rPr>
              <a:t>Int</a:t>
            </a:r>
            <a:r>
              <a:rPr lang="es-ES" sz="2000" dirty="0">
                <a:ea typeface="+mn-lt"/>
                <a:cs typeface="+mn-lt"/>
              </a:rPr>
              <a:t> a = …. ; </a:t>
            </a:r>
            <a:br>
              <a:rPr lang="es-ES" sz="2000" dirty="0">
                <a:ea typeface="+mn-lt"/>
                <a:cs typeface="+mn-lt"/>
              </a:rPr>
            </a:br>
            <a:r>
              <a:rPr lang="es-ES" sz="2000" dirty="0">
                <a:ea typeface="+mn-lt"/>
                <a:cs typeface="+mn-lt"/>
              </a:rPr>
              <a:t>… </a:t>
            </a:r>
            <a:br>
              <a:rPr lang="es-ES" sz="2000" dirty="0">
                <a:ea typeface="+mn-lt"/>
                <a:cs typeface="+mn-lt"/>
              </a:rPr>
            </a:br>
            <a:r>
              <a:rPr lang="es-ES" sz="2000" dirty="0" err="1">
                <a:ea typeface="+mn-lt"/>
                <a:cs typeface="+mn-lt"/>
              </a:rPr>
              <a:t>Double</a:t>
            </a:r>
            <a:r>
              <a:rPr lang="es-ES" sz="2000" dirty="0">
                <a:ea typeface="+mn-lt"/>
                <a:cs typeface="+mn-lt"/>
              </a:rPr>
              <a:t> b = </a:t>
            </a:r>
            <a:r>
              <a:rPr lang="es-ES" sz="2000" dirty="0" err="1">
                <a:ea typeface="+mn-lt"/>
                <a:cs typeface="+mn-lt"/>
              </a:rPr>
              <a:t>this.getPeriodo</a:t>
            </a:r>
            <a:r>
              <a:rPr lang="es-ES" sz="2000" dirty="0">
                <a:ea typeface="+mn-lt"/>
                <a:cs typeface="+mn-lt"/>
              </a:rPr>
              <a:t>() + a; </a:t>
            </a:r>
            <a:endParaRPr lang="es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9A0467-2E6A-8F9F-91C5-888FF961490B}"/>
              </a:ext>
            </a:extLst>
          </p:cNvPr>
          <p:cNvSpPr txBox="1"/>
          <p:nvPr/>
        </p:nvSpPr>
        <p:spPr>
          <a:xfrm>
            <a:off x="523906" y="4381575"/>
            <a:ext cx="8419568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¿Qué es A? ¿Qué es B?</a:t>
            </a:r>
            <a:endParaRPr lang="es-ES" sz="1600" dirty="0">
              <a:ea typeface="+mn-lt"/>
              <a:cs typeface="+mn-lt"/>
            </a:endParaRPr>
          </a:p>
          <a:p>
            <a:endParaRPr lang="es-ES" sz="2000" dirty="0">
              <a:ea typeface="Calibri"/>
              <a:cs typeface="Calibri"/>
            </a:endParaRPr>
          </a:p>
          <a:p>
            <a:r>
              <a:rPr lang="es-ES" sz="2000" b="1" u="sng" dirty="0">
                <a:solidFill>
                  <a:schemeClr val="accent2"/>
                </a:solidFill>
                <a:ea typeface="+mn-lt"/>
                <a:cs typeface="+mn-lt"/>
              </a:rPr>
              <a:t>Solución:</a:t>
            </a:r>
            <a:r>
              <a:rPr lang="es-ES" sz="20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el nombre de la variable debe representar su funcionalidad -&gt; expresividad</a:t>
            </a:r>
            <a:endParaRPr lang="es-ES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CD4655-C4B4-E2E4-BB7B-6CD416AAF9BF}"/>
              </a:ext>
            </a:extLst>
          </p:cNvPr>
          <p:cNvSpPr txBox="1"/>
          <p:nvPr/>
        </p:nvSpPr>
        <p:spPr>
          <a:xfrm>
            <a:off x="523906" y="576802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Complejidad artificial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2295854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FF3B-72FD-E6A7-87E4-A32B182C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D7F1CD-FAEA-0314-219A-163E7C81E6C4}"/>
              </a:ext>
            </a:extLst>
          </p:cNvPr>
          <p:cNvSpPr txBox="1"/>
          <p:nvPr/>
        </p:nvSpPr>
        <p:spPr>
          <a:xfrm>
            <a:off x="2213001" y="2367171"/>
            <a:ext cx="7765998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Nombre de método muy largo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156294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949CC-D999-0809-53D9-1533F615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569037-BE9D-8063-4AF2-EAC339D1E4FB}"/>
              </a:ext>
            </a:extLst>
          </p:cNvPr>
          <p:cNvSpPr txBox="1"/>
          <p:nvPr/>
        </p:nvSpPr>
        <p:spPr>
          <a:xfrm>
            <a:off x="541036" y="1794685"/>
            <a:ext cx="8364310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Si nos está costando escoger un nombre bien representativo para el método, y nos queda muy largo, seguramente hay más de una lógica comprendida dentro del mismo.</a:t>
            </a:r>
            <a:br>
              <a:rPr lang="es-ES" sz="2000" dirty="0">
                <a:ea typeface="+mn-lt"/>
                <a:cs typeface="+mn-lt"/>
              </a:rPr>
            </a:br>
            <a:endParaRPr lang="es-ES" sz="2000" dirty="0">
              <a:ea typeface="+mn-lt"/>
              <a:cs typeface="+mn-lt"/>
            </a:endParaRPr>
          </a:p>
          <a:p>
            <a:r>
              <a:rPr lang="es-ES" sz="2000" dirty="0">
                <a:solidFill>
                  <a:schemeClr val="accent3"/>
                </a:solidFill>
                <a:ea typeface="+mn-lt"/>
                <a:cs typeface="+mn-lt"/>
              </a:rPr>
              <a:t>Por ejemplo:</a:t>
            </a:r>
            <a:endParaRPr lang="es-ES" sz="2000" dirty="0">
              <a:solidFill>
                <a:schemeClr val="accent3"/>
              </a:solidFill>
            </a:endParaRPr>
          </a:p>
        </p:txBody>
      </p:sp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3E3543D2-D572-46F0-F645-E25E8BD2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69" y="3786805"/>
            <a:ext cx="7532043" cy="66194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6E67362-6A0A-F7AE-6448-63D2E2CADBDB}"/>
              </a:ext>
            </a:extLst>
          </p:cNvPr>
          <p:cNvSpPr txBox="1"/>
          <p:nvPr/>
        </p:nvSpPr>
        <p:spPr>
          <a:xfrm>
            <a:off x="541036" y="4809653"/>
            <a:ext cx="8364310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El mismo nombre nos está diciendo que hace dos cosas: compra y pago. </a:t>
            </a:r>
          </a:p>
          <a:p>
            <a:endParaRPr lang="es-ES" sz="2000" dirty="0">
              <a:ea typeface="+mn-lt"/>
              <a:cs typeface="+mn-lt"/>
            </a:endParaRPr>
          </a:p>
          <a:p>
            <a:r>
              <a:rPr lang="es-ES" sz="2000" b="1" u="sng" dirty="0">
                <a:solidFill>
                  <a:schemeClr val="accent3"/>
                </a:solidFill>
                <a:ea typeface="+mn-lt"/>
                <a:cs typeface="+mn-lt"/>
              </a:rPr>
              <a:t>Solución:</a:t>
            </a:r>
            <a:r>
              <a:rPr lang="es-ES" sz="2000" b="1" dirty="0">
                <a:solidFill>
                  <a:schemeClr val="accent3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separar las lógicas comprendidas en un mismo método, creando nuevos métodos y/o, eventualmente, nuevos objetos.</a:t>
            </a:r>
            <a:endParaRPr lang="es-ES" sz="2000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64CCC6-BE6D-A0FC-2498-AC4CD34CF9B8}"/>
              </a:ext>
            </a:extLst>
          </p:cNvPr>
          <p:cNvSpPr txBox="1"/>
          <p:nvPr/>
        </p:nvSpPr>
        <p:spPr>
          <a:xfrm>
            <a:off x="464411" y="594809"/>
            <a:ext cx="776599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Nombre de método muy largo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3031291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CA41-F2B7-9E4D-A419-850FD306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140CD3-A6A7-B158-47C0-E65E813EA1FF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Código muerto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196318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A1B50-E75F-C3CF-191F-B33A69E1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DF64ED-2D97-8336-3168-D8B7A8BF322C}"/>
              </a:ext>
            </a:extLst>
          </p:cNvPr>
          <p:cNvSpPr txBox="1"/>
          <p:nvPr/>
        </p:nvSpPr>
        <p:spPr>
          <a:xfrm>
            <a:off x="611246" y="1872615"/>
            <a:ext cx="7834921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000" dirty="0">
                <a:ea typeface="+mn-lt"/>
                <a:cs typeface="+mn-lt"/>
              </a:rPr>
              <a:t>El típico código “por las dudas” que nos marea a la hora de ver la responsabilidad que tiene asignada una clase.</a:t>
            </a:r>
            <a:endParaRPr lang="es-ES" sz="1600" dirty="0">
              <a:ea typeface="+mn-lt"/>
              <a:cs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2E6962-BB0A-3DF4-ECEA-1BC93A9C2947}"/>
              </a:ext>
            </a:extLst>
          </p:cNvPr>
          <p:cNvSpPr txBox="1"/>
          <p:nvPr/>
        </p:nvSpPr>
        <p:spPr>
          <a:xfrm>
            <a:off x="611247" y="5181122"/>
            <a:ext cx="7834921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u="sng" dirty="0">
                <a:solidFill>
                  <a:schemeClr val="tx2"/>
                </a:solidFill>
                <a:ea typeface="+mn-lt"/>
                <a:cs typeface="+mn-lt"/>
              </a:rPr>
              <a:t>Solución:</a:t>
            </a:r>
            <a:r>
              <a:rPr lang="es-ES" sz="2000" b="1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borrar todo el </a:t>
            </a:r>
            <a:r>
              <a:rPr lang="es-ES" sz="2000" i="1" dirty="0" err="1">
                <a:ea typeface="+mn-lt"/>
                <a:cs typeface="+mn-lt"/>
              </a:rPr>
              <a:t>code</a:t>
            </a:r>
            <a:r>
              <a:rPr lang="es-ES" sz="2000" dirty="0">
                <a:ea typeface="+mn-lt"/>
                <a:cs typeface="+mn-lt"/>
              </a:rPr>
              <a:t> muerto y, otra vez, diseñar de modo extensible pero cerrado al cambio.</a:t>
            </a:r>
            <a:endParaRPr lang="es-ES" sz="1600" dirty="0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4AA6B54-832B-57FD-62A8-41435F12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47" y="3118620"/>
            <a:ext cx="8005011" cy="11704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513810-EC17-918A-1F43-E333D81E76B0}"/>
              </a:ext>
            </a:extLst>
          </p:cNvPr>
          <p:cNvSpPr txBox="1"/>
          <p:nvPr/>
        </p:nvSpPr>
        <p:spPr>
          <a:xfrm>
            <a:off x="442975" y="59404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Código muerto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4198761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D8287-4219-184E-1D38-33CF2665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D070D04-A920-D863-5E0E-4535B2A470E1}"/>
              </a:ext>
            </a:extLst>
          </p:cNvPr>
          <p:cNvSpPr txBox="1"/>
          <p:nvPr/>
        </p:nvSpPr>
        <p:spPr>
          <a:xfrm>
            <a:off x="969738" y="2875002"/>
            <a:ext cx="10252524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Data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-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Only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accessors</a:t>
            </a:r>
            <a:endParaRPr lang="es-ES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15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D515-8BD6-2D7E-1F4B-79503B07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DC5606-D01D-8697-1402-2CD8E0B4B33A}"/>
              </a:ext>
            </a:extLst>
          </p:cNvPr>
          <p:cNvSpPr txBox="1"/>
          <p:nvPr/>
        </p:nvSpPr>
        <p:spPr>
          <a:xfrm>
            <a:off x="867922" y="1837245"/>
            <a:ext cx="7682520" cy="4154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Una clase que sólo representa una estructura de datos es fácil verla porque tiene sólo </a:t>
            </a:r>
            <a:r>
              <a:rPr lang="es-ES" sz="2400" i="1" dirty="0" err="1">
                <a:ea typeface="+mn-lt"/>
                <a:cs typeface="+mn-lt"/>
              </a:rPr>
              <a:t>getters</a:t>
            </a:r>
            <a:r>
              <a:rPr lang="es-ES" sz="2400" dirty="0">
                <a:ea typeface="+mn-lt"/>
                <a:cs typeface="+mn-lt"/>
              </a:rPr>
              <a:t> y </a:t>
            </a:r>
            <a:r>
              <a:rPr lang="es-ES" sz="2400" i="1" dirty="0" err="1">
                <a:ea typeface="+mn-lt"/>
                <a:cs typeface="+mn-lt"/>
              </a:rPr>
              <a:t>setters</a:t>
            </a:r>
            <a:r>
              <a:rPr lang="es-ES" sz="2400" dirty="0">
                <a:ea typeface="+mn-lt"/>
                <a:cs typeface="+mn-lt"/>
              </a:rPr>
              <a:t>. </a:t>
            </a:r>
            <a:endParaRPr lang="en-US" dirty="0">
              <a:ea typeface="+mn-lt"/>
              <a:cs typeface="+mn-lt"/>
            </a:endParaRPr>
          </a:p>
          <a:p>
            <a:pPr algn="just"/>
            <a:br>
              <a:rPr lang="es-ES" sz="2400" dirty="0">
                <a:ea typeface="+mn-lt"/>
                <a:cs typeface="+mn-lt"/>
              </a:rPr>
            </a:br>
            <a:r>
              <a:rPr lang="es-ES" sz="2400" dirty="0">
                <a:ea typeface="+mn-lt"/>
                <a:cs typeface="+mn-lt"/>
              </a:rPr>
              <a:t>Es mala práctica pensar que es bueno separar un objeto en atributos y comportamiento, ya que rompe con nuestro paradigma de objetos; donde un objeto agrupa comportamiento y atributos.</a:t>
            </a:r>
          </a:p>
          <a:p>
            <a:pPr algn="just"/>
            <a:br>
              <a:rPr lang="es-ES" sz="2400" dirty="0">
                <a:ea typeface="+mn-lt"/>
                <a:cs typeface="+mn-lt"/>
              </a:rPr>
            </a:br>
            <a:r>
              <a:rPr lang="es-ES" sz="2400" dirty="0">
                <a:ea typeface="+mn-lt"/>
                <a:cs typeface="+mn-lt"/>
              </a:rPr>
              <a:t>Pese a esto, hay algunos objetos que sí tienen permitido tener solamente datos: los objetos DTO (</a:t>
            </a:r>
            <a:r>
              <a:rPr lang="es-ES" sz="2400" i="1" dirty="0">
                <a:ea typeface="+mn-lt"/>
                <a:cs typeface="+mn-lt"/>
              </a:rPr>
              <a:t>Data Transfer </a:t>
            </a:r>
            <a:r>
              <a:rPr lang="es-ES" sz="2400" i="1" dirty="0" err="1">
                <a:ea typeface="+mn-lt"/>
                <a:cs typeface="+mn-lt"/>
              </a:rPr>
              <a:t>Object</a:t>
            </a:r>
            <a:r>
              <a:rPr lang="es-ES" sz="2400" dirty="0">
                <a:ea typeface="+mn-lt"/>
                <a:cs typeface="+mn-lt"/>
              </a:rPr>
              <a:t>), por ejemplo.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BFD1B9D-1C29-CCC3-B159-173923A01B98}"/>
              </a:ext>
            </a:extLst>
          </p:cNvPr>
          <p:cNvSpPr txBox="1"/>
          <p:nvPr/>
        </p:nvSpPr>
        <p:spPr>
          <a:xfrm>
            <a:off x="448369" y="637128"/>
            <a:ext cx="1025252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Data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Class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-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Only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accessors</a:t>
            </a:r>
            <a:endParaRPr lang="es-ES" sz="1050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453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F0C1-317A-1C1F-CA11-E9595AAF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ED5BA0-593E-1077-099C-21083B51CFCB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Primitive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Obsession</a:t>
            </a:r>
            <a:endParaRPr lang="es-ES" b="1" i="1" dirty="0" err="1"/>
          </a:p>
        </p:txBody>
      </p:sp>
    </p:spTree>
    <p:extLst>
      <p:ext uri="{BB962C8B-B14F-4D97-AF65-F5344CB8AC3E}">
        <p14:creationId xmlns:p14="http://schemas.microsoft.com/office/powerpoint/2010/main" val="2471162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DD01-1D3C-BE84-80A6-221F49D8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519122-931C-79CA-7DF7-E1C4D6B47DF2}"/>
              </a:ext>
            </a:extLst>
          </p:cNvPr>
          <p:cNvSpPr txBox="1"/>
          <p:nvPr/>
        </p:nvSpPr>
        <p:spPr>
          <a:xfrm>
            <a:off x="539059" y="1661608"/>
            <a:ext cx="8468584" cy="2246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ea typeface="+mn-lt"/>
                <a:cs typeface="+mn-lt"/>
              </a:rPr>
              <a:t>Suele darse al representar con </a:t>
            </a:r>
            <a:r>
              <a:rPr lang="es-ES" sz="2000" i="1" dirty="0" err="1">
                <a:ea typeface="+mn-lt"/>
                <a:cs typeface="+mn-lt"/>
              </a:rPr>
              <a:t>ints</a:t>
            </a:r>
            <a:r>
              <a:rPr lang="es-ES" sz="2000" i="1" dirty="0">
                <a:ea typeface="+mn-lt"/>
                <a:cs typeface="+mn-lt"/>
              </a:rPr>
              <a:t>, </a:t>
            </a:r>
            <a:r>
              <a:rPr lang="es-ES" sz="2000" i="1" dirty="0" err="1">
                <a:ea typeface="+mn-lt"/>
                <a:cs typeface="+mn-lt"/>
              </a:rPr>
              <a:t>booleans</a:t>
            </a:r>
            <a:r>
              <a:rPr lang="es-ES" sz="2000" i="1" dirty="0">
                <a:ea typeface="+mn-lt"/>
                <a:cs typeface="+mn-lt"/>
              </a:rPr>
              <a:t>, </a:t>
            </a:r>
            <a:r>
              <a:rPr lang="es-ES" sz="2000" i="1" dirty="0" err="1">
                <a:ea typeface="+mn-lt"/>
                <a:cs typeface="+mn-lt"/>
              </a:rPr>
              <a:t>Strings</a:t>
            </a:r>
            <a:r>
              <a:rPr lang="es-ES" sz="2000" i="1" dirty="0"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o enumeraciones cosas que podrían ser objetos con comportamiento. </a:t>
            </a:r>
            <a:endParaRPr lang="es-ES" sz="1600" dirty="0">
              <a:ea typeface="+mn-lt"/>
              <a:cs typeface="+mn-lt"/>
            </a:endParaRPr>
          </a:p>
          <a:p>
            <a:endParaRPr lang="es-ES" sz="2000" dirty="0">
              <a:ea typeface="+mn-lt"/>
              <a:cs typeface="+mn-lt"/>
            </a:endParaRPr>
          </a:p>
          <a:p>
            <a:r>
              <a:rPr lang="es-ES" sz="2000" dirty="0">
                <a:ea typeface="+mn-lt"/>
                <a:cs typeface="+mn-lt"/>
              </a:rPr>
              <a:t>Las enumeraciones nos llevan a tener sentencias condicionales en lugar de trabajar con objetos polimórficos.</a:t>
            </a:r>
          </a:p>
          <a:p>
            <a:endParaRPr lang="es-ES" sz="2000" dirty="0">
              <a:ea typeface="Calibri"/>
              <a:cs typeface="Calibri"/>
            </a:endParaRPr>
          </a:p>
          <a:p>
            <a:r>
              <a:rPr lang="es-ES" sz="2000" dirty="0">
                <a:ea typeface="+mn-lt"/>
                <a:cs typeface="+mn-lt"/>
              </a:rPr>
              <a:t>Algo del estilo:</a:t>
            </a:r>
            <a:endParaRPr lang="es-E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FF039F-9B33-BBD3-3663-95DA40883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85" y="4026471"/>
            <a:ext cx="5781683" cy="13786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0C9577-B511-78A9-4244-3EAC62CCC47D}"/>
              </a:ext>
            </a:extLst>
          </p:cNvPr>
          <p:cNvSpPr txBox="1"/>
          <p:nvPr/>
        </p:nvSpPr>
        <p:spPr>
          <a:xfrm>
            <a:off x="475525" y="5864577"/>
            <a:ext cx="8907479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u="sng" dirty="0">
                <a:solidFill>
                  <a:schemeClr val="accent5"/>
                </a:solidFill>
                <a:ea typeface="+mn-lt"/>
                <a:cs typeface="+mn-lt"/>
              </a:rPr>
              <a:t>Solución:</a:t>
            </a:r>
            <a:r>
              <a:rPr lang="es-ES" sz="2000" b="1" dirty="0">
                <a:solidFill>
                  <a:schemeClr val="accent5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buscar abstracciones que nos permitan trabajar polimórficamente.</a:t>
            </a:r>
            <a:endParaRPr lang="es-ES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745F67-DE37-1B24-D179-866E27CA62FF}"/>
              </a:ext>
            </a:extLst>
          </p:cNvPr>
          <p:cNvSpPr txBox="1"/>
          <p:nvPr/>
        </p:nvSpPr>
        <p:spPr>
          <a:xfrm>
            <a:off x="474738" y="54938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Primitive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Obsession</a:t>
            </a:r>
            <a:endParaRPr lang="es-ES" sz="1050" b="1" i="1" dirty="0" err="1"/>
          </a:p>
        </p:txBody>
      </p:sp>
    </p:spTree>
    <p:extLst>
      <p:ext uri="{BB962C8B-B14F-4D97-AF65-F5344CB8AC3E}">
        <p14:creationId xmlns:p14="http://schemas.microsoft.com/office/powerpoint/2010/main" val="3145890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92CD-2DFB-EEEA-CB21-14774E77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20F223B-1A45-447A-AB3E-0491E2883EA1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Intimidad inapropiada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978655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0D844-E4E0-2FC8-80CB-E6EB4DFE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460E7A-AB0B-6583-04DF-00928A53E1C2}"/>
              </a:ext>
            </a:extLst>
          </p:cNvPr>
          <p:cNvSpPr txBox="1"/>
          <p:nvPr/>
        </p:nvSpPr>
        <p:spPr>
          <a:xfrm>
            <a:off x="663692" y="2171965"/>
            <a:ext cx="8231656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000" dirty="0">
                <a:ea typeface="+mn-lt"/>
                <a:cs typeface="+mn-lt"/>
              </a:rPr>
              <a:t>Se presenta cuando una subclase accede directamente a las variables de su superclase en lugar de utilizar los </a:t>
            </a:r>
            <a:r>
              <a:rPr lang="es-ES" sz="2000" i="1" dirty="0" err="1">
                <a:ea typeface="+mn-lt"/>
                <a:cs typeface="+mn-lt"/>
              </a:rPr>
              <a:t>getters</a:t>
            </a:r>
            <a:r>
              <a:rPr lang="es-ES" sz="2000" dirty="0">
                <a:ea typeface="+mn-lt"/>
                <a:cs typeface="+mn-lt"/>
              </a:rPr>
              <a:t> (acceso indirecto).</a:t>
            </a:r>
            <a:endParaRPr lang="es-ES" sz="1600" dirty="0">
              <a:ea typeface="+mn-lt"/>
              <a:cs typeface="+mn-lt"/>
            </a:endParaRPr>
          </a:p>
          <a:p>
            <a:pPr algn="just"/>
            <a:endParaRPr lang="es-ES" sz="2000" dirty="0">
              <a:ea typeface="+mn-lt"/>
              <a:cs typeface="+mn-lt"/>
            </a:endParaRPr>
          </a:p>
          <a:p>
            <a:pPr algn="just"/>
            <a:r>
              <a:rPr lang="es-ES" sz="2000" dirty="0">
                <a:ea typeface="+mn-lt"/>
                <a:cs typeface="+mn-lt"/>
              </a:rPr>
              <a:t>Este </a:t>
            </a:r>
            <a:r>
              <a:rPr lang="es-ES" sz="2000" i="1" dirty="0" err="1">
                <a:ea typeface="+mn-lt"/>
                <a:cs typeface="+mn-lt"/>
              </a:rPr>
              <a:t>smell</a:t>
            </a:r>
            <a:r>
              <a:rPr lang="es-ES" sz="2000" dirty="0">
                <a:ea typeface="+mn-lt"/>
                <a:cs typeface="+mn-lt"/>
              </a:rPr>
              <a:t> es el corolario de la frase "la herencia viola el encapsulamiento", o bien de que la herencia me lleva a un acoplamiento mayor que la composición. </a:t>
            </a:r>
            <a:endParaRPr lang="es-ES" sz="1600" dirty="0">
              <a:ea typeface="+mn-lt"/>
              <a:cs typeface="+mn-lt"/>
            </a:endParaRPr>
          </a:p>
          <a:p>
            <a:pPr algn="just"/>
            <a:endParaRPr lang="es-ES" sz="2000" dirty="0">
              <a:ea typeface="+mn-lt"/>
              <a:cs typeface="+mn-lt"/>
            </a:endParaRPr>
          </a:p>
          <a:p>
            <a:pPr algn="just"/>
            <a:r>
              <a:rPr lang="es-ES" sz="2000" b="1" dirty="0">
                <a:solidFill>
                  <a:schemeClr val="accent3"/>
                </a:solidFill>
                <a:ea typeface="+mn-lt"/>
                <a:cs typeface="+mn-lt"/>
              </a:rPr>
              <a:t>Solución: </a:t>
            </a:r>
            <a:r>
              <a:rPr lang="es-ES" sz="2000" dirty="0">
                <a:ea typeface="+mn-lt"/>
                <a:cs typeface="+mn-lt"/>
              </a:rPr>
              <a:t>atributos de la superclase privados, y accedidos solamente por </a:t>
            </a:r>
            <a:r>
              <a:rPr lang="es-ES" sz="2000" i="1" dirty="0" err="1">
                <a:ea typeface="+mn-lt"/>
                <a:cs typeface="+mn-lt"/>
              </a:rPr>
              <a:t>setters</a:t>
            </a:r>
            <a:r>
              <a:rPr lang="es-ES" sz="2000" dirty="0">
                <a:ea typeface="+mn-lt"/>
                <a:cs typeface="+mn-lt"/>
              </a:rPr>
              <a:t> y </a:t>
            </a:r>
            <a:r>
              <a:rPr lang="es-ES" sz="2000" i="1" dirty="0" err="1">
                <a:ea typeface="+mn-lt"/>
                <a:cs typeface="+mn-lt"/>
              </a:rPr>
              <a:t>getters</a:t>
            </a:r>
            <a:r>
              <a:rPr lang="es-ES" sz="2000" i="1" dirty="0">
                <a:ea typeface="+mn-lt"/>
                <a:cs typeface="+mn-lt"/>
              </a:rPr>
              <a:t>.</a:t>
            </a:r>
            <a:endParaRPr lang="es-ES" sz="1600" i="1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7F1CEE-F2EF-B45C-8259-5D3DE3F8504C}"/>
              </a:ext>
            </a:extLst>
          </p:cNvPr>
          <p:cNvSpPr txBox="1"/>
          <p:nvPr/>
        </p:nvSpPr>
        <p:spPr>
          <a:xfrm>
            <a:off x="426934" y="63712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Intimidad inapropiada 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454831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403B-6B71-42FF-9E8C-A0406BDB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392D0CA-590F-AC90-00F5-D380912C8AF7}"/>
              </a:ext>
            </a:extLst>
          </p:cNvPr>
          <p:cNvSpPr txBox="1"/>
          <p:nvPr/>
        </p:nvSpPr>
        <p:spPr>
          <a:xfrm>
            <a:off x="354574" y="1498197"/>
            <a:ext cx="8907479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i="1" dirty="0" err="1">
                <a:ea typeface="+mn-lt"/>
                <a:cs typeface="+mn-lt"/>
              </a:rPr>
              <a:t>Bad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Smells</a:t>
            </a:r>
            <a:r>
              <a:rPr lang="es-ES" sz="2400" i="1" dirty="0">
                <a:ea typeface="+mn-lt"/>
                <a:cs typeface="+mn-lt"/>
              </a:rPr>
              <a:t> in </a:t>
            </a:r>
            <a:r>
              <a:rPr lang="es-ES" sz="2400" i="1" dirty="0" err="1">
                <a:ea typeface="+mn-lt"/>
                <a:cs typeface="+mn-lt"/>
              </a:rPr>
              <a:t>Code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D00A18-3260-94DD-2772-9027B166E998}"/>
              </a:ext>
            </a:extLst>
          </p:cNvPr>
          <p:cNvSpPr txBox="1"/>
          <p:nvPr/>
        </p:nvSpPr>
        <p:spPr>
          <a:xfrm>
            <a:off x="2220686" y="195459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/>
              <a:t>Taxonomía</a:t>
            </a:r>
            <a:r>
              <a:rPr lang="es-ES" sz="2400">
                <a:ea typeface="Calibri"/>
                <a:cs typeface="Calibri"/>
              </a:rPr>
              <a:t>​</a:t>
            </a:r>
            <a:endParaRPr lang="es-ES"/>
          </a:p>
        </p:txBody>
      </p:sp>
      <p:cxnSp>
        <p:nvCxnSpPr>
          <p:cNvPr id="4" name="Conector: angular 3">
            <a:extLst>
              <a:ext uri="{FF2B5EF4-FFF2-40B4-BE49-F238E27FC236}">
                <a16:creationId xmlns:a16="http://schemas.microsoft.com/office/drawing/2014/main" id="{334AB95A-9294-52A1-FB23-D61046E2E49E}"/>
              </a:ext>
            </a:extLst>
          </p:cNvPr>
          <p:cNvCxnSpPr/>
          <p:nvPr/>
        </p:nvCxnSpPr>
        <p:spPr>
          <a:xfrm>
            <a:off x="1417981" y="1970029"/>
            <a:ext cx="780832" cy="210819"/>
          </a:xfrm>
          <a:prstGeom prst="bent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Interfaz de usuario gráfica, Texto, Aplicación, Tabla&#10;&#10;El contenido generado por IA puede ser incorrecto.">
            <a:extLst>
              <a:ext uri="{FF2B5EF4-FFF2-40B4-BE49-F238E27FC236}">
                <a16:creationId xmlns:a16="http://schemas.microsoft.com/office/drawing/2014/main" id="{757E214A-C5C7-5B2E-44D8-35207310F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78" y="2406197"/>
            <a:ext cx="5743122" cy="4186539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A3B25E4F-A020-7C91-CD25-F989D8E56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10" y="2811312"/>
            <a:ext cx="1325790" cy="1598235"/>
          </a:xfrm>
          <a:prstGeom prst="rect">
            <a:avLst/>
          </a:prstGeom>
        </p:spPr>
      </p:pic>
      <p:pic>
        <p:nvPicPr>
          <p:cNvPr id="7" name="Imagen 6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CB22A1E-CC20-3F8C-F1E9-449A43A17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545" y="2789691"/>
            <a:ext cx="1299484" cy="16293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EA6C382-6CE6-68D5-9AA2-98D1C44FB52F}"/>
              </a:ext>
            </a:extLst>
          </p:cNvPr>
          <p:cNvSpPr txBox="1"/>
          <p:nvPr/>
        </p:nvSpPr>
        <p:spPr>
          <a:xfrm>
            <a:off x="6704575" y="4715530"/>
            <a:ext cx="2743200" cy="1384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i="1" dirty="0">
                <a:ea typeface="+mn-lt"/>
                <a:cs typeface="+mn-lt"/>
              </a:rPr>
              <a:t>I </a:t>
            </a:r>
            <a:r>
              <a:rPr lang="es-ES" sz="1400" i="1" dirty="0" err="1">
                <a:ea typeface="+mn-lt"/>
                <a:cs typeface="+mn-lt"/>
              </a:rPr>
              <a:t>feel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that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with</a:t>
            </a:r>
            <a:r>
              <a:rPr lang="es-ES" sz="1400" i="1" dirty="0">
                <a:ea typeface="+mn-lt"/>
                <a:cs typeface="+mn-lt"/>
              </a:rPr>
              <a:t> a </a:t>
            </a:r>
            <a:r>
              <a:rPr lang="es-ES" sz="1400" i="1" dirty="0" err="1">
                <a:ea typeface="+mn-lt"/>
                <a:cs typeface="+mn-lt"/>
              </a:rPr>
              <a:t>long</a:t>
            </a:r>
            <a:r>
              <a:rPr lang="es-ES" sz="1400" i="1" dirty="0">
                <a:ea typeface="+mn-lt"/>
                <a:cs typeface="+mn-lt"/>
              </a:rPr>
              <a:t> flat </a:t>
            </a:r>
            <a:r>
              <a:rPr lang="es-ES" sz="1400" i="1" dirty="0" err="1">
                <a:ea typeface="+mn-lt"/>
                <a:cs typeface="+mn-lt"/>
              </a:rPr>
              <a:t>list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of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the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code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smells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it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is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easy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to</a:t>
            </a:r>
            <a:r>
              <a:rPr lang="es-ES" sz="1400" i="1" dirty="0">
                <a:ea typeface="+mn-lt"/>
                <a:cs typeface="+mn-lt"/>
              </a:rPr>
              <a:t> lose </a:t>
            </a:r>
            <a:r>
              <a:rPr lang="es-ES" sz="1400" i="1" dirty="0" err="1">
                <a:ea typeface="+mn-lt"/>
                <a:cs typeface="+mn-lt"/>
              </a:rPr>
              <a:t>the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overall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picture</a:t>
            </a:r>
            <a:r>
              <a:rPr lang="es-ES" sz="1400" i="1" dirty="0">
                <a:ea typeface="+mn-lt"/>
                <a:cs typeface="+mn-lt"/>
              </a:rPr>
              <a:t> (at </a:t>
            </a:r>
            <a:r>
              <a:rPr lang="es-ES" sz="1400" i="1" dirty="0" err="1">
                <a:ea typeface="+mn-lt"/>
                <a:cs typeface="+mn-lt"/>
              </a:rPr>
              <a:t>least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that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happened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to</a:t>
            </a:r>
            <a:r>
              <a:rPr lang="es-ES" sz="1400" i="1" dirty="0">
                <a:ea typeface="+mn-lt"/>
                <a:cs typeface="+mn-lt"/>
              </a:rPr>
              <a:t> me </a:t>
            </a:r>
            <a:r>
              <a:rPr lang="es-ES" sz="1400" i="1" dirty="0" err="1">
                <a:ea typeface="+mn-lt"/>
                <a:cs typeface="+mn-lt"/>
              </a:rPr>
              <a:t>when</a:t>
            </a:r>
            <a:r>
              <a:rPr lang="es-ES" sz="1400" i="1" dirty="0">
                <a:ea typeface="+mn-lt"/>
                <a:cs typeface="+mn-lt"/>
              </a:rPr>
              <a:t> I </a:t>
            </a:r>
            <a:r>
              <a:rPr lang="es-ES" sz="1400" i="1" dirty="0" err="1">
                <a:ea typeface="+mn-lt"/>
                <a:cs typeface="+mn-lt"/>
              </a:rPr>
              <a:t>first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studied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the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list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of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code</a:t>
            </a:r>
            <a:r>
              <a:rPr lang="es-ES" sz="1400" i="1" dirty="0">
                <a:ea typeface="+mn-lt"/>
                <a:cs typeface="+mn-lt"/>
              </a:rPr>
              <a:t> </a:t>
            </a:r>
            <a:r>
              <a:rPr lang="es-ES" sz="1400" i="1" dirty="0" err="1">
                <a:ea typeface="+mn-lt"/>
                <a:cs typeface="+mn-lt"/>
              </a:rPr>
              <a:t>smells</a:t>
            </a:r>
            <a:r>
              <a:rPr lang="es-ES" sz="1400" i="1" dirty="0">
                <a:ea typeface="+mn-lt"/>
                <a:cs typeface="+mn-lt"/>
              </a:rPr>
              <a:t> in </a:t>
            </a:r>
            <a:r>
              <a:rPr lang="es-ES" sz="1400" dirty="0">
                <a:ea typeface="+mn-lt"/>
                <a:cs typeface="+mn-lt"/>
              </a:rPr>
              <a:t>(</a:t>
            </a:r>
            <a:r>
              <a:rPr lang="es-ES" sz="1400" dirty="0" err="1">
                <a:ea typeface="+mn-lt"/>
                <a:cs typeface="+mn-lt"/>
              </a:rPr>
              <a:t>Fowler&amp;Beck</a:t>
            </a:r>
            <a:r>
              <a:rPr lang="es-ES" sz="1400" dirty="0">
                <a:ea typeface="+mn-lt"/>
                <a:cs typeface="+mn-lt"/>
              </a:rPr>
              <a:t>, 2000))</a:t>
            </a:r>
            <a:endParaRPr lang="es-ES" sz="1400" dirty="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84D49F-2C21-1E7C-0C85-D61BC0455A62}"/>
              </a:ext>
            </a:extLst>
          </p:cNvPr>
          <p:cNvSpPr txBox="1"/>
          <p:nvPr/>
        </p:nvSpPr>
        <p:spPr>
          <a:xfrm>
            <a:off x="426934" y="63712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Intimidad inapropiada 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2098950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CA1-18D3-3370-0991-C2DF01AA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A5BA58D-C77E-C169-550F-4C14AB207A01}"/>
              </a:ext>
            </a:extLst>
          </p:cNvPr>
          <p:cNvSpPr txBox="1"/>
          <p:nvPr/>
        </p:nvSpPr>
        <p:spPr>
          <a:xfrm>
            <a:off x="6001301" y="2354707"/>
            <a:ext cx="2749635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…Por favor,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Clean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Code</a:t>
            </a: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… ¡sin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Bad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Smells</a:t>
            </a: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! </a:t>
            </a: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1F180293-DFB6-626A-654B-D4C107CE5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07" y="2024051"/>
            <a:ext cx="5131132" cy="3719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E69DC1F-A2E3-62A8-A055-ACDC50C8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794" y="3429000"/>
            <a:ext cx="1390650" cy="18192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FAC4894-6AE4-3962-F3C1-6FB73959622E}"/>
              </a:ext>
            </a:extLst>
          </p:cNvPr>
          <p:cNvSpPr txBox="1"/>
          <p:nvPr/>
        </p:nvSpPr>
        <p:spPr>
          <a:xfrm>
            <a:off x="426934" y="63712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Intimidad inapropiada </a:t>
            </a:r>
            <a:endParaRPr lang="es-ES" sz="1050" b="1" dirty="0"/>
          </a:p>
        </p:txBody>
      </p:sp>
    </p:spTree>
    <p:extLst>
      <p:ext uri="{BB962C8B-B14F-4D97-AF65-F5344CB8AC3E}">
        <p14:creationId xmlns:p14="http://schemas.microsoft.com/office/powerpoint/2010/main" val="4288839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19846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619846" y="1689945"/>
            <a:ext cx="816306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br>
              <a:rPr lang="en-US" sz="160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s-AR" sz="2000" b="1" dirty="0">
                <a:solidFill>
                  <a:schemeClr val="tx2"/>
                </a:solidFill>
              </a:rPr>
              <a:t>¿Por qué son importantes?</a:t>
            </a:r>
            <a:endParaRPr lang="en-US" sz="2000" b="1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 Identificar y refactorizar los "</a:t>
            </a:r>
            <a:r>
              <a:rPr lang="es-AR" sz="2000" i="1" dirty="0" err="1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bad</a:t>
            </a:r>
            <a:r>
              <a:rPr lang="es-AR" sz="2000" i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s-AR" sz="2000" i="1" dirty="0" err="1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smells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" es crucial para:</a:t>
            </a:r>
            <a:endParaRPr lang="es-AR" sz="20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  <a:ea typeface="+mn-lt"/>
                <a:cs typeface="+mn-lt"/>
              </a:rPr>
              <a:t>Mejorar la legibilidad y comprensión del código:</a:t>
            </a:r>
            <a:r>
              <a:rPr lang="es-AR" sz="20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facilita que otros desarrolladores (y tu yo futuro) entiendan cómo funciona el sistema.</a:t>
            </a:r>
            <a:endParaRPr lang="es-AR" sz="20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  <a:ea typeface="+mn-lt"/>
                <a:cs typeface="+mn-lt"/>
              </a:rPr>
              <a:t>Reducir la complejidad y el mantenimiento:</a:t>
            </a:r>
            <a:r>
              <a:rPr lang="es-AR" sz="20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un código limpio es más fácil de depurar y modificar.</a:t>
            </a:r>
            <a:endParaRPr lang="es-AR" sz="20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  <a:ea typeface="+mn-lt"/>
                <a:cs typeface="+mn-lt"/>
              </a:rPr>
              <a:t>Aumentar la flexibilidad y la escalabilidad</a:t>
            </a:r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: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 permite que </a:t>
            </a:r>
            <a:r>
              <a:rPr lang="es-AR" sz="2000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ea typeface="+mn-lt"/>
                <a:cs typeface="+mn-lt"/>
              </a:rPr>
              <a:t>el </a:t>
            </a:r>
            <a:r>
              <a:rPr lang="es-AR" sz="2000" i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software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 se adapte mejor a nuevos requisitos.</a:t>
            </a:r>
            <a:endParaRPr lang="es-AR" sz="20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  <a:ea typeface="+mn-lt"/>
                <a:cs typeface="+mn-lt"/>
              </a:rPr>
              <a:t>Minimizar los errores:</a:t>
            </a:r>
            <a:r>
              <a:rPr lang="es-AR" sz="20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al reducir la complejidad, se reduce la probabilidad de introducir nuevos fallos.</a:t>
            </a:r>
            <a:endParaRPr lang="es-AR" sz="20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  <a:ea typeface="+mn-lt"/>
                <a:cs typeface="+mn-lt"/>
              </a:rPr>
              <a:t>Fomentar un desarrollo ágil</a:t>
            </a:r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: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 un código maleable es esencial para responder rápidamente a los cambios.</a:t>
            </a:r>
            <a:endParaRPr lang="es-AR" sz="20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endParaRPr lang="es-AR" sz="2800" dirty="0">
              <a:solidFill>
                <a:schemeClr val="accent6">
                  <a:lumMod val="50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44107" y="2373711"/>
            <a:ext cx="4046787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400" dirty="0">
                <a:solidFill>
                  <a:schemeClr val="bg1"/>
                </a:solidFill>
                <a:ea typeface="+mn-lt"/>
                <a:cs typeface="+mn-lt"/>
              </a:rPr>
              <a:t>HSU, S.; CURRIE, A.; y BERGMAN, S. </a:t>
            </a:r>
            <a:r>
              <a:rPr lang="es-ES" sz="2400" i="1" dirty="0">
                <a:solidFill>
                  <a:schemeClr val="bg1"/>
                </a:solidFill>
                <a:ea typeface="+mn-lt"/>
                <a:cs typeface="+mn-lt"/>
              </a:rPr>
              <a:t>Construir software verde: un enfoque sostenible para el desarrollo y la operación de software</a:t>
            </a:r>
            <a:r>
              <a:rPr lang="es-ES" sz="2400" dirty="0">
                <a:solidFill>
                  <a:schemeClr val="bg1"/>
                </a:solidFill>
                <a:ea typeface="+mn-lt"/>
                <a:cs typeface="+mn-lt"/>
              </a:rPr>
              <a:t>. Barcelona: Marcombo,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14EF-1363-B362-87C8-7A9DC725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0EFB1B7-57C0-4D5B-3BF2-E5CD3D30BC4C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¿Preguntas?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750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803CA-FEBB-4A0D-BD4D-E9503F1B167C}">
  <ds:schemaRefs>
    <ds:schemaRef ds:uri="232756c5-2869-4da6-aa3d-6ef32daae75e"/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50</TotalTime>
  <Words>1415</Words>
  <Application>Microsoft Office PowerPoint</Application>
  <PresentationFormat>Panorámica</PresentationFormat>
  <Paragraphs>118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42</vt:i4>
      </vt:variant>
    </vt:vector>
  </HeadingPairs>
  <TitlesOfParts>
    <vt:vector size="45" baseType="lpstr"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360</cp:revision>
  <dcterms:created xsi:type="dcterms:W3CDTF">2022-08-30T18:57:15Z</dcterms:created>
  <dcterms:modified xsi:type="dcterms:W3CDTF">2025-10-14T19:04:34Z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
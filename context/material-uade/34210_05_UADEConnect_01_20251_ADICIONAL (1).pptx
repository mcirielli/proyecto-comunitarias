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  <p:sldMasterId id="2147483660" r:id="rId6"/>
  </p:sldMasterIdLst>
  <p:notesMasterIdLst>
    <p:notesMasterId r:id="rId28"/>
  </p:notesMasterIdLst>
  <p:handoutMasterIdLst>
    <p:handoutMasterId r:id="rId29"/>
  </p:handoutMasterIdLst>
  <p:sldIdLst>
    <p:sldId id="344" r:id="rId7"/>
    <p:sldId id="346" r:id="rId8"/>
    <p:sldId id="258" r:id="rId9"/>
    <p:sldId id="326" r:id="rId10"/>
    <p:sldId id="348" r:id="rId11"/>
    <p:sldId id="347" r:id="rId12"/>
    <p:sldId id="349" r:id="rId13"/>
    <p:sldId id="350" r:id="rId14"/>
    <p:sldId id="367" r:id="rId15"/>
    <p:sldId id="355" r:id="rId16"/>
    <p:sldId id="359" r:id="rId17"/>
    <p:sldId id="358" r:id="rId18"/>
    <p:sldId id="357" r:id="rId19"/>
    <p:sldId id="356" r:id="rId20"/>
    <p:sldId id="368" r:id="rId21"/>
    <p:sldId id="354" r:id="rId22"/>
    <p:sldId id="353" r:id="rId23"/>
    <p:sldId id="365" r:id="rId24"/>
    <p:sldId id="366" r:id="rId25"/>
    <p:sldId id="316" r:id="rId26"/>
    <p:sldId id="27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6308BE-9F29-5AF5-CD97-0C8AB78D4A9F}" v="8" dt="2025-10-22T15:24:03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700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30D0C3-212A-4B4A-9E7D-77D5922B58A0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B00DBC86-AC10-4DD4-8735-5FFB3981DF0A}">
      <dgm:prSet/>
      <dgm:spPr/>
      <dgm:t>
        <a:bodyPr/>
        <a:lstStyle/>
        <a:p>
          <a:r>
            <a:rPr lang="es-ES" b="1"/>
            <a:t>Interface (o clase abstracta) </a:t>
          </a:r>
          <a:r>
            <a:rPr lang="es-ES" b="1" err="1"/>
            <a:t>State</a:t>
          </a:r>
          <a:r>
            <a:rPr lang="es-ES" b="1"/>
            <a:t>:</a:t>
          </a:r>
          <a:endParaRPr lang="es-AR" b="1"/>
        </a:p>
      </dgm:t>
    </dgm:pt>
    <dgm:pt modelId="{69F42820-857B-47D4-84C2-BC02131E3E09}" type="parTrans" cxnId="{A7947B5F-1F4C-4F7C-9A36-EF85C2E0EF5B}">
      <dgm:prSet/>
      <dgm:spPr/>
      <dgm:t>
        <a:bodyPr/>
        <a:lstStyle/>
        <a:p>
          <a:endParaRPr lang="es-AR"/>
        </a:p>
      </dgm:t>
    </dgm:pt>
    <dgm:pt modelId="{D4349AF2-DAC1-450B-8F79-AD86B2D8169F}" type="sibTrans" cxnId="{A7947B5F-1F4C-4F7C-9A36-EF85C2E0EF5B}">
      <dgm:prSet/>
      <dgm:spPr/>
      <dgm:t>
        <a:bodyPr/>
        <a:lstStyle/>
        <a:p>
          <a:endParaRPr lang="es-AR"/>
        </a:p>
      </dgm:t>
    </dgm:pt>
    <dgm:pt modelId="{C40B4B30-8420-4DD2-9147-0D8FDC34FF37}">
      <dgm:prSet/>
      <dgm:spPr/>
      <dgm:t>
        <a:bodyPr/>
        <a:lstStyle/>
        <a:p>
          <a:r>
            <a:rPr lang="es-ES" b="1"/>
            <a:t>Clases de estados concretas:</a:t>
          </a:r>
          <a:endParaRPr lang="es-AR" b="1"/>
        </a:p>
      </dgm:t>
    </dgm:pt>
    <dgm:pt modelId="{13CEB1B9-FCBE-40D0-BF2A-4DCB3F52734F}" type="parTrans" cxnId="{6A13A7C0-A4E4-4E4F-AFFE-0BB39A35CAC6}">
      <dgm:prSet/>
      <dgm:spPr/>
      <dgm:t>
        <a:bodyPr/>
        <a:lstStyle/>
        <a:p>
          <a:endParaRPr lang="es-AR"/>
        </a:p>
      </dgm:t>
    </dgm:pt>
    <dgm:pt modelId="{BA3DB01D-8C9A-4551-A7D5-586988373222}" type="sibTrans" cxnId="{6A13A7C0-A4E4-4E4F-AFFE-0BB39A35CAC6}">
      <dgm:prSet/>
      <dgm:spPr/>
      <dgm:t>
        <a:bodyPr/>
        <a:lstStyle/>
        <a:p>
          <a:endParaRPr lang="es-AR"/>
        </a:p>
      </dgm:t>
    </dgm:pt>
    <dgm:pt modelId="{26085F0C-F1E7-4A5A-B4E3-5ED87BF234AD}">
      <dgm:prSet/>
      <dgm:spPr/>
      <dgm:t>
        <a:bodyPr/>
        <a:lstStyle/>
        <a:p>
          <a:r>
            <a:rPr lang="es-ES" b="1"/>
            <a:t>Contexto:</a:t>
          </a:r>
          <a:endParaRPr lang="es-AR" b="1"/>
        </a:p>
      </dgm:t>
    </dgm:pt>
    <dgm:pt modelId="{4D597FB9-BDBF-4F4B-8E9D-8796F3C35E41}" type="parTrans" cxnId="{BD536436-C398-45F7-AC09-4845981549F2}">
      <dgm:prSet/>
      <dgm:spPr/>
      <dgm:t>
        <a:bodyPr/>
        <a:lstStyle/>
        <a:p>
          <a:endParaRPr lang="es-AR"/>
        </a:p>
      </dgm:t>
    </dgm:pt>
    <dgm:pt modelId="{215798DE-700C-441B-846A-B4FF2D56F8AF}" type="sibTrans" cxnId="{BD536436-C398-45F7-AC09-4845981549F2}">
      <dgm:prSet/>
      <dgm:spPr/>
      <dgm:t>
        <a:bodyPr/>
        <a:lstStyle/>
        <a:p>
          <a:endParaRPr lang="es-AR"/>
        </a:p>
      </dgm:t>
    </dgm:pt>
    <dgm:pt modelId="{1494D07A-B47E-4E1E-A82E-EBEFCE45973B}">
      <dgm:prSet/>
      <dgm:spPr/>
      <dgm:t>
        <a:bodyPr/>
        <a:lstStyle/>
        <a:p>
          <a:r>
            <a:rPr lang="es-ES"/>
            <a:t>Define las firmas de los métodos que dependen del estado del objeto principal.</a:t>
          </a:r>
          <a:endParaRPr lang="es-AR"/>
        </a:p>
      </dgm:t>
    </dgm:pt>
    <dgm:pt modelId="{9384A819-5173-4B7B-AF62-F10FB74B0689}" type="parTrans" cxnId="{41400C71-75D1-461F-A639-B603FC7E0042}">
      <dgm:prSet/>
      <dgm:spPr/>
      <dgm:t>
        <a:bodyPr/>
        <a:lstStyle/>
        <a:p>
          <a:endParaRPr lang="es-AR"/>
        </a:p>
      </dgm:t>
    </dgm:pt>
    <dgm:pt modelId="{AA5FD2D7-42B3-42EF-98F2-ABBBAB52E887}" type="sibTrans" cxnId="{41400C71-75D1-461F-A639-B603FC7E0042}">
      <dgm:prSet/>
      <dgm:spPr/>
      <dgm:t>
        <a:bodyPr/>
        <a:lstStyle/>
        <a:p>
          <a:endParaRPr lang="es-AR"/>
        </a:p>
      </dgm:t>
    </dgm:pt>
    <dgm:pt modelId="{81B98DEC-0374-48B7-A66F-78C39BF42280}">
      <dgm:prSet/>
      <dgm:spPr/>
      <dgm:t>
        <a:bodyPr/>
        <a:lstStyle/>
        <a:p>
          <a:r>
            <a:rPr lang="es-ES"/>
            <a:t>Clases que implementan la interface </a:t>
          </a:r>
          <a:r>
            <a:rPr lang="es-ES" err="1"/>
            <a:t>State</a:t>
          </a:r>
          <a:r>
            <a:rPr lang="es-ES"/>
            <a:t> (o que heredan de ella, si ésta fuera clase abstracta), es decir, que tienen la implementación real de los métodos. Son los estados posibles del objeto principal. </a:t>
          </a:r>
          <a:endParaRPr lang="es-AR"/>
        </a:p>
      </dgm:t>
    </dgm:pt>
    <dgm:pt modelId="{B5890108-521B-4D46-B0FC-D4AD134C2A14}" type="parTrans" cxnId="{18684622-0A2E-4FAF-AEB9-FBC62F400761}">
      <dgm:prSet/>
      <dgm:spPr/>
      <dgm:t>
        <a:bodyPr/>
        <a:lstStyle/>
        <a:p>
          <a:endParaRPr lang="es-AR"/>
        </a:p>
      </dgm:t>
    </dgm:pt>
    <dgm:pt modelId="{FAE2182D-86FD-4741-A170-C87DB4EBE03B}" type="sibTrans" cxnId="{18684622-0A2E-4FAF-AEB9-FBC62F400761}">
      <dgm:prSet/>
      <dgm:spPr/>
      <dgm:t>
        <a:bodyPr/>
        <a:lstStyle/>
        <a:p>
          <a:endParaRPr lang="es-AR"/>
        </a:p>
      </dgm:t>
    </dgm:pt>
    <dgm:pt modelId="{29B2598B-F1F6-4AF4-9152-B5579BBD2F55}">
      <dgm:prSet/>
      <dgm:spPr/>
      <dgm:t>
        <a:bodyPr/>
        <a:lstStyle/>
        <a:p>
          <a:r>
            <a:rPr lang="es-ES"/>
            <a:t>Clase que tiene referencia a la interface/clase abstracta </a:t>
          </a:r>
          <a:r>
            <a:rPr lang="es-ES" err="1"/>
            <a:t>State</a:t>
          </a:r>
          <a:r>
            <a:rPr lang="es-ES"/>
            <a:t>, cuyos objetos van a delegar la responsabilidad de resolución de algunos problemas en el estado. Estos objetos utilizarán de forma polimórfica a los estados. </a:t>
          </a:r>
          <a:endParaRPr lang="es-AR"/>
        </a:p>
      </dgm:t>
    </dgm:pt>
    <dgm:pt modelId="{FE973BC9-E983-47FF-BCC9-A80825466955}" type="parTrans" cxnId="{EDAE68EE-6CD5-4BE8-A5DE-21E6579F0F5D}">
      <dgm:prSet/>
      <dgm:spPr/>
      <dgm:t>
        <a:bodyPr/>
        <a:lstStyle/>
        <a:p>
          <a:endParaRPr lang="es-AR"/>
        </a:p>
      </dgm:t>
    </dgm:pt>
    <dgm:pt modelId="{9CE03DD9-4633-4444-BA68-A847FF6E1ECF}" type="sibTrans" cxnId="{EDAE68EE-6CD5-4BE8-A5DE-21E6579F0F5D}">
      <dgm:prSet/>
      <dgm:spPr/>
      <dgm:t>
        <a:bodyPr/>
        <a:lstStyle/>
        <a:p>
          <a:endParaRPr lang="es-AR"/>
        </a:p>
      </dgm:t>
    </dgm:pt>
    <dgm:pt modelId="{AEFF095A-C1B1-40F6-A0BA-956C4C213012}" type="pres">
      <dgm:prSet presAssocID="{D430D0C3-212A-4B4A-9E7D-77D5922B58A0}" presName="Name0" presStyleCnt="0">
        <dgm:presLayoutVars>
          <dgm:dir/>
          <dgm:animLvl val="lvl"/>
          <dgm:resizeHandles val="exact"/>
        </dgm:presLayoutVars>
      </dgm:prSet>
      <dgm:spPr/>
    </dgm:pt>
    <dgm:pt modelId="{39D4B0E8-E452-4F89-A250-F46FA5F19218}" type="pres">
      <dgm:prSet presAssocID="{B00DBC86-AC10-4DD4-8735-5FFB3981DF0A}" presName="composite" presStyleCnt="0"/>
      <dgm:spPr/>
    </dgm:pt>
    <dgm:pt modelId="{E1D78CDE-9176-49AA-A3CE-14C239EABD8A}" type="pres">
      <dgm:prSet presAssocID="{B00DBC86-AC10-4DD4-8735-5FFB3981DF0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F1DC552-7D4F-4545-AA01-B5967A096102}" type="pres">
      <dgm:prSet presAssocID="{B00DBC86-AC10-4DD4-8735-5FFB3981DF0A}" presName="desTx" presStyleLbl="alignAccFollowNode1" presStyleIdx="0" presStyleCnt="3">
        <dgm:presLayoutVars>
          <dgm:bulletEnabled val="1"/>
        </dgm:presLayoutVars>
      </dgm:prSet>
      <dgm:spPr/>
    </dgm:pt>
    <dgm:pt modelId="{9DE10568-8FB1-4ABC-BE60-135C39DBBDA8}" type="pres">
      <dgm:prSet presAssocID="{D4349AF2-DAC1-450B-8F79-AD86B2D8169F}" presName="space" presStyleCnt="0"/>
      <dgm:spPr/>
    </dgm:pt>
    <dgm:pt modelId="{4DE8FD0B-DE3D-4D77-88E8-F31F3763307A}" type="pres">
      <dgm:prSet presAssocID="{C40B4B30-8420-4DD2-9147-0D8FDC34FF37}" presName="composite" presStyleCnt="0"/>
      <dgm:spPr/>
    </dgm:pt>
    <dgm:pt modelId="{4AD6348D-98F6-48D0-B9C9-606DDF31F7BE}" type="pres">
      <dgm:prSet presAssocID="{C40B4B30-8420-4DD2-9147-0D8FDC34FF3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28CA68B5-6C65-4336-9A35-44B8464432E2}" type="pres">
      <dgm:prSet presAssocID="{C40B4B30-8420-4DD2-9147-0D8FDC34FF37}" presName="desTx" presStyleLbl="alignAccFollowNode1" presStyleIdx="1" presStyleCnt="3">
        <dgm:presLayoutVars>
          <dgm:bulletEnabled val="1"/>
        </dgm:presLayoutVars>
      </dgm:prSet>
      <dgm:spPr/>
    </dgm:pt>
    <dgm:pt modelId="{6F15C907-59B3-41BB-A105-FE5C41E7918B}" type="pres">
      <dgm:prSet presAssocID="{BA3DB01D-8C9A-4551-A7D5-586988373222}" presName="space" presStyleCnt="0"/>
      <dgm:spPr/>
    </dgm:pt>
    <dgm:pt modelId="{D82C6DF5-837A-446B-A45E-526304FB092D}" type="pres">
      <dgm:prSet presAssocID="{26085F0C-F1E7-4A5A-B4E3-5ED87BF234AD}" presName="composite" presStyleCnt="0"/>
      <dgm:spPr/>
    </dgm:pt>
    <dgm:pt modelId="{FC1C84ED-52BE-4986-92F5-B11931EA1C72}" type="pres">
      <dgm:prSet presAssocID="{26085F0C-F1E7-4A5A-B4E3-5ED87BF234A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9BD7E4B-1AD4-4991-AA5A-0153B257FEDE}" type="pres">
      <dgm:prSet presAssocID="{26085F0C-F1E7-4A5A-B4E3-5ED87BF234A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49A971B-1096-47D9-A540-0EB62D06C9E8}" type="presOf" srcId="{26085F0C-F1E7-4A5A-B4E3-5ED87BF234AD}" destId="{FC1C84ED-52BE-4986-92F5-B11931EA1C72}" srcOrd="0" destOrd="0" presId="urn:microsoft.com/office/officeart/2005/8/layout/hList1"/>
    <dgm:cxn modelId="{18684622-0A2E-4FAF-AEB9-FBC62F400761}" srcId="{C40B4B30-8420-4DD2-9147-0D8FDC34FF37}" destId="{81B98DEC-0374-48B7-A66F-78C39BF42280}" srcOrd="0" destOrd="0" parTransId="{B5890108-521B-4D46-B0FC-D4AD134C2A14}" sibTransId="{FAE2182D-86FD-4741-A170-C87DB4EBE03B}"/>
    <dgm:cxn modelId="{AFED142A-7D2F-4D32-8DE8-3CCBAAE58F64}" type="presOf" srcId="{D430D0C3-212A-4B4A-9E7D-77D5922B58A0}" destId="{AEFF095A-C1B1-40F6-A0BA-956C4C213012}" srcOrd="0" destOrd="0" presId="urn:microsoft.com/office/officeart/2005/8/layout/hList1"/>
    <dgm:cxn modelId="{3BE13034-44D2-4A3E-949C-8C6B60BC3429}" type="presOf" srcId="{1494D07A-B47E-4E1E-A82E-EBEFCE45973B}" destId="{DF1DC552-7D4F-4545-AA01-B5967A096102}" srcOrd="0" destOrd="0" presId="urn:microsoft.com/office/officeart/2005/8/layout/hList1"/>
    <dgm:cxn modelId="{BD536436-C398-45F7-AC09-4845981549F2}" srcId="{D430D0C3-212A-4B4A-9E7D-77D5922B58A0}" destId="{26085F0C-F1E7-4A5A-B4E3-5ED87BF234AD}" srcOrd="2" destOrd="0" parTransId="{4D597FB9-BDBF-4F4B-8E9D-8796F3C35E41}" sibTransId="{215798DE-700C-441B-846A-B4FF2D56F8AF}"/>
    <dgm:cxn modelId="{A7947B5F-1F4C-4F7C-9A36-EF85C2E0EF5B}" srcId="{D430D0C3-212A-4B4A-9E7D-77D5922B58A0}" destId="{B00DBC86-AC10-4DD4-8735-5FFB3981DF0A}" srcOrd="0" destOrd="0" parTransId="{69F42820-857B-47D4-84C2-BC02131E3E09}" sibTransId="{D4349AF2-DAC1-450B-8F79-AD86B2D8169F}"/>
    <dgm:cxn modelId="{41400C71-75D1-461F-A639-B603FC7E0042}" srcId="{B00DBC86-AC10-4DD4-8735-5FFB3981DF0A}" destId="{1494D07A-B47E-4E1E-A82E-EBEFCE45973B}" srcOrd="0" destOrd="0" parTransId="{9384A819-5173-4B7B-AF62-F10FB74B0689}" sibTransId="{AA5FD2D7-42B3-42EF-98F2-ABBBAB52E887}"/>
    <dgm:cxn modelId="{8B5C0577-612B-43FB-A8BC-08912E8B28C8}" type="presOf" srcId="{29B2598B-F1F6-4AF4-9152-B5579BBD2F55}" destId="{99BD7E4B-1AD4-4991-AA5A-0153B257FEDE}" srcOrd="0" destOrd="0" presId="urn:microsoft.com/office/officeart/2005/8/layout/hList1"/>
    <dgm:cxn modelId="{22D8339E-FCD2-4771-AB7A-D17C2823115A}" type="presOf" srcId="{81B98DEC-0374-48B7-A66F-78C39BF42280}" destId="{28CA68B5-6C65-4336-9A35-44B8464432E2}" srcOrd="0" destOrd="0" presId="urn:microsoft.com/office/officeart/2005/8/layout/hList1"/>
    <dgm:cxn modelId="{7A4754AE-9688-4F3B-BF9E-171F50263F26}" type="presOf" srcId="{B00DBC86-AC10-4DD4-8735-5FFB3981DF0A}" destId="{E1D78CDE-9176-49AA-A3CE-14C239EABD8A}" srcOrd="0" destOrd="0" presId="urn:microsoft.com/office/officeart/2005/8/layout/hList1"/>
    <dgm:cxn modelId="{6A13A7C0-A4E4-4E4F-AFFE-0BB39A35CAC6}" srcId="{D430D0C3-212A-4B4A-9E7D-77D5922B58A0}" destId="{C40B4B30-8420-4DD2-9147-0D8FDC34FF37}" srcOrd="1" destOrd="0" parTransId="{13CEB1B9-FCBE-40D0-BF2A-4DCB3F52734F}" sibTransId="{BA3DB01D-8C9A-4551-A7D5-586988373222}"/>
    <dgm:cxn modelId="{5EDE98D4-AE55-4997-931F-CACF1EAFF9FB}" type="presOf" srcId="{C40B4B30-8420-4DD2-9147-0D8FDC34FF37}" destId="{4AD6348D-98F6-48D0-B9C9-606DDF31F7BE}" srcOrd="0" destOrd="0" presId="urn:microsoft.com/office/officeart/2005/8/layout/hList1"/>
    <dgm:cxn modelId="{EDAE68EE-6CD5-4BE8-A5DE-21E6579F0F5D}" srcId="{26085F0C-F1E7-4A5A-B4E3-5ED87BF234AD}" destId="{29B2598B-F1F6-4AF4-9152-B5579BBD2F55}" srcOrd="0" destOrd="0" parTransId="{FE973BC9-E983-47FF-BCC9-A80825466955}" sibTransId="{9CE03DD9-4633-4444-BA68-A847FF6E1ECF}"/>
    <dgm:cxn modelId="{15B3F3EE-4D2F-40EA-805E-59DD70EC48A6}" type="presParOf" srcId="{AEFF095A-C1B1-40F6-A0BA-956C4C213012}" destId="{39D4B0E8-E452-4F89-A250-F46FA5F19218}" srcOrd="0" destOrd="0" presId="urn:microsoft.com/office/officeart/2005/8/layout/hList1"/>
    <dgm:cxn modelId="{3A596EDF-D00B-4231-835C-AE91D36028B6}" type="presParOf" srcId="{39D4B0E8-E452-4F89-A250-F46FA5F19218}" destId="{E1D78CDE-9176-49AA-A3CE-14C239EABD8A}" srcOrd="0" destOrd="0" presId="urn:microsoft.com/office/officeart/2005/8/layout/hList1"/>
    <dgm:cxn modelId="{712416E5-7B1D-4EB4-A828-E221D39F4985}" type="presParOf" srcId="{39D4B0E8-E452-4F89-A250-F46FA5F19218}" destId="{DF1DC552-7D4F-4545-AA01-B5967A096102}" srcOrd="1" destOrd="0" presId="urn:microsoft.com/office/officeart/2005/8/layout/hList1"/>
    <dgm:cxn modelId="{B0A14F91-A441-4C2D-BC78-E931CF096C2D}" type="presParOf" srcId="{AEFF095A-C1B1-40F6-A0BA-956C4C213012}" destId="{9DE10568-8FB1-4ABC-BE60-135C39DBBDA8}" srcOrd="1" destOrd="0" presId="urn:microsoft.com/office/officeart/2005/8/layout/hList1"/>
    <dgm:cxn modelId="{3AD17521-86DE-4D36-9EFC-212356A52CBD}" type="presParOf" srcId="{AEFF095A-C1B1-40F6-A0BA-956C4C213012}" destId="{4DE8FD0B-DE3D-4D77-88E8-F31F3763307A}" srcOrd="2" destOrd="0" presId="urn:microsoft.com/office/officeart/2005/8/layout/hList1"/>
    <dgm:cxn modelId="{9101B116-2109-454E-9DB5-9E806CC398D9}" type="presParOf" srcId="{4DE8FD0B-DE3D-4D77-88E8-F31F3763307A}" destId="{4AD6348D-98F6-48D0-B9C9-606DDF31F7BE}" srcOrd="0" destOrd="0" presId="urn:microsoft.com/office/officeart/2005/8/layout/hList1"/>
    <dgm:cxn modelId="{A8F66BDB-493A-4DB1-8E9E-02B8ED0E468B}" type="presParOf" srcId="{4DE8FD0B-DE3D-4D77-88E8-F31F3763307A}" destId="{28CA68B5-6C65-4336-9A35-44B8464432E2}" srcOrd="1" destOrd="0" presId="urn:microsoft.com/office/officeart/2005/8/layout/hList1"/>
    <dgm:cxn modelId="{72DDF2B5-12B8-40C3-B8E1-C13A033CE02D}" type="presParOf" srcId="{AEFF095A-C1B1-40F6-A0BA-956C4C213012}" destId="{6F15C907-59B3-41BB-A105-FE5C41E7918B}" srcOrd="3" destOrd="0" presId="urn:microsoft.com/office/officeart/2005/8/layout/hList1"/>
    <dgm:cxn modelId="{AA56F4C2-0A98-4FCD-8C80-FEA96C6937A8}" type="presParOf" srcId="{AEFF095A-C1B1-40F6-A0BA-956C4C213012}" destId="{D82C6DF5-837A-446B-A45E-526304FB092D}" srcOrd="4" destOrd="0" presId="urn:microsoft.com/office/officeart/2005/8/layout/hList1"/>
    <dgm:cxn modelId="{C448DEEF-FC6C-4A0F-8E64-5DF264C4E0C0}" type="presParOf" srcId="{D82C6DF5-837A-446B-A45E-526304FB092D}" destId="{FC1C84ED-52BE-4986-92F5-B11931EA1C72}" srcOrd="0" destOrd="0" presId="urn:microsoft.com/office/officeart/2005/8/layout/hList1"/>
    <dgm:cxn modelId="{3D8BFA83-B2BE-4BC1-9832-B08820BE1718}" type="presParOf" srcId="{D82C6DF5-837A-446B-A45E-526304FB092D}" destId="{99BD7E4B-1AD4-4991-AA5A-0153B257FED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A5D3E0-C682-47C5-A8EF-86CAE5BCB4AA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3FB615B1-A879-40EF-B341-5B6035E7D02A}">
      <dgm:prSet/>
      <dgm:spPr/>
      <dgm:t>
        <a:bodyPr/>
        <a:lstStyle/>
        <a:p>
          <a:r>
            <a:rPr lang="es-ES" b="1"/>
            <a:t>Interface (o clase abstracta) observable:</a:t>
          </a:r>
          <a:endParaRPr lang="es-AR" b="1"/>
        </a:p>
      </dgm:t>
    </dgm:pt>
    <dgm:pt modelId="{1C41FE58-04B9-414D-A566-E1EA9E6B896F}" type="parTrans" cxnId="{5E83DABB-7D5C-486E-BD12-A3970D34F541}">
      <dgm:prSet/>
      <dgm:spPr/>
      <dgm:t>
        <a:bodyPr/>
        <a:lstStyle/>
        <a:p>
          <a:endParaRPr lang="es-AR"/>
        </a:p>
      </dgm:t>
    </dgm:pt>
    <dgm:pt modelId="{592E14F5-43F1-45D9-A353-3F541B5DDAF5}" type="sibTrans" cxnId="{5E83DABB-7D5C-486E-BD12-A3970D34F541}">
      <dgm:prSet/>
      <dgm:spPr/>
      <dgm:t>
        <a:bodyPr/>
        <a:lstStyle/>
        <a:p>
          <a:endParaRPr lang="es-AR"/>
        </a:p>
      </dgm:t>
    </dgm:pt>
    <dgm:pt modelId="{FB856536-D5A6-4150-9AAE-21A4A4407F4A}">
      <dgm:prSet/>
      <dgm:spPr/>
      <dgm:t>
        <a:bodyPr/>
        <a:lstStyle/>
        <a:p>
          <a:r>
            <a:rPr lang="es-ES" b="1"/>
            <a:t>Sujetos concretos:</a:t>
          </a:r>
          <a:endParaRPr lang="es-AR" b="1"/>
        </a:p>
      </dgm:t>
    </dgm:pt>
    <dgm:pt modelId="{3D356A64-FF52-4B13-B862-E80C091659DE}" type="parTrans" cxnId="{256BEA3A-EA45-4611-87E3-508A9D92769A}">
      <dgm:prSet/>
      <dgm:spPr/>
      <dgm:t>
        <a:bodyPr/>
        <a:lstStyle/>
        <a:p>
          <a:endParaRPr lang="es-AR"/>
        </a:p>
      </dgm:t>
    </dgm:pt>
    <dgm:pt modelId="{F14E2221-D8D1-456A-BD22-2F3AFB42A382}" type="sibTrans" cxnId="{256BEA3A-EA45-4611-87E3-508A9D92769A}">
      <dgm:prSet/>
      <dgm:spPr/>
      <dgm:t>
        <a:bodyPr/>
        <a:lstStyle/>
        <a:p>
          <a:endParaRPr lang="es-AR"/>
        </a:p>
      </dgm:t>
    </dgm:pt>
    <dgm:pt modelId="{880C2081-0013-4518-98DC-906AA30DA2BE}">
      <dgm:prSet/>
      <dgm:spPr/>
      <dgm:t>
        <a:bodyPr/>
        <a:lstStyle/>
        <a:p>
          <a:r>
            <a:rPr lang="es-ES" b="1"/>
            <a:t>Interface </a:t>
          </a:r>
          <a:r>
            <a:rPr lang="es-ES" b="1" err="1"/>
            <a:t>observer</a:t>
          </a:r>
          <a:r>
            <a:rPr lang="es-ES" b="1"/>
            <a:t>:</a:t>
          </a:r>
          <a:endParaRPr lang="es-AR" b="1"/>
        </a:p>
      </dgm:t>
    </dgm:pt>
    <dgm:pt modelId="{C061BF36-DDB1-493E-9DDB-0FFFBAC82B53}" type="parTrans" cxnId="{4934BB71-FA0A-427F-A986-BAB77C2D728A}">
      <dgm:prSet/>
      <dgm:spPr/>
      <dgm:t>
        <a:bodyPr/>
        <a:lstStyle/>
        <a:p>
          <a:endParaRPr lang="es-AR"/>
        </a:p>
      </dgm:t>
    </dgm:pt>
    <dgm:pt modelId="{4C005C1F-3C8F-42C3-9054-4664CC409D2B}" type="sibTrans" cxnId="{4934BB71-FA0A-427F-A986-BAB77C2D728A}">
      <dgm:prSet/>
      <dgm:spPr/>
      <dgm:t>
        <a:bodyPr/>
        <a:lstStyle/>
        <a:p>
          <a:endParaRPr lang="es-AR"/>
        </a:p>
      </dgm:t>
    </dgm:pt>
    <dgm:pt modelId="{EA71E0C3-7273-4F67-A6D5-BB8ACAF8B9F0}">
      <dgm:prSet/>
      <dgm:spPr/>
      <dgm:t>
        <a:bodyPr/>
        <a:lstStyle/>
        <a:p>
          <a:r>
            <a:rPr lang="es-ES" b="1"/>
            <a:t>Observadores concretos:</a:t>
          </a:r>
          <a:endParaRPr lang="es-AR" b="1"/>
        </a:p>
      </dgm:t>
    </dgm:pt>
    <dgm:pt modelId="{B38BE20B-B576-4534-BC69-0904A37E29F2}" type="parTrans" cxnId="{D5C84704-10F0-4B0A-8C8E-DA211B66A579}">
      <dgm:prSet/>
      <dgm:spPr/>
      <dgm:t>
        <a:bodyPr/>
        <a:lstStyle/>
        <a:p>
          <a:endParaRPr lang="es-AR"/>
        </a:p>
      </dgm:t>
    </dgm:pt>
    <dgm:pt modelId="{72D3A314-2672-4EDA-B8E8-ACF7E2D3EF72}" type="sibTrans" cxnId="{D5C84704-10F0-4B0A-8C8E-DA211B66A579}">
      <dgm:prSet/>
      <dgm:spPr/>
      <dgm:t>
        <a:bodyPr/>
        <a:lstStyle/>
        <a:p>
          <a:endParaRPr lang="es-AR"/>
        </a:p>
      </dgm:t>
    </dgm:pt>
    <dgm:pt modelId="{0F229FE9-2521-4B6F-82E3-07D49CA7213B}">
      <dgm:prSet/>
      <dgm:spPr/>
      <dgm:t>
        <a:bodyPr/>
        <a:lstStyle/>
        <a:p>
          <a:r>
            <a:rPr lang="es-ES"/>
            <a:t>Define los mensajes principales que debe entender todo sujeto que permita ser observado. El mensaje </a:t>
          </a:r>
          <a:r>
            <a:rPr lang="es-ES" err="1"/>
            <a:t>más</a:t>
          </a:r>
          <a:r>
            <a:rPr lang="es-ES"/>
            <a:t> importante se denomina “notificar” , el </a:t>
          </a:r>
          <a:r>
            <a:rPr lang="es-ES" err="1"/>
            <a:t>cuál</a:t>
          </a:r>
          <a:r>
            <a:rPr lang="es-ES"/>
            <a:t> llamará a todos los observadores. </a:t>
          </a:r>
          <a:endParaRPr lang="es-AR"/>
        </a:p>
      </dgm:t>
    </dgm:pt>
    <dgm:pt modelId="{5881EB6E-9B58-4CDE-99E4-5DE18AEC690A}" type="parTrans" cxnId="{D25FC700-619F-420B-8272-8DF1E16B86AD}">
      <dgm:prSet/>
      <dgm:spPr/>
      <dgm:t>
        <a:bodyPr/>
        <a:lstStyle/>
        <a:p>
          <a:endParaRPr lang="es-AR"/>
        </a:p>
      </dgm:t>
    </dgm:pt>
    <dgm:pt modelId="{7CCAE9C6-2B32-4BB4-AABC-659B65283DDF}" type="sibTrans" cxnId="{D25FC700-619F-420B-8272-8DF1E16B86AD}">
      <dgm:prSet/>
      <dgm:spPr/>
      <dgm:t>
        <a:bodyPr/>
        <a:lstStyle/>
        <a:p>
          <a:endParaRPr lang="es-AR"/>
        </a:p>
      </dgm:t>
    </dgm:pt>
    <dgm:pt modelId="{CE62A976-6AFF-4F5F-992E-1FAF9B554C78}">
      <dgm:prSet/>
      <dgm:spPr/>
      <dgm:t>
        <a:bodyPr/>
        <a:lstStyle/>
        <a:p>
          <a:r>
            <a:rPr lang="es-ES"/>
            <a:t>Clases que implementan (o “heredan de” , si fuera clase abstracta) la interfaz Observable. Tienen el comportamiento real y eligen </a:t>
          </a:r>
          <a:r>
            <a:rPr lang="es-ES" err="1"/>
            <a:t>cuándo</a:t>
          </a:r>
          <a:r>
            <a:rPr lang="es-ES"/>
            <a:t> enviar notificaciones a sus observadores. </a:t>
          </a:r>
          <a:endParaRPr lang="es-AR"/>
        </a:p>
      </dgm:t>
    </dgm:pt>
    <dgm:pt modelId="{9B494EDF-BC63-43E7-8F08-13F3198BD994}" type="parTrans" cxnId="{6616C91E-4B98-44F7-A590-3B713D0896E3}">
      <dgm:prSet/>
      <dgm:spPr/>
      <dgm:t>
        <a:bodyPr/>
        <a:lstStyle/>
        <a:p>
          <a:endParaRPr lang="es-AR"/>
        </a:p>
      </dgm:t>
    </dgm:pt>
    <dgm:pt modelId="{7D5D10DC-48A8-470C-91B4-41302E713D41}" type="sibTrans" cxnId="{6616C91E-4B98-44F7-A590-3B713D0896E3}">
      <dgm:prSet/>
      <dgm:spPr/>
      <dgm:t>
        <a:bodyPr/>
        <a:lstStyle/>
        <a:p>
          <a:endParaRPr lang="es-AR"/>
        </a:p>
      </dgm:t>
    </dgm:pt>
    <dgm:pt modelId="{E82FB644-6FAE-4A05-97EE-4E14F61B00A9}">
      <dgm:prSet/>
      <dgm:spPr/>
      <dgm:t>
        <a:bodyPr/>
        <a:lstStyle/>
        <a:p>
          <a:r>
            <a:rPr lang="es-ES"/>
            <a:t>Define el </a:t>
          </a:r>
          <a:r>
            <a:rPr lang="es-ES" err="1"/>
            <a:t>método</a:t>
          </a:r>
          <a:r>
            <a:rPr lang="es-ES"/>
            <a:t> que </a:t>
          </a:r>
          <a:r>
            <a:rPr lang="es-ES" err="1"/>
            <a:t>llamarán</a:t>
          </a:r>
          <a:r>
            <a:rPr lang="es-ES"/>
            <a:t> los observables cuando </a:t>
          </a:r>
          <a:r>
            <a:rPr lang="es-ES" err="1"/>
            <a:t>éstos</a:t>
          </a:r>
          <a:r>
            <a:rPr lang="es-ES"/>
            <a:t> quieran notificar sobre algo. </a:t>
          </a:r>
          <a:endParaRPr lang="es-AR"/>
        </a:p>
      </dgm:t>
    </dgm:pt>
    <dgm:pt modelId="{327E64B2-3055-4372-9442-E34A6C595DA1}" type="parTrans" cxnId="{AEC7C5D7-5F7B-4B9F-8FD2-22B4403A788F}">
      <dgm:prSet/>
      <dgm:spPr/>
      <dgm:t>
        <a:bodyPr/>
        <a:lstStyle/>
        <a:p>
          <a:endParaRPr lang="es-AR"/>
        </a:p>
      </dgm:t>
    </dgm:pt>
    <dgm:pt modelId="{59979ACB-B301-4A50-A256-9004D609C964}" type="sibTrans" cxnId="{AEC7C5D7-5F7B-4B9F-8FD2-22B4403A788F}">
      <dgm:prSet/>
      <dgm:spPr/>
      <dgm:t>
        <a:bodyPr/>
        <a:lstStyle/>
        <a:p>
          <a:endParaRPr lang="es-AR"/>
        </a:p>
      </dgm:t>
    </dgm:pt>
    <dgm:pt modelId="{F56E43BF-2F15-430B-AD65-9718C11CFB55}">
      <dgm:prSet/>
      <dgm:spPr/>
      <dgm:t>
        <a:bodyPr/>
        <a:lstStyle/>
        <a:p>
          <a:r>
            <a:rPr lang="es-ES"/>
            <a:t>Clases que implementan la interfaz </a:t>
          </a:r>
          <a:r>
            <a:rPr lang="es-ES" err="1"/>
            <a:t>Observer</a:t>
          </a:r>
          <a:r>
            <a:rPr lang="es-ES"/>
            <a:t>, cuyos objetos </a:t>
          </a:r>
          <a:r>
            <a:rPr lang="es-ES" err="1"/>
            <a:t>actúan</a:t>
          </a:r>
          <a:r>
            <a:rPr lang="es-ES"/>
            <a:t> cuando los observables los llaman.</a:t>
          </a:r>
          <a:endParaRPr lang="es-AR"/>
        </a:p>
      </dgm:t>
    </dgm:pt>
    <dgm:pt modelId="{0C2F7B49-064B-4F62-A478-C487148BAF46}" type="parTrans" cxnId="{9A2D48B1-F359-4BC7-9C98-52BF11AB4019}">
      <dgm:prSet/>
      <dgm:spPr/>
      <dgm:t>
        <a:bodyPr/>
        <a:lstStyle/>
        <a:p>
          <a:endParaRPr lang="es-AR"/>
        </a:p>
      </dgm:t>
    </dgm:pt>
    <dgm:pt modelId="{29004585-5D41-41D1-B7E0-48E5F2CA55C0}" type="sibTrans" cxnId="{9A2D48B1-F359-4BC7-9C98-52BF11AB4019}">
      <dgm:prSet/>
      <dgm:spPr/>
      <dgm:t>
        <a:bodyPr/>
        <a:lstStyle/>
        <a:p>
          <a:endParaRPr lang="es-AR"/>
        </a:p>
      </dgm:t>
    </dgm:pt>
    <dgm:pt modelId="{F8F96A19-CB6F-4D69-9B07-DE4C5166712B}" type="pres">
      <dgm:prSet presAssocID="{19A5D3E0-C682-47C5-A8EF-86CAE5BCB4AA}" presName="Name0" presStyleCnt="0">
        <dgm:presLayoutVars>
          <dgm:dir/>
          <dgm:animLvl val="lvl"/>
          <dgm:resizeHandles val="exact"/>
        </dgm:presLayoutVars>
      </dgm:prSet>
      <dgm:spPr/>
    </dgm:pt>
    <dgm:pt modelId="{483E2A97-DF8A-4DD6-BC67-9FFD21DF33CF}" type="pres">
      <dgm:prSet presAssocID="{3FB615B1-A879-40EF-B341-5B6035E7D02A}" presName="composite" presStyleCnt="0"/>
      <dgm:spPr/>
    </dgm:pt>
    <dgm:pt modelId="{7D94B012-6778-471E-8D49-1476FD104A59}" type="pres">
      <dgm:prSet presAssocID="{3FB615B1-A879-40EF-B341-5B6035E7D02A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1E11D518-1FAD-4027-A06A-2E18CA009E90}" type="pres">
      <dgm:prSet presAssocID="{3FB615B1-A879-40EF-B341-5B6035E7D02A}" presName="desTx" presStyleLbl="alignAccFollowNode1" presStyleIdx="0" presStyleCnt="4">
        <dgm:presLayoutVars>
          <dgm:bulletEnabled val="1"/>
        </dgm:presLayoutVars>
      </dgm:prSet>
      <dgm:spPr/>
    </dgm:pt>
    <dgm:pt modelId="{E31D5586-9E3E-4707-8CE2-CA0EAB2DC2DB}" type="pres">
      <dgm:prSet presAssocID="{592E14F5-43F1-45D9-A353-3F541B5DDAF5}" presName="space" presStyleCnt="0"/>
      <dgm:spPr/>
    </dgm:pt>
    <dgm:pt modelId="{F861F0FD-F3F9-4A18-92F7-5F2825917606}" type="pres">
      <dgm:prSet presAssocID="{FB856536-D5A6-4150-9AAE-21A4A4407F4A}" presName="composite" presStyleCnt="0"/>
      <dgm:spPr/>
    </dgm:pt>
    <dgm:pt modelId="{251B2B21-7D66-428B-9A4F-C1E6C668EDD8}" type="pres">
      <dgm:prSet presAssocID="{FB856536-D5A6-4150-9AAE-21A4A4407F4A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0B8D71E-1273-46F8-B51B-65E5D64FFD85}" type="pres">
      <dgm:prSet presAssocID="{FB856536-D5A6-4150-9AAE-21A4A4407F4A}" presName="desTx" presStyleLbl="alignAccFollowNode1" presStyleIdx="1" presStyleCnt="4">
        <dgm:presLayoutVars>
          <dgm:bulletEnabled val="1"/>
        </dgm:presLayoutVars>
      </dgm:prSet>
      <dgm:spPr/>
    </dgm:pt>
    <dgm:pt modelId="{3DF34EB0-46CF-465E-BE4D-05418FD8B305}" type="pres">
      <dgm:prSet presAssocID="{F14E2221-D8D1-456A-BD22-2F3AFB42A382}" presName="space" presStyleCnt="0"/>
      <dgm:spPr/>
    </dgm:pt>
    <dgm:pt modelId="{50FEFE51-4B72-48E0-AB1A-06AABD0CDAAD}" type="pres">
      <dgm:prSet presAssocID="{880C2081-0013-4518-98DC-906AA30DA2BE}" presName="composite" presStyleCnt="0"/>
      <dgm:spPr/>
    </dgm:pt>
    <dgm:pt modelId="{DEB72385-8557-4666-A304-E60236BBA7E0}" type="pres">
      <dgm:prSet presAssocID="{880C2081-0013-4518-98DC-906AA30DA2BE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60F58C1E-5816-46EA-B169-EB3637DC93AD}" type="pres">
      <dgm:prSet presAssocID="{880C2081-0013-4518-98DC-906AA30DA2BE}" presName="desTx" presStyleLbl="alignAccFollowNode1" presStyleIdx="2" presStyleCnt="4">
        <dgm:presLayoutVars>
          <dgm:bulletEnabled val="1"/>
        </dgm:presLayoutVars>
      </dgm:prSet>
      <dgm:spPr/>
    </dgm:pt>
    <dgm:pt modelId="{796FC009-3DBD-4C38-B655-9181D8014C0B}" type="pres">
      <dgm:prSet presAssocID="{4C005C1F-3C8F-42C3-9054-4664CC409D2B}" presName="space" presStyleCnt="0"/>
      <dgm:spPr/>
    </dgm:pt>
    <dgm:pt modelId="{75310E51-B7D8-4FCC-AB6F-2160800C5002}" type="pres">
      <dgm:prSet presAssocID="{EA71E0C3-7273-4F67-A6D5-BB8ACAF8B9F0}" presName="composite" presStyleCnt="0"/>
      <dgm:spPr/>
    </dgm:pt>
    <dgm:pt modelId="{744D3191-98AC-46B6-B14D-03EBC5C1AEDA}" type="pres">
      <dgm:prSet presAssocID="{EA71E0C3-7273-4F67-A6D5-BB8ACAF8B9F0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5607EAA-F21D-4A56-8A00-347E18853C0B}" type="pres">
      <dgm:prSet presAssocID="{EA71E0C3-7273-4F67-A6D5-BB8ACAF8B9F0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D25FC700-619F-420B-8272-8DF1E16B86AD}" srcId="{3FB615B1-A879-40EF-B341-5B6035E7D02A}" destId="{0F229FE9-2521-4B6F-82E3-07D49CA7213B}" srcOrd="0" destOrd="0" parTransId="{5881EB6E-9B58-4CDE-99E4-5DE18AEC690A}" sibTransId="{7CCAE9C6-2B32-4BB4-AABC-659B65283DDF}"/>
    <dgm:cxn modelId="{D5C84704-10F0-4B0A-8C8E-DA211B66A579}" srcId="{19A5D3E0-C682-47C5-A8EF-86CAE5BCB4AA}" destId="{EA71E0C3-7273-4F67-A6D5-BB8ACAF8B9F0}" srcOrd="3" destOrd="0" parTransId="{B38BE20B-B576-4534-BC69-0904A37E29F2}" sibTransId="{72D3A314-2672-4EDA-B8E8-ACF7E2D3EF72}"/>
    <dgm:cxn modelId="{6616C91E-4B98-44F7-A590-3B713D0896E3}" srcId="{FB856536-D5A6-4150-9AAE-21A4A4407F4A}" destId="{CE62A976-6AFF-4F5F-992E-1FAF9B554C78}" srcOrd="0" destOrd="0" parTransId="{9B494EDF-BC63-43E7-8F08-13F3198BD994}" sibTransId="{7D5D10DC-48A8-470C-91B4-41302E713D41}"/>
    <dgm:cxn modelId="{256BEA3A-EA45-4611-87E3-508A9D92769A}" srcId="{19A5D3E0-C682-47C5-A8EF-86CAE5BCB4AA}" destId="{FB856536-D5A6-4150-9AAE-21A4A4407F4A}" srcOrd="1" destOrd="0" parTransId="{3D356A64-FF52-4B13-B862-E80C091659DE}" sibTransId="{F14E2221-D8D1-456A-BD22-2F3AFB42A382}"/>
    <dgm:cxn modelId="{2EF01240-C2D5-4A9F-9179-64E024BFC844}" type="presOf" srcId="{E82FB644-6FAE-4A05-97EE-4E14F61B00A9}" destId="{60F58C1E-5816-46EA-B169-EB3637DC93AD}" srcOrd="0" destOrd="0" presId="urn:microsoft.com/office/officeart/2005/8/layout/hList1"/>
    <dgm:cxn modelId="{E7CFC84E-DE20-41C4-8342-9A8E7D7F4218}" type="presOf" srcId="{880C2081-0013-4518-98DC-906AA30DA2BE}" destId="{DEB72385-8557-4666-A304-E60236BBA7E0}" srcOrd="0" destOrd="0" presId="urn:microsoft.com/office/officeart/2005/8/layout/hList1"/>
    <dgm:cxn modelId="{4934BB71-FA0A-427F-A986-BAB77C2D728A}" srcId="{19A5D3E0-C682-47C5-A8EF-86CAE5BCB4AA}" destId="{880C2081-0013-4518-98DC-906AA30DA2BE}" srcOrd="2" destOrd="0" parTransId="{C061BF36-DDB1-493E-9DDB-0FFFBAC82B53}" sibTransId="{4C005C1F-3C8F-42C3-9054-4664CC409D2B}"/>
    <dgm:cxn modelId="{F8660C75-0F24-4A0C-9508-B915AB0F0074}" type="presOf" srcId="{0F229FE9-2521-4B6F-82E3-07D49CA7213B}" destId="{1E11D518-1FAD-4027-A06A-2E18CA009E90}" srcOrd="0" destOrd="0" presId="urn:microsoft.com/office/officeart/2005/8/layout/hList1"/>
    <dgm:cxn modelId="{B470597C-7554-4B8C-8538-F325F3406A45}" type="presOf" srcId="{F56E43BF-2F15-430B-AD65-9718C11CFB55}" destId="{75607EAA-F21D-4A56-8A00-347E18853C0B}" srcOrd="0" destOrd="0" presId="urn:microsoft.com/office/officeart/2005/8/layout/hList1"/>
    <dgm:cxn modelId="{A58E4485-F378-49BB-B890-06395295F1C6}" type="presOf" srcId="{CE62A976-6AFF-4F5F-992E-1FAF9B554C78}" destId="{10B8D71E-1273-46F8-B51B-65E5D64FFD85}" srcOrd="0" destOrd="0" presId="urn:microsoft.com/office/officeart/2005/8/layout/hList1"/>
    <dgm:cxn modelId="{84022D8D-30E3-466B-AC8A-FBAA534FB185}" type="presOf" srcId="{FB856536-D5A6-4150-9AAE-21A4A4407F4A}" destId="{251B2B21-7D66-428B-9A4F-C1E6C668EDD8}" srcOrd="0" destOrd="0" presId="urn:microsoft.com/office/officeart/2005/8/layout/hList1"/>
    <dgm:cxn modelId="{3E083296-174C-4EA4-A32D-998F1C433322}" type="presOf" srcId="{3FB615B1-A879-40EF-B341-5B6035E7D02A}" destId="{7D94B012-6778-471E-8D49-1476FD104A59}" srcOrd="0" destOrd="0" presId="urn:microsoft.com/office/officeart/2005/8/layout/hList1"/>
    <dgm:cxn modelId="{9A2D48B1-F359-4BC7-9C98-52BF11AB4019}" srcId="{EA71E0C3-7273-4F67-A6D5-BB8ACAF8B9F0}" destId="{F56E43BF-2F15-430B-AD65-9718C11CFB55}" srcOrd="0" destOrd="0" parTransId="{0C2F7B49-064B-4F62-A478-C487148BAF46}" sibTransId="{29004585-5D41-41D1-B7E0-48E5F2CA55C0}"/>
    <dgm:cxn modelId="{5E83DABB-7D5C-486E-BD12-A3970D34F541}" srcId="{19A5D3E0-C682-47C5-A8EF-86CAE5BCB4AA}" destId="{3FB615B1-A879-40EF-B341-5B6035E7D02A}" srcOrd="0" destOrd="0" parTransId="{1C41FE58-04B9-414D-A566-E1EA9E6B896F}" sibTransId="{592E14F5-43F1-45D9-A353-3F541B5DDAF5}"/>
    <dgm:cxn modelId="{E76C7FCA-875D-42EA-ABE8-FB8DB1C6BABC}" type="presOf" srcId="{19A5D3E0-C682-47C5-A8EF-86CAE5BCB4AA}" destId="{F8F96A19-CB6F-4D69-9B07-DE4C5166712B}" srcOrd="0" destOrd="0" presId="urn:microsoft.com/office/officeart/2005/8/layout/hList1"/>
    <dgm:cxn modelId="{AEC7C5D7-5F7B-4B9F-8FD2-22B4403A788F}" srcId="{880C2081-0013-4518-98DC-906AA30DA2BE}" destId="{E82FB644-6FAE-4A05-97EE-4E14F61B00A9}" srcOrd="0" destOrd="0" parTransId="{327E64B2-3055-4372-9442-E34A6C595DA1}" sibTransId="{59979ACB-B301-4A50-A256-9004D609C964}"/>
    <dgm:cxn modelId="{8B16A8FB-570E-4D8E-8339-02DEEC9448DF}" type="presOf" srcId="{EA71E0C3-7273-4F67-A6D5-BB8ACAF8B9F0}" destId="{744D3191-98AC-46B6-B14D-03EBC5C1AEDA}" srcOrd="0" destOrd="0" presId="urn:microsoft.com/office/officeart/2005/8/layout/hList1"/>
    <dgm:cxn modelId="{F585FE1C-F30F-4432-8C57-FC53C7296E5D}" type="presParOf" srcId="{F8F96A19-CB6F-4D69-9B07-DE4C5166712B}" destId="{483E2A97-DF8A-4DD6-BC67-9FFD21DF33CF}" srcOrd="0" destOrd="0" presId="urn:microsoft.com/office/officeart/2005/8/layout/hList1"/>
    <dgm:cxn modelId="{1F5FBC6D-57EA-42F0-A9E1-37935DCCE0C2}" type="presParOf" srcId="{483E2A97-DF8A-4DD6-BC67-9FFD21DF33CF}" destId="{7D94B012-6778-471E-8D49-1476FD104A59}" srcOrd="0" destOrd="0" presId="urn:microsoft.com/office/officeart/2005/8/layout/hList1"/>
    <dgm:cxn modelId="{11117B4C-3298-4A80-AA8A-3414C6565462}" type="presParOf" srcId="{483E2A97-DF8A-4DD6-BC67-9FFD21DF33CF}" destId="{1E11D518-1FAD-4027-A06A-2E18CA009E90}" srcOrd="1" destOrd="0" presId="urn:microsoft.com/office/officeart/2005/8/layout/hList1"/>
    <dgm:cxn modelId="{90BC5334-FA2D-4A7B-B316-1F88D5574855}" type="presParOf" srcId="{F8F96A19-CB6F-4D69-9B07-DE4C5166712B}" destId="{E31D5586-9E3E-4707-8CE2-CA0EAB2DC2DB}" srcOrd="1" destOrd="0" presId="urn:microsoft.com/office/officeart/2005/8/layout/hList1"/>
    <dgm:cxn modelId="{AF8D6605-6640-4F03-9EC2-2D8462F22173}" type="presParOf" srcId="{F8F96A19-CB6F-4D69-9B07-DE4C5166712B}" destId="{F861F0FD-F3F9-4A18-92F7-5F2825917606}" srcOrd="2" destOrd="0" presId="urn:microsoft.com/office/officeart/2005/8/layout/hList1"/>
    <dgm:cxn modelId="{F23BB0B6-043B-41EE-9B13-2FB0B926FEB9}" type="presParOf" srcId="{F861F0FD-F3F9-4A18-92F7-5F2825917606}" destId="{251B2B21-7D66-428B-9A4F-C1E6C668EDD8}" srcOrd="0" destOrd="0" presId="urn:microsoft.com/office/officeart/2005/8/layout/hList1"/>
    <dgm:cxn modelId="{0E3E2D88-F664-4FD0-B07B-4917EBB18702}" type="presParOf" srcId="{F861F0FD-F3F9-4A18-92F7-5F2825917606}" destId="{10B8D71E-1273-46F8-B51B-65E5D64FFD85}" srcOrd="1" destOrd="0" presId="urn:microsoft.com/office/officeart/2005/8/layout/hList1"/>
    <dgm:cxn modelId="{DF22B90B-C5D5-402C-ADE2-9E08D0BC5D1F}" type="presParOf" srcId="{F8F96A19-CB6F-4D69-9B07-DE4C5166712B}" destId="{3DF34EB0-46CF-465E-BE4D-05418FD8B305}" srcOrd="3" destOrd="0" presId="urn:microsoft.com/office/officeart/2005/8/layout/hList1"/>
    <dgm:cxn modelId="{668F120B-E6AA-497E-9093-25E8F2FD6812}" type="presParOf" srcId="{F8F96A19-CB6F-4D69-9B07-DE4C5166712B}" destId="{50FEFE51-4B72-48E0-AB1A-06AABD0CDAAD}" srcOrd="4" destOrd="0" presId="urn:microsoft.com/office/officeart/2005/8/layout/hList1"/>
    <dgm:cxn modelId="{D2E31CF8-28F7-48AC-9C70-608085CFA578}" type="presParOf" srcId="{50FEFE51-4B72-48E0-AB1A-06AABD0CDAAD}" destId="{DEB72385-8557-4666-A304-E60236BBA7E0}" srcOrd="0" destOrd="0" presId="urn:microsoft.com/office/officeart/2005/8/layout/hList1"/>
    <dgm:cxn modelId="{6AF61DE8-A1D1-43B3-9B04-4791F4EBC980}" type="presParOf" srcId="{50FEFE51-4B72-48E0-AB1A-06AABD0CDAAD}" destId="{60F58C1E-5816-46EA-B169-EB3637DC93AD}" srcOrd="1" destOrd="0" presId="urn:microsoft.com/office/officeart/2005/8/layout/hList1"/>
    <dgm:cxn modelId="{654A6041-BEED-4A92-9C15-2BDDD417E5FD}" type="presParOf" srcId="{F8F96A19-CB6F-4D69-9B07-DE4C5166712B}" destId="{796FC009-3DBD-4C38-B655-9181D8014C0B}" srcOrd="5" destOrd="0" presId="urn:microsoft.com/office/officeart/2005/8/layout/hList1"/>
    <dgm:cxn modelId="{65462373-F81B-4E97-BBB5-6078049A6C8A}" type="presParOf" srcId="{F8F96A19-CB6F-4D69-9B07-DE4C5166712B}" destId="{75310E51-B7D8-4FCC-AB6F-2160800C5002}" srcOrd="6" destOrd="0" presId="urn:microsoft.com/office/officeart/2005/8/layout/hList1"/>
    <dgm:cxn modelId="{C5E29303-A184-4B74-92DD-E8F802708354}" type="presParOf" srcId="{75310E51-B7D8-4FCC-AB6F-2160800C5002}" destId="{744D3191-98AC-46B6-B14D-03EBC5C1AEDA}" srcOrd="0" destOrd="0" presId="urn:microsoft.com/office/officeart/2005/8/layout/hList1"/>
    <dgm:cxn modelId="{57EC0D78-B2B3-4BF7-B4C1-BD6932FD087A}" type="presParOf" srcId="{75310E51-B7D8-4FCC-AB6F-2160800C5002}" destId="{75607EAA-F21D-4A56-8A00-347E18853C0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78CDE-9176-49AA-A3CE-14C239EABD8A}">
      <dsp:nvSpPr>
        <dsp:cNvPr id="0" name=""/>
        <dsp:cNvSpPr/>
      </dsp:nvSpPr>
      <dsp:spPr>
        <a:xfrm>
          <a:off x="2676" y="160540"/>
          <a:ext cx="2609364" cy="62813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kern="1200"/>
            <a:t>Interface (o clase abstracta) </a:t>
          </a:r>
          <a:r>
            <a:rPr lang="es-ES" sz="1700" b="1" kern="1200" err="1"/>
            <a:t>State</a:t>
          </a:r>
          <a:r>
            <a:rPr lang="es-ES" sz="1700" b="1" kern="1200"/>
            <a:t>:</a:t>
          </a:r>
          <a:endParaRPr lang="es-AR" sz="1700" b="1" kern="1200"/>
        </a:p>
      </dsp:txBody>
      <dsp:txXfrm>
        <a:off x="2676" y="160540"/>
        <a:ext cx="2609364" cy="628136"/>
      </dsp:txXfrm>
    </dsp:sp>
    <dsp:sp modelId="{DF1DC552-7D4F-4545-AA01-B5967A096102}">
      <dsp:nvSpPr>
        <dsp:cNvPr id="0" name=""/>
        <dsp:cNvSpPr/>
      </dsp:nvSpPr>
      <dsp:spPr>
        <a:xfrm>
          <a:off x="2676" y="788676"/>
          <a:ext cx="2609364" cy="290052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/>
            <a:t>Define las firmas de los métodos que dependen del estado del objeto principal.</a:t>
          </a:r>
          <a:endParaRPr lang="es-AR" sz="1700" kern="1200"/>
        </a:p>
      </dsp:txBody>
      <dsp:txXfrm>
        <a:off x="2676" y="788676"/>
        <a:ext cx="2609364" cy="2900521"/>
      </dsp:txXfrm>
    </dsp:sp>
    <dsp:sp modelId="{4AD6348D-98F6-48D0-B9C9-606DDF31F7BE}">
      <dsp:nvSpPr>
        <dsp:cNvPr id="0" name=""/>
        <dsp:cNvSpPr/>
      </dsp:nvSpPr>
      <dsp:spPr>
        <a:xfrm>
          <a:off x="2977352" y="160540"/>
          <a:ext cx="2609364" cy="628136"/>
        </a:xfrm>
        <a:prstGeom prst="rect">
          <a:avLst/>
        </a:prstGeom>
        <a:solidFill>
          <a:schemeClr val="accent4">
            <a:hueOff val="522610"/>
            <a:satOff val="3866"/>
            <a:lumOff val="-1079"/>
            <a:alphaOff val="0"/>
          </a:schemeClr>
        </a:solidFill>
        <a:ln w="12700" cap="flat" cmpd="sng" algn="ctr">
          <a:solidFill>
            <a:schemeClr val="accent4">
              <a:hueOff val="522610"/>
              <a:satOff val="3866"/>
              <a:lumOff val="-10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kern="1200"/>
            <a:t>Clases de estados concretas:</a:t>
          </a:r>
          <a:endParaRPr lang="es-AR" sz="1700" b="1" kern="1200"/>
        </a:p>
      </dsp:txBody>
      <dsp:txXfrm>
        <a:off x="2977352" y="160540"/>
        <a:ext cx="2609364" cy="628136"/>
      </dsp:txXfrm>
    </dsp:sp>
    <dsp:sp modelId="{28CA68B5-6C65-4336-9A35-44B8464432E2}">
      <dsp:nvSpPr>
        <dsp:cNvPr id="0" name=""/>
        <dsp:cNvSpPr/>
      </dsp:nvSpPr>
      <dsp:spPr>
        <a:xfrm>
          <a:off x="2977352" y="788676"/>
          <a:ext cx="2609364" cy="2900521"/>
        </a:xfrm>
        <a:prstGeom prst="rect">
          <a:avLst/>
        </a:prstGeom>
        <a:solidFill>
          <a:schemeClr val="accent4">
            <a:tint val="40000"/>
            <a:alpha val="90000"/>
            <a:hueOff val="476378"/>
            <a:satOff val="4702"/>
            <a:lumOff val="234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476378"/>
              <a:satOff val="4702"/>
              <a:lumOff val="2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/>
            <a:t>Clases que implementan la interface </a:t>
          </a:r>
          <a:r>
            <a:rPr lang="es-ES" sz="1700" kern="1200" err="1"/>
            <a:t>State</a:t>
          </a:r>
          <a:r>
            <a:rPr lang="es-ES" sz="1700" kern="1200"/>
            <a:t> (o que heredan de ella, si ésta fuera clase abstracta), es decir, que tienen la implementación real de los métodos. Son los estados posibles del objeto principal. </a:t>
          </a:r>
          <a:endParaRPr lang="es-AR" sz="1700" kern="1200"/>
        </a:p>
      </dsp:txBody>
      <dsp:txXfrm>
        <a:off x="2977352" y="788676"/>
        <a:ext cx="2609364" cy="2900521"/>
      </dsp:txXfrm>
    </dsp:sp>
    <dsp:sp modelId="{FC1C84ED-52BE-4986-92F5-B11931EA1C72}">
      <dsp:nvSpPr>
        <dsp:cNvPr id="0" name=""/>
        <dsp:cNvSpPr/>
      </dsp:nvSpPr>
      <dsp:spPr>
        <a:xfrm>
          <a:off x="5952027" y="160540"/>
          <a:ext cx="2609364" cy="628136"/>
        </a:xfrm>
        <a:prstGeom prst="rect">
          <a:avLst/>
        </a:prstGeom>
        <a:solidFill>
          <a:schemeClr val="accent4">
            <a:hueOff val="1045220"/>
            <a:satOff val="7733"/>
            <a:lumOff val="-2159"/>
            <a:alphaOff val="0"/>
          </a:schemeClr>
        </a:solidFill>
        <a:ln w="12700" cap="flat" cmpd="sng" algn="ctr">
          <a:solidFill>
            <a:schemeClr val="accent4">
              <a:hueOff val="1045220"/>
              <a:satOff val="7733"/>
              <a:lumOff val="-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kern="1200"/>
            <a:t>Contexto:</a:t>
          </a:r>
          <a:endParaRPr lang="es-AR" sz="1700" b="1" kern="1200"/>
        </a:p>
      </dsp:txBody>
      <dsp:txXfrm>
        <a:off x="5952027" y="160540"/>
        <a:ext cx="2609364" cy="628136"/>
      </dsp:txXfrm>
    </dsp:sp>
    <dsp:sp modelId="{99BD7E4B-1AD4-4991-AA5A-0153B257FEDE}">
      <dsp:nvSpPr>
        <dsp:cNvPr id="0" name=""/>
        <dsp:cNvSpPr/>
      </dsp:nvSpPr>
      <dsp:spPr>
        <a:xfrm>
          <a:off x="5952027" y="788676"/>
          <a:ext cx="2609364" cy="2900521"/>
        </a:xfrm>
        <a:prstGeom prst="rect">
          <a:avLst/>
        </a:prstGeom>
        <a:solidFill>
          <a:schemeClr val="accent4">
            <a:tint val="40000"/>
            <a:alpha val="90000"/>
            <a:hueOff val="952756"/>
            <a:satOff val="9403"/>
            <a:lumOff val="468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952756"/>
              <a:satOff val="9403"/>
              <a:lumOff val="4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/>
            <a:t>Clase que tiene referencia a la interface/clase abstracta </a:t>
          </a:r>
          <a:r>
            <a:rPr lang="es-ES" sz="1700" kern="1200" err="1"/>
            <a:t>State</a:t>
          </a:r>
          <a:r>
            <a:rPr lang="es-ES" sz="1700" kern="1200"/>
            <a:t>, cuyos objetos van a delegar la responsabilidad de resolución de algunos problemas en el estado. Estos objetos utilizarán de forma polimórfica a los estados. </a:t>
          </a:r>
          <a:endParaRPr lang="es-AR" sz="1700" kern="1200"/>
        </a:p>
      </dsp:txBody>
      <dsp:txXfrm>
        <a:off x="5952027" y="788676"/>
        <a:ext cx="2609364" cy="29005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94B012-6778-471E-8D49-1476FD104A59}">
      <dsp:nvSpPr>
        <dsp:cNvPr id="0" name=""/>
        <dsp:cNvSpPr/>
      </dsp:nvSpPr>
      <dsp:spPr>
        <a:xfrm>
          <a:off x="3273" y="352354"/>
          <a:ext cx="1968093" cy="7539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/>
            <a:t>Interface (o clase abstracta) observable:</a:t>
          </a:r>
          <a:endParaRPr lang="es-AR" sz="1500" b="1" kern="1200"/>
        </a:p>
      </dsp:txBody>
      <dsp:txXfrm>
        <a:off x="3273" y="352354"/>
        <a:ext cx="1968093" cy="753933"/>
      </dsp:txXfrm>
    </dsp:sp>
    <dsp:sp modelId="{1E11D518-1FAD-4027-A06A-2E18CA009E90}">
      <dsp:nvSpPr>
        <dsp:cNvPr id="0" name=""/>
        <dsp:cNvSpPr/>
      </dsp:nvSpPr>
      <dsp:spPr>
        <a:xfrm>
          <a:off x="3273" y="1106288"/>
          <a:ext cx="1968093" cy="251167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Define los mensajes principales que debe entender todo sujeto que permita ser observado. El mensaje </a:t>
          </a:r>
          <a:r>
            <a:rPr lang="es-ES" sz="1500" kern="1200" err="1"/>
            <a:t>más</a:t>
          </a:r>
          <a:r>
            <a:rPr lang="es-ES" sz="1500" kern="1200"/>
            <a:t> importante se denomina “notificar” , el </a:t>
          </a:r>
          <a:r>
            <a:rPr lang="es-ES" sz="1500" kern="1200" err="1"/>
            <a:t>cuál</a:t>
          </a:r>
          <a:r>
            <a:rPr lang="es-ES" sz="1500" kern="1200"/>
            <a:t> llamará a todos los observadores. </a:t>
          </a:r>
          <a:endParaRPr lang="es-AR" sz="1500" kern="1200"/>
        </a:p>
      </dsp:txBody>
      <dsp:txXfrm>
        <a:off x="3273" y="1106288"/>
        <a:ext cx="1968093" cy="2511675"/>
      </dsp:txXfrm>
    </dsp:sp>
    <dsp:sp modelId="{251B2B21-7D66-428B-9A4F-C1E6C668EDD8}">
      <dsp:nvSpPr>
        <dsp:cNvPr id="0" name=""/>
        <dsp:cNvSpPr/>
      </dsp:nvSpPr>
      <dsp:spPr>
        <a:xfrm>
          <a:off x="2246899" y="352354"/>
          <a:ext cx="1968093" cy="753933"/>
        </a:xfrm>
        <a:prstGeom prst="rect">
          <a:avLst/>
        </a:prstGeom>
        <a:solidFill>
          <a:schemeClr val="accent4">
            <a:hueOff val="348407"/>
            <a:satOff val="2578"/>
            <a:lumOff val="-720"/>
            <a:alphaOff val="0"/>
          </a:schemeClr>
        </a:solidFill>
        <a:ln w="12700" cap="flat" cmpd="sng" algn="ctr">
          <a:solidFill>
            <a:schemeClr val="accent4">
              <a:hueOff val="348407"/>
              <a:satOff val="2578"/>
              <a:lumOff val="-7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/>
            <a:t>Sujetos concretos:</a:t>
          </a:r>
          <a:endParaRPr lang="es-AR" sz="1500" b="1" kern="1200"/>
        </a:p>
      </dsp:txBody>
      <dsp:txXfrm>
        <a:off x="2246899" y="352354"/>
        <a:ext cx="1968093" cy="753933"/>
      </dsp:txXfrm>
    </dsp:sp>
    <dsp:sp modelId="{10B8D71E-1273-46F8-B51B-65E5D64FFD85}">
      <dsp:nvSpPr>
        <dsp:cNvPr id="0" name=""/>
        <dsp:cNvSpPr/>
      </dsp:nvSpPr>
      <dsp:spPr>
        <a:xfrm>
          <a:off x="2246899" y="1106288"/>
          <a:ext cx="1968093" cy="2511675"/>
        </a:xfrm>
        <a:prstGeom prst="rect">
          <a:avLst/>
        </a:prstGeom>
        <a:solidFill>
          <a:schemeClr val="accent4">
            <a:tint val="40000"/>
            <a:alpha val="90000"/>
            <a:hueOff val="317585"/>
            <a:satOff val="3134"/>
            <a:lumOff val="156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317585"/>
              <a:satOff val="3134"/>
              <a:lumOff val="1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Clases que implementan (o “heredan de” , si fuera clase abstracta) la interfaz Observable. Tienen el comportamiento real y eligen </a:t>
          </a:r>
          <a:r>
            <a:rPr lang="es-ES" sz="1500" kern="1200" err="1"/>
            <a:t>cuándo</a:t>
          </a:r>
          <a:r>
            <a:rPr lang="es-ES" sz="1500" kern="1200"/>
            <a:t> enviar notificaciones a sus observadores. </a:t>
          </a:r>
          <a:endParaRPr lang="es-AR" sz="1500" kern="1200"/>
        </a:p>
      </dsp:txBody>
      <dsp:txXfrm>
        <a:off x="2246899" y="1106288"/>
        <a:ext cx="1968093" cy="2511675"/>
      </dsp:txXfrm>
    </dsp:sp>
    <dsp:sp modelId="{DEB72385-8557-4666-A304-E60236BBA7E0}">
      <dsp:nvSpPr>
        <dsp:cNvPr id="0" name=""/>
        <dsp:cNvSpPr/>
      </dsp:nvSpPr>
      <dsp:spPr>
        <a:xfrm>
          <a:off x="4490526" y="352354"/>
          <a:ext cx="1968093" cy="753933"/>
        </a:xfrm>
        <a:prstGeom prst="rect">
          <a:avLst/>
        </a:prstGeom>
        <a:solidFill>
          <a:schemeClr val="accent4">
            <a:hueOff val="696813"/>
            <a:satOff val="5155"/>
            <a:lumOff val="-1439"/>
            <a:alphaOff val="0"/>
          </a:schemeClr>
        </a:solidFill>
        <a:ln w="12700" cap="flat" cmpd="sng" algn="ctr">
          <a:solidFill>
            <a:schemeClr val="accent4">
              <a:hueOff val="696813"/>
              <a:satOff val="5155"/>
              <a:lumOff val="-14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/>
            <a:t>Interface </a:t>
          </a:r>
          <a:r>
            <a:rPr lang="es-ES" sz="1500" b="1" kern="1200" err="1"/>
            <a:t>observer</a:t>
          </a:r>
          <a:r>
            <a:rPr lang="es-ES" sz="1500" b="1" kern="1200"/>
            <a:t>:</a:t>
          </a:r>
          <a:endParaRPr lang="es-AR" sz="1500" b="1" kern="1200"/>
        </a:p>
      </dsp:txBody>
      <dsp:txXfrm>
        <a:off x="4490526" y="352354"/>
        <a:ext cx="1968093" cy="753933"/>
      </dsp:txXfrm>
    </dsp:sp>
    <dsp:sp modelId="{60F58C1E-5816-46EA-B169-EB3637DC93AD}">
      <dsp:nvSpPr>
        <dsp:cNvPr id="0" name=""/>
        <dsp:cNvSpPr/>
      </dsp:nvSpPr>
      <dsp:spPr>
        <a:xfrm>
          <a:off x="4490526" y="1106288"/>
          <a:ext cx="1968093" cy="2511675"/>
        </a:xfrm>
        <a:prstGeom prst="rect">
          <a:avLst/>
        </a:prstGeom>
        <a:solidFill>
          <a:schemeClr val="accent4">
            <a:tint val="40000"/>
            <a:alpha val="90000"/>
            <a:hueOff val="635171"/>
            <a:satOff val="6269"/>
            <a:lumOff val="312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635171"/>
              <a:satOff val="6269"/>
              <a:lumOff val="3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Define el </a:t>
          </a:r>
          <a:r>
            <a:rPr lang="es-ES" sz="1500" kern="1200" err="1"/>
            <a:t>método</a:t>
          </a:r>
          <a:r>
            <a:rPr lang="es-ES" sz="1500" kern="1200"/>
            <a:t> que </a:t>
          </a:r>
          <a:r>
            <a:rPr lang="es-ES" sz="1500" kern="1200" err="1"/>
            <a:t>llamarán</a:t>
          </a:r>
          <a:r>
            <a:rPr lang="es-ES" sz="1500" kern="1200"/>
            <a:t> los observables cuando </a:t>
          </a:r>
          <a:r>
            <a:rPr lang="es-ES" sz="1500" kern="1200" err="1"/>
            <a:t>éstos</a:t>
          </a:r>
          <a:r>
            <a:rPr lang="es-ES" sz="1500" kern="1200"/>
            <a:t> quieran notificar sobre algo. </a:t>
          </a:r>
          <a:endParaRPr lang="es-AR" sz="1500" kern="1200"/>
        </a:p>
      </dsp:txBody>
      <dsp:txXfrm>
        <a:off x="4490526" y="1106288"/>
        <a:ext cx="1968093" cy="2511675"/>
      </dsp:txXfrm>
    </dsp:sp>
    <dsp:sp modelId="{744D3191-98AC-46B6-B14D-03EBC5C1AEDA}">
      <dsp:nvSpPr>
        <dsp:cNvPr id="0" name=""/>
        <dsp:cNvSpPr/>
      </dsp:nvSpPr>
      <dsp:spPr>
        <a:xfrm>
          <a:off x="6734152" y="352354"/>
          <a:ext cx="1968093" cy="753933"/>
        </a:xfrm>
        <a:prstGeom prst="rect">
          <a:avLst/>
        </a:prstGeom>
        <a:solidFill>
          <a:schemeClr val="accent4">
            <a:hueOff val="1045220"/>
            <a:satOff val="7733"/>
            <a:lumOff val="-2159"/>
            <a:alphaOff val="0"/>
          </a:schemeClr>
        </a:solidFill>
        <a:ln w="12700" cap="flat" cmpd="sng" algn="ctr">
          <a:solidFill>
            <a:schemeClr val="accent4">
              <a:hueOff val="1045220"/>
              <a:satOff val="7733"/>
              <a:lumOff val="-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/>
            <a:t>Observadores concretos:</a:t>
          </a:r>
          <a:endParaRPr lang="es-AR" sz="1500" b="1" kern="1200"/>
        </a:p>
      </dsp:txBody>
      <dsp:txXfrm>
        <a:off x="6734152" y="352354"/>
        <a:ext cx="1968093" cy="753933"/>
      </dsp:txXfrm>
    </dsp:sp>
    <dsp:sp modelId="{75607EAA-F21D-4A56-8A00-347E18853C0B}">
      <dsp:nvSpPr>
        <dsp:cNvPr id="0" name=""/>
        <dsp:cNvSpPr/>
      </dsp:nvSpPr>
      <dsp:spPr>
        <a:xfrm>
          <a:off x="6734152" y="1106288"/>
          <a:ext cx="1968093" cy="2511675"/>
        </a:xfrm>
        <a:prstGeom prst="rect">
          <a:avLst/>
        </a:prstGeom>
        <a:solidFill>
          <a:schemeClr val="accent4">
            <a:tint val="40000"/>
            <a:alpha val="90000"/>
            <a:hueOff val="952756"/>
            <a:satOff val="9403"/>
            <a:lumOff val="468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952756"/>
              <a:satOff val="9403"/>
              <a:lumOff val="4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Clases que implementan la interfaz </a:t>
          </a:r>
          <a:r>
            <a:rPr lang="es-ES" sz="1500" kern="1200" err="1"/>
            <a:t>Observer</a:t>
          </a:r>
          <a:r>
            <a:rPr lang="es-ES" sz="1500" kern="1200"/>
            <a:t>, cuyos objetos </a:t>
          </a:r>
          <a:r>
            <a:rPr lang="es-ES" sz="1500" kern="1200" err="1"/>
            <a:t>actúan</a:t>
          </a:r>
          <a:r>
            <a:rPr lang="es-ES" sz="1500" kern="1200"/>
            <a:t> cuando los observables los llaman.</a:t>
          </a:r>
          <a:endParaRPr lang="es-AR" sz="1500" kern="1200"/>
        </a:p>
      </dsp:txBody>
      <dsp:txXfrm>
        <a:off x="6734152" y="1106288"/>
        <a:ext cx="1968093" cy="251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1F7-0A78-4297-9737-0443242114E2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41F7-0A78-4297-9737-0443242114E2}" type="datetimeFigureOut">
              <a:rPr lang="es-AR" smtClean="0"/>
              <a:t>3/9/2026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5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>
                <a:solidFill>
                  <a:schemeClr val="bg1"/>
                </a:solidFill>
              </a:rPr>
              <a:t>UADE </a:t>
            </a:r>
            <a:r>
              <a:rPr lang="es-AR" sz="6600" b="1" err="1">
                <a:solidFill>
                  <a:schemeClr val="bg1"/>
                </a:solidFill>
              </a:rPr>
              <a:t>Connect</a:t>
            </a:r>
            <a:endParaRPr lang="es-ES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655576" y="669178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322661" y="1785810"/>
            <a:ext cx="673820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 i="1" err="1">
                <a:solidFill>
                  <a:srgbClr val="7F7F7F"/>
                </a:solidFill>
                <a:ea typeface="+mn-lt"/>
                <a:cs typeface="+mn-lt"/>
              </a:rPr>
              <a:t>State</a:t>
            </a:r>
            <a:endParaRPr lang="es-ES" b="1" i="1" err="1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1D4304-08BD-C2C7-9E4F-2B70114F4BFB}"/>
              </a:ext>
            </a:extLst>
          </p:cNvPr>
          <p:cNvSpPr txBox="1"/>
          <p:nvPr/>
        </p:nvSpPr>
        <p:spPr>
          <a:xfrm>
            <a:off x="1322657" y="2543571"/>
            <a:ext cx="673821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 i="1" err="1">
                <a:solidFill>
                  <a:srgbClr val="7F7F7F"/>
                </a:solidFill>
                <a:ea typeface="+mn-lt"/>
                <a:cs typeface="+mn-lt"/>
              </a:rPr>
              <a:t>Observer</a:t>
            </a:r>
            <a:endParaRPr lang="es-ES" b="1" i="1" err="1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CB2031C-D4A1-6581-9F75-F445D16529A2}"/>
              </a:ext>
            </a:extLst>
          </p:cNvPr>
          <p:cNvSpPr txBox="1"/>
          <p:nvPr/>
        </p:nvSpPr>
        <p:spPr>
          <a:xfrm>
            <a:off x="1322661" y="3301332"/>
            <a:ext cx="673821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>
                <a:solidFill>
                  <a:srgbClr val="7F7F7F"/>
                </a:solidFill>
                <a:ea typeface="+mn-lt"/>
                <a:cs typeface="+mn-lt"/>
              </a:rPr>
              <a:t>Síntesis</a:t>
            </a:r>
            <a:endParaRPr lang="es-AR" sz="32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863949" y="2012883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2FE8D8F-B960-6CDE-91B5-04B0CE3126F1}"/>
              </a:ext>
            </a:extLst>
          </p:cNvPr>
          <p:cNvSpPr/>
          <p:nvPr/>
        </p:nvSpPr>
        <p:spPr>
          <a:xfrm>
            <a:off x="863949" y="2792848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F5226316-73BD-DC8A-090B-3563ACC060FD}"/>
              </a:ext>
            </a:extLst>
          </p:cNvPr>
          <p:cNvSpPr/>
          <p:nvPr/>
        </p:nvSpPr>
        <p:spPr>
          <a:xfrm>
            <a:off x="863949" y="3558960"/>
            <a:ext cx="130628" cy="130628"/>
          </a:xfrm>
          <a:prstGeom prst="ellipse">
            <a:avLst/>
          </a:prstGeom>
          <a:solidFill>
            <a:srgbClr val="ED6B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s-AR" sz="6600" b="1" i="1" err="1">
                <a:solidFill>
                  <a:prstClr val="white"/>
                </a:solidFill>
                <a:ea typeface="+mn-lt"/>
                <a:cs typeface="+mn-lt"/>
              </a:rPr>
              <a:t>State</a:t>
            </a:r>
            <a:endParaRPr lang="es-ES" b="1" i="1" err="1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2CE47BBF-863E-A215-1603-70FEA0EBEDC2}"/>
              </a:ext>
            </a:extLst>
          </p:cNvPr>
          <p:cNvSpPr txBox="1"/>
          <p:nvPr/>
        </p:nvSpPr>
        <p:spPr>
          <a:xfrm>
            <a:off x="507754" y="2129628"/>
            <a:ext cx="4659992" cy="34163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>
                <a:ea typeface="+mn-lt"/>
                <a:cs typeface="+mn-lt"/>
              </a:rPr>
              <a:t>Es un patrón de </a:t>
            </a:r>
            <a:r>
              <a:rPr lang="es-ES" sz="2400" b="1">
                <a:solidFill>
                  <a:schemeClr val="tx2"/>
                </a:solidFill>
                <a:ea typeface="+mn-lt"/>
                <a:cs typeface="+mn-lt"/>
              </a:rPr>
              <a:t>Comportamiento</a:t>
            </a:r>
            <a:r>
              <a:rPr lang="es-ES" sz="2400">
                <a:ea typeface="+mn-lt"/>
                <a:cs typeface="+mn-lt"/>
              </a:rPr>
              <a:t>. </a:t>
            </a:r>
          </a:p>
          <a:p>
            <a:pPr algn="just"/>
            <a:endParaRPr lang="es-ES" sz="2400">
              <a:ea typeface="+mn-lt"/>
              <a:cs typeface="+mn-lt"/>
            </a:endParaRPr>
          </a:p>
          <a:p>
            <a:pPr algn="just"/>
            <a:r>
              <a:rPr lang="es-ES" sz="2400" b="1" u="sng">
                <a:solidFill>
                  <a:schemeClr val="tx2"/>
                </a:solidFill>
                <a:ea typeface="+mn-lt"/>
                <a:cs typeface="+mn-lt"/>
              </a:rPr>
              <a:t>¿Qué hace? </a:t>
            </a:r>
          </a:p>
          <a:p>
            <a:pPr algn="just"/>
            <a:endParaRPr lang="es-ES" sz="2400">
              <a:ea typeface="+mn-lt"/>
              <a:cs typeface="+mn-lt"/>
            </a:endParaRPr>
          </a:p>
          <a:p>
            <a:pPr marL="342900" indent="-342900" algn="just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s-ES" sz="2400">
                <a:ea typeface="+mn-lt"/>
                <a:cs typeface="+mn-lt"/>
              </a:rPr>
              <a:t>Genera una abstracción (una clase) por cada posible estado que pueda tener un objeto. </a:t>
            </a:r>
          </a:p>
          <a:p>
            <a:pPr marL="342900" indent="-342900" algn="just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s-ES" sz="2400">
                <a:ea typeface="+mn-lt"/>
                <a:cs typeface="+mn-lt"/>
              </a:rPr>
              <a:t>Define transiciones entre los posibles estados. </a:t>
            </a:r>
            <a:endParaRPr lang="es-ES" sz="2400">
              <a:ea typeface="Calibri"/>
              <a:cs typeface="Calibri"/>
            </a:endParaRPr>
          </a:p>
        </p:txBody>
      </p:sp>
      <p:sp>
        <p:nvSpPr>
          <p:cNvPr id="3" name="CuadroTexto 4">
            <a:extLst>
              <a:ext uri="{FF2B5EF4-FFF2-40B4-BE49-F238E27FC236}">
                <a16:creationId xmlns:a16="http://schemas.microsoft.com/office/drawing/2014/main" id="{C5EAD532-EBF3-01E4-5BA8-135BF90C50C7}"/>
              </a:ext>
            </a:extLst>
          </p:cNvPr>
          <p:cNvSpPr txBox="1"/>
          <p:nvPr/>
        </p:nvSpPr>
        <p:spPr>
          <a:xfrm>
            <a:off x="507753" y="587688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4000" b="1" i="1" err="1">
                <a:solidFill>
                  <a:schemeClr val="bg1"/>
                </a:solidFill>
                <a:ea typeface="+mn-lt"/>
                <a:cs typeface="+mn-lt"/>
              </a:rPr>
              <a:t>State</a:t>
            </a:r>
            <a:endParaRPr lang="es-ES" sz="2400" b="1" i="1" err="1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700035E-F346-1D81-2DE6-2C1D4714E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777" y="2748967"/>
            <a:ext cx="3346563" cy="279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2CE47BBF-863E-A215-1603-70FEA0EBEDC2}"/>
              </a:ext>
            </a:extLst>
          </p:cNvPr>
          <p:cNvSpPr txBox="1"/>
          <p:nvPr/>
        </p:nvSpPr>
        <p:spPr>
          <a:xfrm>
            <a:off x="507753" y="1894102"/>
            <a:ext cx="8442283" cy="34163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>
                <a:ea typeface="+mn-lt"/>
                <a:cs typeface="+mn-lt"/>
              </a:rPr>
              <a:t>Se </a:t>
            </a:r>
            <a:r>
              <a:rPr lang="es-ES" sz="2400" b="1">
                <a:solidFill>
                  <a:schemeClr val="accent1"/>
                </a:solidFill>
                <a:ea typeface="+mn-lt"/>
                <a:cs typeface="+mn-lt"/>
              </a:rPr>
              <a:t>sugiere</a:t>
            </a:r>
            <a:r>
              <a:rPr lang="es-ES" sz="2400" b="1">
                <a:ea typeface="+mn-lt"/>
                <a:cs typeface="+mn-lt"/>
              </a:rPr>
              <a:t> </a:t>
            </a:r>
            <a:r>
              <a:rPr lang="es-ES" sz="2400">
                <a:ea typeface="+mn-lt"/>
                <a:cs typeface="+mn-lt"/>
              </a:rPr>
              <a:t>su utilización </a:t>
            </a:r>
            <a:r>
              <a:rPr lang="es-ES" sz="2400" b="1">
                <a:solidFill>
                  <a:schemeClr val="accent1"/>
                </a:solidFill>
                <a:ea typeface="+mn-lt"/>
                <a:cs typeface="+mn-lt"/>
              </a:rPr>
              <a:t>cuando</a:t>
            </a:r>
            <a:r>
              <a:rPr lang="es-ES" sz="2400">
                <a:ea typeface="+mn-lt"/>
                <a:cs typeface="+mn-lt"/>
              </a:rPr>
              <a:t>: </a:t>
            </a:r>
            <a:endParaRPr lang="es-ES" sz="2400"/>
          </a:p>
          <a:p>
            <a:pPr algn="just"/>
            <a:endParaRPr lang="es-ES" sz="2400">
              <a:ea typeface="+mn-lt"/>
              <a:cs typeface="+mn-lt"/>
            </a:endParaRPr>
          </a:p>
          <a:p>
            <a:pPr marL="342900" indent="-342900" algn="just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s-ES" sz="2400">
                <a:ea typeface="+mn-lt"/>
                <a:cs typeface="+mn-lt"/>
              </a:rPr>
              <a:t>El comportamiento de un objeto depende de su estado y este mismo puede variar en tiempo de </a:t>
            </a:r>
            <a:r>
              <a:rPr lang="es-ES" sz="2400" err="1">
                <a:ea typeface="+mn-lt"/>
                <a:cs typeface="+mn-lt"/>
              </a:rPr>
              <a:t>ejecución</a:t>
            </a:r>
            <a:r>
              <a:rPr lang="es-ES" sz="2400">
                <a:ea typeface="+mn-lt"/>
                <a:cs typeface="+mn-lt"/>
              </a:rPr>
              <a:t>. </a:t>
            </a:r>
          </a:p>
          <a:p>
            <a:pPr marL="342900" indent="-342900" algn="just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s-ES" sz="2400">
              <a:ea typeface="+mn-lt"/>
              <a:cs typeface="+mn-lt"/>
            </a:endParaRPr>
          </a:p>
          <a:p>
            <a:pPr marL="342900" indent="-342900" algn="just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s-ES" sz="2400">
                <a:ea typeface="+mn-lt"/>
                <a:cs typeface="+mn-lt"/>
              </a:rPr>
              <a:t>Un método está lleno de sentencias condicionales que dependen del estado del objeto. Estos estados suelen estar representados por varios atributos de distintos tipos: primitivos (</a:t>
            </a:r>
            <a:r>
              <a:rPr lang="es-ES" sz="2400" i="1" err="1">
                <a:ea typeface="+mn-lt"/>
                <a:cs typeface="+mn-lt"/>
              </a:rPr>
              <a:t>boolean</a:t>
            </a:r>
            <a:r>
              <a:rPr lang="es-ES" sz="2400">
                <a:ea typeface="+mn-lt"/>
                <a:cs typeface="+mn-lt"/>
              </a:rPr>
              <a:t>, </a:t>
            </a:r>
            <a:r>
              <a:rPr lang="es-ES" sz="2400" err="1">
                <a:ea typeface="+mn-lt"/>
                <a:cs typeface="+mn-lt"/>
              </a:rPr>
              <a:t>int</a:t>
            </a:r>
            <a:r>
              <a:rPr lang="es-ES" sz="2400">
                <a:ea typeface="+mn-lt"/>
                <a:cs typeface="+mn-lt"/>
              </a:rPr>
              <a:t>, etc.) o por enumerados (</a:t>
            </a:r>
            <a:r>
              <a:rPr lang="es-ES" sz="2400" i="1" err="1">
                <a:ea typeface="+mn-lt"/>
                <a:cs typeface="+mn-lt"/>
              </a:rPr>
              <a:t>enum</a:t>
            </a:r>
            <a:r>
              <a:rPr lang="es-ES" sz="2400">
                <a:ea typeface="+mn-lt"/>
                <a:cs typeface="+mn-lt"/>
              </a:rPr>
              <a:t>).</a:t>
            </a:r>
            <a:endParaRPr lang="es-ES" sz="2400">
              <a:ea typeface="Calibri"/>
              <a:cs typeface="Calibri"/>
            </a:endParaRPr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0F5379A1-6CA9-4774-253A-E50774890F35}"/>
              </a:ext>
            </a:extLst>
          </p:cNvPr>
          <p:cNvSpPr txBox="1"/>
          <p:nvPr/>
        </p:nvSpPr>
        <p:spPr>
          <a:xfrm>
            <a:off x="507753" y="587688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4000" b="1" i="1" err="1">
                <a:solidFill>
                  <a:schemeClr val="bg1"/>
                </a:solidFill>
                <a:ea typeface="+mn-lt"/>
                <a:cs typeface="+mn-lt"/>
              </a:rPr>
              <a:t>State</a:t>
            </a:r>
            <a:endParaRPr lang="es-ES" sz="2400" b="1" i="1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022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075B4A90-4CEA-17B5-592E-7000C1F5A6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3632380"/>
              </p:ext>
            </p:extLst>
          </p:nvPr>
        </p:nvGraphicFramePr>
        <p:xfrm>
          <a:off x="507753" y="2344282"/>
          <a:ext cx="8564069" cy="3849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uadroTexto 4">
            <a:extLst>
              <a:ext uri="{FF2B5EF4-FFF2-40B4-BE49-F238E27FC236}">
                <a16:creationId xmlns:a16="http://schemas.microsoft.com/office/drawing/2014/main" id="{99D7F8BF-8750-3934-78BA-88D898EC4E3F}"/>
              </a:ext>
            </a:extLst>
          </p:cNvPr>
          <p:cNvSpPr txBox="1"/>
          <p:nvPr/>
        </p:nvSpPr>
        <p:spPr>
          <a:xfrm>
            <a:off x="507753" y="587688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4000" b="1" i="1" err="1">
                <a:solidFill>
                  <a:schemeClr val="bg1"/>
                </a:solidFill>
                <a:ea typeface="+mn-lt"/>
                <a:cs typeface="+mn-lt"/>
              </a:rPr>
              <a:t>State</a:t>
            </a:r>
            <a:endParaRPr lang="es-ES" sz="2400" b="1" i="1" err="1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E787604-4FE3-797A-D715-FD772668DBC8}"/>
              </a:ext>
            </a:extLst>
          </p:cNvPr>
          <p:cNvSpPr txBox="1"/>
          <p:nvPr/>
        </p:nvSpPr>
        <p:spPr>
          <a:xfrm>
            <a:off x="507753" y="1817316"/>
            <a:ext cx="6109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>
                <a:solidFill>
                  <a:schemeClr val="accent4"/>
                </a:solidFill>
                <a:ea typeface="+mn-lt"/>
                <a:cs typeface="+mn-lt"/>
              </a:rPr>
              <a:t>Componentes: </a:t>
            </a:r>
            <a:endParaRPr lang="es-ES" sz="2400" b="1">
              <a:solidFill>
                <a:schemeClr val="accent4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3067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74281C70-8D10-EC15-7A5F-48B6348DF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83" y="1746600"/>
            <a:ext cx="7262132" cy="4880883"/>
          </a:xfrm>
          <a:prstGeom prst="rect">
            <a:avLst/>
          </a:prstGeom>
        </p:spPr>
      </p:pic>
      <p:sp>
        <p:nvSpPr>
          <p:cNvPr id="2" name="CuadroTexto 4">
            <a:extLst>
              <a:ext uri="{FF2B5EF4-FFF2-40B4-BE49-F238E27FC236}">
                <a16:creationId xmlns:a16="http://schemas.microsoft.com/office/drawing/2014/main" id="{97C58C29-041D-C5DE-1E7E-35CDC2CDABD7}"/>
              </a:ext>
            </a:extLst>
          </p:cNvPr>
          <p:cNvSpPr txBox="1"/>
          <p:nvPr/>
        </p:nvSpPr>
        <p:spPr>
          <a:xfrm>
            <a:off x="507753" y="587688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4000" b="1" i="1" err="1">
                <a:solidFill>
                  <a:schemeClr val="bg1"/>
                </a:solidFill>
                <a:ea typeface="+mn-lt"/>
                <a:cs typeface="+mn-lt"/>
              </a:rPr>
              <a:t>State</a:t>
            </a:r>
            <a:endParaRPr lang="es-ES" sz="2400" b="1" i="1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460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4055E-0D0A-B905-FF72-EBBDC4BD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993ADF08-A6B3-2580-04B3-91F029A3A130}"/>
              </a:ext>
            </a:extLst>
          </p:cNvPr>
          <p:cNvSpPr txBox="1"/>
          <p:nvPr/>
        </p:nvSpPr>
        <p:spPr>
          <a:xfrm>
            <a:off x="507753" y="1894102"/>
            <a:ext cx="8442283" cy="415498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>
                <a:ea typeface="+mn-lt"/>
                <a:cs typeface="+mn-lt"/>
              </a:rPr>
              <a:t>Ejemplificar en grupos: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dirty="0">
                <a:ea typeface="+mn-lt"/>
                <a:cs typeface="+mn-lt"/>
              </a:rPr>
              <a:t>El Patrón </a:t>
            </a:r>
            <a:r>
              <a:rPr lang="es-ES" sz="2400" dirty="0" err="1">
                <a:ea typeface="+mn-lt"/>
                <a:cs typeface="+mn-lt"/>
              </a:rPr>
              <a:t>State</a:t>
            </a:r>
            <a:r>
              <a:rPr lang="es-ES" sz="2400" dirty="0">
                <a:ea typeface="+mn-lt"/>
                <a:cs typeface="+mn-lt"/>
              </a:rPr>
              <a:t> permite que un objeto modifique su comportamiento cada vez que cambia su estado interno, pareciendo que cambia de clase.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dirty="0">
                <a:ea typeface="+mn-lt"/>
                <a:cs typeface="+mn-lt"/>
              </a:rPr>
              <a:t>Para un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carrito de compras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definiremos tres estados para el flujo: </a:t>
            </a:r>
            <a:r>
              <a:rPr lang="es-ES" sz="2400" dirty="0" err="1">
                <a:ea typeface="+mn-lt"/>
                <a:cs typeface="+mn-lt"/>
              </a:rPr>
              <a:t>Vacio</a:t>
            </a:r>
            <a:r>
              <a:rPr lang="es-ES" sz="2400" dirty="0">
                <a:ea typeface="+mn-lt"/>
                <a:cs typeface="+mn-lt"/>
              </a:rPr>
              <a:t>, </a:t>
            </a:r>
            <a:r>
              <a:rPr lang="es-ES" sz="2400" dirty="0" err="1">
                <a:ea typeface="+mn-lt"/>
                <a:cs typeface="+mn-lt"/>
              </a:rPr>
              <a:t>ConProductos</a:t>
            </a:r>
            <a:r>
              <a:rPr lang="es-ES" sz="2400" dirty="0">
                <a:ea typeface="+mn-lt"/>
                <a:cs typeface="+mn-lt"/>
              </a:rPr>
              <a:t> y Pagado; donde las transiciones de estado ocurren de forma secuencial.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dirty="0">
                <a:ea typeface="+mn-lt"/>
                <a:cs typeface="+mn-lt"/>
              </a:rPr>
              <a:t>Realizar en JAVA la implementación de </a:t>
            </a:r>
            <a:r>
              <a:rPr lang="es-ES" sz="2400" dirty="0" err="1">
                <a:ea typeface="+mn-lt"/>
                <a:cs typeface="+mn-lt"/>
              </a:rPr>
              <a:t>State</a:t>
            </a:r>
            <a:r>
              <a:rPr lang="es-ES" sz="2400" dirty="0">
                <a:ea typeface="+mn-lt"/>
                <a:cs typeface="+mn-lt"/>
              </a:rPr>
              <a:t> para el carrito.</a:t>
            </a:r>
            <a:endParaRPr lang="es-ES" sz="2400" dirty="0"/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42D10EBF-8C03-1832-2A1D-BB9C98964514}"/>
              </a:ext>
            </a:extLst>
          </p:cNvPr>
          <p:cNvSpPr txBox="1"/>
          <p:nvPr/>
        </p:nvSpPr>
        <p:spPr>
          <a:xfrm>
            <a:off x="507753" y="587688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4000" b="1" i="1" err="1">
                <a:solidFill>
                  <a:schemeClr val="bg1"/>
                </a:solidFill>
                <a:ea typeface="+mn-lt"/>
                <a:cs typeface="+mn-lt"/>
              </a:rPr>
              <a:t>State</a:t>
            </a:r>
            <a:endParaRPr lang="es-ES" sz="2400" b="1" i="1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60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94558-98ED-43DD-4D30-301E384CA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F8F95C2-32D1-8611-F7B8-EE81D264EB23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s-AR" sz="6600" b="1" i="1" err="1">
                <a:solidFill>
                  <a:prstClr val="white"/>
                </a:solidFill>
                <a:ea typeface="+mn-lt"/>
                <a:cs typeface="+mn-lt"/>
              </a:rPr>
              <a:t>Observer</a:t>
            </a:r>
            <a:endParaRPr lang="es-ES" b="1" i="1" err="1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611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B8BE9-C24C-E0E6-F2D5-40777CF2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F946328D-FC2E-8B50-B2D1-C72F3FAE48DB}"/>
              </a:ext>
            </a:extLst>
          </p:cNvPr>
          <p:cNvSpPr txBox="1"/>
          <p:nvPr/>
        </p:nvSpPr>
        <p:spPr>
          <a:xfrm>
            <a:off x="493900" y="1921810"/>
            <a:ext cx="5105400" cy="452431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>
                <a:ea typeface="+mn-lt"/>
                <a:cs typeface="+mn-lt"/>
              </a:rPr>
              <a:t>Es un patrón de </a:t>
            </a:r>
            <a:r>
              <a:rPr lang="es-ES" sz="2400" b="1">
                <a:solidFill>
                  <a:schemeClr val="accent2"/>
                </a:solidFill>
                <a:ea typeface="+mn-lt"/>
                <a:cs typeface="+mn-lt"/>
              </a:rPr>
              <a:t>Comportamiento</a:t>
            </a:r>
            <a:r>
              <a:rPr lang="es-ES" sz="2400">
                <a:ea typeface="+mn-lt"/>
                <a:cs typeface="+mn-lt"/>
              </a:rPr>
              <a:t>. </a:t>
            </a:r>
          </a:p>
          <a:p>
            <a:endParaRPr lang="es-ES" sz="2400">
              <a:ea typeface="+mn-lt"/>
              <a:cs typeface="+mn-lt"/>
            </a:endParaRPr>
          </a:p>
          <a:p>
            <a:r>
              <a:rPr lang="es-ES" sz="2400" b="1" u="sng">
                <a:solidFill>
                  <a:schemeClr val="accent2"/>
                </a:solidFill>
                <a:ea typeface="+mn-lt"/>
                <a:cs typeface="+mn-lt"/>
              </a:rPr>
              <a:t>¿Qué hace? </a:t>
            </a:r>
          </a:p>
          <a:p>
            <a:endParaRPr lang="es-ES" sz="2400">
              <a:ea typeface="+mn-lt"/>
              <a:cs typeface="+mn-lt"/>
            </a:endParaRPr>
          </a:p>
          <a:p>
            <a:pPr marL="342900" indent="-3429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>
                <a:ea typeface="+mn-lt"/>
                <a:cs typeface="+mn-lt"/>
              </a:rPr>
              <a:t>Permite notificar a los interesados de cierto sujeto los eventos que a este le ocurren y que ellos actúen en consecuencia. </a:t>
            </a:r>
          </a:p>
          <a:p>
            <a:pPr marL="342900" indent="-3429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endParaRPr lang="es-ES" sz="2400">
              <a:ea typeface="+mn-lt"/>
              <a:cs typeface="+mn-lt"/>
            </a:endParaRPr>
          </a:p>
          <a:p>
            <a:pPr marL="342900" indent="-3429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>
                <a:ea typeface="+mn-lt"/>
                <a:cs typeface="+mn-lt"/>
              </a:rPr>
              <a:t>Desacopla las acciones que se ejecutan de los eventos que las activan. </a:t>
            </a:r>
            <a:endParaRPr lang="es-ES" sz="24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BB68B3-CC05-B227-49B6-93D2C4DB9743}"/>
              </a:ext>
            </a:extLst>
          </p:cNvPr>
          <p:cNvSpPr txBox="1"/>
          <p:nvPr/>
        </p:nvSpPr>
        <p:spPr>
          <a:xfrm>
            <a:off x="493899" y="615397"/>
            <a:ext cx="51054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err="1">
                <a:solidFill>
                  <a:schemeClr val="bg1"/>
                </a:solidFill>
                <a:ea typeface="Calibri"/>
                <a:cs typeface="Calibri"/>
              </a:rPr>
              <a:t>Observer</a:t>
            </a:r>
            <a:endParaRPr lang="es-ES" sz="4000" b="1" i="1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B30FE6-D1F3-78A4-4619-743108A63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299" y="2993041"/>
            <a:ext cx="3145997" cy="238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81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169BF-390C-99D4-7983-1ED4E009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94CC2CDD-B56F-F2C9-E45F-14BACAFEDD64}"/>
              </a:ext>
            </a:extLst>
          </p:cNvPr>
          <p:cNvSpPr txBox="1"/>
          <p:nvPr/>
        </p:nvSpPr>
        <p:spPr>
          <a:xfrm>
            <a:off x="493899" y="1762755"/>
            <a:ext cx="8303737" cy="255454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000">
                <a:ea typeface="+mn-lt"/>
                <a:cs typeface="+mn-lt"/>
              </a:rPr>
              <a:t>Se </a:t>
            </a:r>
            <a:r>
              <a:rPr lang="es-ES" sz="2000" b="1">
                <a:solidFill>
                  <a:schemeClr val="accent1"/>
                </a:solidFill>
                <a:ea typeface="+mn-lt"/>
                <a:cs typeface="+mn-lt"/>
              </a:rPr>
              <a:t>sugiere</a:t>
            </a:r>
            <a:r>
              <a:rPr lang="es-ES" sz="2000" b="1">
                <a:ea typeface="+mn-lt"/>
                <a:cs typeface="+mn-lt"/>
              </a:rPr>
              <a:t> </a:t>
            </a:r>
            <a:r>
              <a:rPr lang="es-ES" sz="2000">
                <a:ea typeface="+mn-lt"/>
                <a:cs typeface="+mn-lt"/>
              </a:rPr>
              <a:t>su utilización </a:t>
            </a:r>
            <a:r>
              <a:rPr lang="es-ES" sz="2000" b="1">
                <a:solidFill>
                  <a:schemeClr val="accent1"/>
                </a:solidFill>
                <a:ea typeface="+mn-lt"/>
                <a:cs typeface="+mn-lt"/>
              </a:rPr>
              <a:t>cuando</a:t>
            </a:r>
            <a:r>
              <a:rPr lang="es-ES" sz="2000">
                <a:ea typeface="+mn-lt"/>
                <a:cs typeface="+mn-lt"/>
              </a:rPr>
              <a:t>: </a:t>
            </a:r>
            <a:endParaRPr lang="es-ES" sz="2000"/>
          </a:p>
          <a:p>
            <a:pPr marL="342900" indent="-342900" algn="just"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</a:pPr>
            <a:endParaRPr lang="es-ES" sz="2000">
              <a:ea typeface="+mn-lt"/>
              <a:cs typeface="+mn-lt"/>
            </a:endParaRPr>
          </a:p>
          <a:p>
            <a:pPr marL="342900" indent="-342900" algn="just"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000">
                <a:ea typeface="+mn-lt"/>
                <a:cs typeface="+mn-lt"/>
              </a:rPr>
              <a:t>Se requiere disparar acciones de diferentes naturalezas frente a la ocurrencia de un evento en </a:t>
            </a:r>
            <a:r>
              <a:rPr lang="es-ES" sz="2000" err="1">
                <a:ea typeface="+mn-lt"/>
                <a:cs typeface="+mn-lt"/>
              </a:rPr>
              <a:t>algún</a:t>
            </a:r>
            <a:r>
              <a:rPr lang="es-ES" sz="2000">
                <a:ea typeface="+mn-lt"/>
                <a:cs typeface="+mn-lt"/>
              </a:rPr>
              <a:t> objeto. </a:t>
            </a:r>
          </a:p>
          <a:p>
            <a:pPr marL="342900" indent="-342900" algn="just"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</a:pPr>
            <a:endParaRPr lang="es-ES" sz="2000">
              <a:ea typeface="+mn-lt"/>
              <a:cs typeface="+mn-lt"/>
            </a:endParaRPr>
          </a:p>
          <a:p>
            <a:pPr marL="342900" indent="-342900" algn="just"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000">
                <a:ea typeface="+mn-lt"/>
                <a:cs typeface="+mn-lt"/>
              </a:rPr>
              <a:t>Se requiere notificar/avisar a algunos interesados de un objeto sobre la ocurrencia de </a:t>
            </a:r>
            <a:r>
              <a:rPr lang="es-ES" sz="2000" err="1">
                <a:ea typeface="+mn-lt"/>
                <a:cs typeface="+mn-lt"/>
              </a:rPr>
              <a:t>algún</a:t>
            </a:r>
            <a:r>
              <a:rPr lang="es-ES" sz="2000">
                <a:ea typeface="+mn-lt"/>
                <a:cs typeface="+mn-lt"/>
              </a:rPr>
              <a:t> evento y no interesa saber </a:t>
            </a:r>
            <a:r>
              <a:rPr lang="es-ES" sz="2000" err="1">
                <a:ea typeface="+mn-lt"/>
                <a:cs typeface="+mn-lt"/>
              </a:rPr>
              <a:t>quiénes</a:t>
            </a:r>
            <a:r>
              <a:rPr lang="es-ES" sz="2000">
                <a:ea typeface="+mn-lt"/>
                <a:cs typeface="+mn-lt"/>
              </a:rPr>
              <a:t> son y/o </a:t>
            </a:r>
            <a:r>
              <a:rPr lang="es-ES" sz="2000" err="1">
                <a:ea typeface="+mn-lt"/>
                <a:cs typeface="+mn-lt"/>
              </a:rPr>
              <a:t>cuántos</a:t>
            </a:r>
            <a:r>
              <a:rPr lang="es-ES" sz="2000">
                <a:ea typeface="+mn-lt"/>
                <a:cs typeface="+mn-lt"/>
              </a:rPr>
              <a:t> son. </a:t>
            </a:r>
            <a:endParaRPr lang="es-ES" sz="2000">
              <a:ea typeface="Calibri"/>
              <a:cs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82FC34C-5CCD-2D34-B41E-EE6740E13AA6}"/>
              </a:ext>
            </a:extLst>
          </p:cNvPr>
          <p:cNvSpPr txBox="1"/>
          <p:nvPr/>
        </p:nvSpPr>
        <p:spPr>
          <a:xfrm>
            <a:off x="493899" y="4448996"/>
            <a:ext cx="8303737" cy="203132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b="1">
                <a:solidFill>
                  <a:schemeClr val="accent1"/>
                </a:solidFill>
                <a:ea typeface="+mn-lt"/>
                <a:cs typeface="+mn-lt"/>
              </a:rPr>
              <a:t>¡Cuidado!</a:t>
            </a:r>
            <a:endParaRPr lang="es-ES" b="1">
              <a:solidFill>
                <a:schemeClr val="accent1"/>
              </a:solidFill>
              <a:ea typeface="Calibri"/>
              <a:cs typeface="Calibri"/>
            </a:endParaRPr>
          </a:p>
          <a:p>
            <a:pPr algn="just"/>
            <a:endParaRPr lang="es-ES">
              <a:ea typeface="+mn-lt"/>
              <a:cs typeface="+mn-lt"/>
            </a:endParaRPr>
          </a:p>
          <a:p>
            <a:pPr marL="285750" indent="-285750" algn="just"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>
                <a:ea typeface="+mn-lt"/>
                <a:cs typeface="+mn-lt"/>
              </a:rPr>
              <a:t>Este patrón tiene mucho </a:t>
            </a:r>
            <a:r>
              <a:rPr lang="es-ES" err="1">
                <a:ea typeface="+mn-lt"/>
                <a:cs typeface="+mn-lt"/>
              </a:rPr>
              <a:t>más</a:t>
            </a:r>
            <a:r>
              <a:rPr lang="es-ES">
                <a:ea typeface="+mn-lt"/>
                <a:cs typeface="+mn-lt"/>
              </a:rPr>
              <a:t> sentido en lenguajes compilados. </a:t>
            </a:r>
          </a:p>
          <a:p>
            <a:pPr marL="285750" indent="-285750" algn="just"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</a:pPr>
            <a:endParaRPr lang="es-ES">
              <a:ea typeface="+mn-lt"/>
              <a:cs typeface="+mn-lt"/>
            </a:endParaRPr>
          </a:p>
          <a:p>
            <a:pPr marL="285750" indent="-285750" algn="just"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>
                <a:ea typeface="+mn-lt"/>
                <a:cs typeface="+mn-lt"/>
              </a:rPr>
              <a:t>Si bien en lenguajes interpretados </a:t>
            </a:r>
            <a:r>
              <a:rPr lang="es-ES" err="1">
                <a:ea typeface="+mn-lt"/>
                <a:cs typeface="+mn-lt"/>
              </a:rPr>
              <a:t>también</a:t>
            </a:r>
            <a:r>
              <a:rPr lang="es-ES">
                <a:ea typeface="+mn-lt"/>
                <a:cs typeface="+mn-lt"/>
              </a:rPr>
              <a:t> es posible su implementación, se debe tener en cuenta que los objetos van a “morir” luego de cada llamada que se realice al </a:t>
            </a:r>
            <a:r>
              <a:rPr lang="es-ES" i="1">
                <a:ea typeface="+mn-lt"/>
                <a:cs typeface="+mn-lt"/>
              </a:rPr>
              <a:t>script</a:t>
            </a:r>
            <a:r>
              <a:rPr lang="es-ES">
                <a:ea typeface="+mn-lt"/>
                <a:cs typeface="+mn-lt"/>
              </a:rPr>
              <a:t> principal. </a:t>
            </a:r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61AB95-6EAD-4517-4B31-A3842C887B5A}"/>
              </a:ext>
            </a:extLst>
          </p:cNvPr>
          <p:cNvSpPr txBox="1"/>
          <p:nvPr/>
        </p:nvSpPr>
        <p:spPr>
          <a:xfrm>
            <a:off x="493899" y="615397"/>
            <a:ext cx="51054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err="1">
                <a:solidFill>
                  <a:schemeClr val="bg1"/>
                </a:solidFill>
                <a:ea typeface="Calibri"/>
                <a:cs typeface="Calibri"/>
              </a:rPr>
              <a:t>Observer</a:t>
            </a:r>
            <a:endParaRPr lang="es-ES" sz="4000" b="1" i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4081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10E5-CF7E-1542-F972-2DAC64C5B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8DBCBCF6-C80F-98CD-9B23-5885E4357A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3264918"/>
              </p:ext>
            </p:extLst>
          </p:nvPr>
        </p:nvGraphicFramePr>
        <p:xfrm>
          <a:off x="493899" y="2379010"/>
          <a:ext cx="8705519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09AC6BCC-8B5B-D2F2-5950-3BF5D84F6335}"/>
              </a:ext>
            </a:extLst>
          </p:cNvPr>
          <p:cNvSpPr txBox="1"/>
          <p:nvPr/>
        </p:nvSpPr>
        <p:spPr>
          <a:xfrm>
            <a:off x="493899" y="615397"/>
            <a:ext cx="51054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err="1">
                <a:solidFill>
                  <a:schemeClr val="bg1"/>
                </a:solidFill>
                <a:ea typeface="Calibri"/>
                <a:cs typeface="Calibri"/>
              </a:rPr>
              <a:t>Observer</a:t>
            </a:r>
            <a:endParaRPr lang="es-ES" sz="4000" b="1" i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2337DF1-44B3-670D-F6FA-53B8D8CDDF86}"/>
              </a:ext>
            </a:extLst>
          </p:cNvPr>
          <p:cNvSpPr txBox="1"/>
          <p:nvPr/>
        </p:nvSpPr>
        <p:spPr>
          <a:xfrm>
            <a:off x="493899" y="1687262"/>
            <a:ext cx="6109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>
                <a:solidFill>
                  <a:schemeClr val="accent5"/>
                </a:solidFill>
                <a:ea typeface="+mn-lt"/>
                <a:cs typeface="+mn-lt"/>
              </a:rPr>
              <a:t>Componentes: </a:t>
            </a:r>
            <a:endParaRPr lang="es-ES" sz="2400" b="1">
              <a:solidFill>
                <a:schemeClr val="accent5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7472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95E73-C7E4-1FD8-F793-F705EE78D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A4C56723-E925-0C2E-3379-27F7275EC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99" y="1537854"/>
            <a:ext cx="8258564" cy="514508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7F50A43-D454-9589-03A3-59248D2A535A}"/>
              </a:ext>
            </a:extLst>
          </p:cNvPr>
          <p:cNvSpPr txBox="1"/>
          <p:nvPr/>
        </p:nvSpPr>
        <p:spPr>
          <a:xfrm>
            <a:off x="493899" y="615397"/>
            <a:ext cx="51054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dirty="0" err="1">
                <a:solidFill>
                  <a:schemeClr val="bg1"/>
                </a:solidFill>
                <a:ea typeface="Calibri"/>
                <a:cs typeface="Calibri"/>
              </a:rPr>
              <a:t>Observer</a:t>
            </a:r>
            <a:endParaRPr lang="es-ES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1497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F16A5-D500-9CCE-5C10-B650333F8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8B0022DC-118B-98F5-4C63-0E674BE950BD}"/>
              </a:ext>
            </a:extLst>
          </p:cNvPr>
          <p:cNvSpPr txBox="1"/>
          <p:nvPr/>
        </p:nvSpPr>
        <p:spPr>
          <a:xfrm>
            <a:off x="507753" y="1894102"/>
            <a:ext cx="8442283" cy="452431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>
                <a:ea typeface="+mn-lt"/>
                <a:cs typeface="+mn-lt"/>
              </a:rPr>
              <a:t>Ejemplificar en grupos: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dirty="0">
                <a:ea typeface="+mn-lt"/>
                <a:cs typeface="+mn-lt"/>
              </a:rPr>
              <a:t>El Patrón </a:t>
            </a:r>
            <a:r>
              <a:rPr lang="es-ES" sz="2400" dirty="0" err="1">
                <a:ea typeface="+mn-lt"/>
                <a:cs typeface="+mn-lt"/>
              </a:rPr>
              <a:t>Observer</a:t>
            </a:r>
            <a:r>
              <a:rPr lang="es-ES" sz="2400" dirty="0">
                <a:ea typeface="+mn-lt"/>
                <a:cs typeface="+mn-lt"/>
              </a:rPr>
              <a:t> (Observador) sirve para que un objeto (</a:t>
            </a:r>
            <a:r>
              <a:rPr lang="es-ES" sz="2400" b="1" dirty="0">
                <a:ea typeface="+mn-lt"/>
                <a:cs typeface="+mn-lt"/>
              </a:rPr>
              <a:t>el Sujeto</a:t>
            </a:r>
            <a:r>
              <a:rPr lang="es-ES" sz="2400" dirty="0">
                <a:ea typeface="+mn-lt"/>
                <a:cs typeface="+mn-lt"/>
              </a:rPr>
              <a:t>) notifique automáticamente a otros objetos (</a:t>
            </a:r>
            <a:r>
              <a:rPr lang="es-ES" sz="2400" b="1" dirty="0">
                <a:ea typeface="+mn-lt"/>
                <a:cs typeface="+mn-lt"/>
              </a:rPr>
              <a:t>los Observadores</a:t>
            </a:r>
            <a:r>
              <a:rPr lang="es-ES" sz="2400" dirty="0">
                <a:ea typeface="+mn-lt"/>
                <a:cs typeface="+mn-lt"/>
              </a:rPr>
              <a:t>) cuando cambia su estado.</a:t>
            </a:r>
          </a:p>
          <a:p>
            <a:pPr algn="just"/>
            <a:r>
              <a:rPr lang="es-ES" sz="2400" dirty="0">
                <a:ea typeface="+mn-lt"/>
                <a:cs typeface="+mn-lt"/>
              </a:rPr>
              <a:t>Para este ejemplo real, implementaremos un Sistema de Alerta de Precios de Criptomonedas (Bitcoin). Cuando el precio cambia, se notifica automáticamente a los usuarios a través de diferentes canales (WhatsApp y Email).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dirty="0">
                <a:ea typeface="+mn-lt"/>
                <a:cs typeface="+mn-lt"/>
              </a:rPr>
              <a:t>Realizar en JAVA la implementación de </a:t>
            </a:r>
            <a:r>
              <a:rPr lang="es-ES" sz="2400" dirty="0" err="1">
                <a:ea typeface="+mn-lt"/>
                <a:cs typeface="+mn-lt"/>
              </a:rPr>
              <a:t>Observer</a:t>
            </a:r>
            <a:r>
              <a:rPr lang="es-ES" sz="2400" dirty="0">
                <a:ea typeface="+mn-lt"/>
                <a:cs typeface="+mn-lt"/>
              </a:rPr>
              <a:t> para cotización Bitcoin.</a:t>
            </a:r>
            <a:endParaRPr lang="es-ES" sz="2400" dirty="0"/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AFFA7A9A-0754-B4FC-2073-BEABC209C638}"/>
              </a:ext>
            </a:extLst>
          </p:cNvPr>
          <p:cNvSpPr txBox="1"/>
          <p:nvPr/>
        </p:nvSpPr>
        <p:spPr>
          <a:xfrm>
            <a:off x="507753" y="587688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 err="1">
                <a:solidFill>
                  <a:schemeClr val="bg1"/>
                </a:solidFill>
                <a:ea typeface="Calibri"/>
                <a:cs typeface="Calibri"/>
              </a:rPr>
              <a:t>Observer</a:t>
            </a:r>
            <a:endParaRPr lang="es-ES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6512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>
                <a:solidFill>
                  <a:schemeClr val="bg1"/>
                </a:solidFill>
              </a:rPr>
              <a:t>Síntesis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8945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30886" y="676104"/>
            <a:ext cx="6719776" cy="57415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>
                <a:solidFill>
                  <a:schemeClr val="bg1"/>
                </a:solidFill>
              </a:rPr>
              <a:t>Síntesis de S</a:t>
            </a:r>
            <a:r>
              <a:rPr lang="es-AR" sz="4000" b="1" i="1">
                <a:solidFill>
                  <a:schemeClr val="bg1"/>
                </a:solidFill>
              </a:rPr>
              <a:t>tate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905074" y="1545816"/>
            <a:ext cx="8058816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AR" sz="1600" b="1">
                <a:solidFill>
                  <a:srgbClr val="7F7F7F"/>
                </a:solidFill>
                <a:ea typeface="+mn-lt"/>
                <a:cs typeface="+mn-lt"/>
              </a:rPr>
              <a:t>Propósito: permite que un objeto cambie su comportamiento cuando cambia su estado interno, como si cambiara su clase.</a:t>
            </a:r>
            <a:endParaRPr lang="en-US" sz="2000"/>
          </a:p>
          <a:p>
            <a:endParaRPr lang="es-AR" sz="1600" b="1">
              <a:solidFill>
                <a:srgbClr val="7F7F7F"/>
              </a:solidFill>
              <a:ea typeface="+mn-lt"/>
              <a:cs typeface="+mn-lt"/>
            </a:endParaRPr>
          </a:p>
          <a:p>
            <a:r>
              <a:rPr lang="es-AR" sz="1600" b="1">
                <a:solidFill>
                  <a:srgbClr val="7F7F7F"/>
                </a:solidFill>
                <a:ea typeface="+mn-lt"/>
                <a:cs typeface="+mn-lt"/>
              </a:rPr>
              <a:t>Motivación: evita condicionales extensos al delegar el comportamiento a clases que representan distintos estados.</a:t>
            </a:r>
            <a:br>
              <a:rPr lang="en-US" sz="2000"/>
            </a:br>
            <a:endParaRPr lang="en-US" sz="1600">
              <a:ea typeface="Calibri"/>
              <a:cs typeface="Calibri"/>
            </a:endParaRPr>
          </a:p>
          <a:p>
            <a:r>
              <a:rPr lang="es-AR" sz="1600" b="1">
                <a:solidFill>
                  <a:srgbClr val="7F7F7F"/>
                </a:solidFill>
                <a:ea typeface="+mn-lt"/>
                <a:cs typeface="+mn-lt"/>
              </a:rPr>
              <a:t>Participantes</a:t>
            </a:r>
            <a:endParaRPr lang="es-AR" sz="16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 i="1" err="1">
                <a:solidFill>
                  <a:srgbClr val="7F7F7F"/>
                </a:solidFill>
                <a:latin typeface="Consolas"/>
              </a:rPr>
              <a:t>Context</a:t>
            </a: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: mantiene el estado actual.</a:t>
            </a:r>
            <a:endParaRPr lang="es-AR" sz="16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 i="1" err="1">
                <a:solidFill>
                  <a:srgbClr val="7F7F7F"/>
                </a:solidFill>
                <a:latin typeface="Consolas"/>
              </a:rPr>
              <a:t>State</a:t>
            </a: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 (interfaz): define el comportamiento por estado.</a:t>
            </a:r>
            <a:endParaRPr lang="es-AR" sz="16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 i="1" err="1">
                <a:solidFill>
                  <a:srgbClr val="7F7F7F"/>
                </a:solidFill>
                <a:latin typeface="Consolas"/>
              </a:rPr>
              <a:t>ConcreteState</a:t>
            </a: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: implementaciones específicas del estado.</a:t>
            </a:r>
            <a:br>
              <a:rPr lang="en-US" sz="2000"/>
            </a:br>
            <a:endParaRPr lang="en-US" sz="1600">
              <a:ea typeface="Calibri"/>
              <a:cs typeface="Calibri"/>
            </a:endParaRPr>
          </a:p>
          <a:p>
            <a:r>
              <a:rPr lang="es-AR" sz="1600" b="1">
                <a:solidFill>
                  <a:srgbClr val="7F7F7F"/>
                </a:solidFill>
                <a:ea typeface="+mn-lt"/>
                <a:cs typeface="+mn-lt"/>
              </a:rPr>
              <a:t>Colaboración: el </a:t>
            </a:r>
            <a:r>
              <a:rPr lang="es-AR" sz="1600" i="1" err="1">
                <a:solidFill>
                  <a:srgbClr val="7F7F7F"/>
                </a:solidFill>
                <a:latin typeface="Consolas"/>
              </a:rPr>
              <a:t>Context</a:t>
            </a: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 delega sus operaciones al objeto </a:t>
            </a:r>
            <a:r>
              <a:rPr lang="es-AR" sz="1600" i="1" err="1">
                <a:solidFill>
                  <a:srgbClr val="7F7F7F"/>
                </a:solidFill>
                <a:latin typeface="Consolas"/>
              </a:rPr>
              <a:t>State</a:t>
            </a: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 actual, que puede cambiar dinámicamente.</a:t>
            </a:r>
            <a:br>
              <a:rPr lang="en-US" sz="2000"/>
            </a:br>
            <a:endParaRPr lang="en-US" sz="1600">
              <a:ea typeface="Calibri"/>
              <a:cs typeface="Calibri"/>
            </a:endParaRPr>
          </a:p>
          <a:p>
            <a:r>
              <a:rPr lang="es-AR" sz="1600" b="1">
                <a:solidFill>
                  <a:srgbClr val="7F7F7F"/>
                </a:solidFill>
                <a:ea typeface="+mn-lt"/>
                <a:cs typeface="+mn-lt"/>
              </a:rPr>
              <a:t>Consecuencias</a:t>
            </a:r>
            <a:endParaRPr lang="es-AR" sz="16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Mejora la organización del código relacionado con estados.</a:t>
            </a:r>
            <a:endParaRPr lang="es-AR" sz="16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Hace más fácil agregar nuevos estados.</a:t>
            </a:r>
            <a:endParaRPr lang="es-AR" sz="16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Puede aumentar el número de clases.</a:t>
            </a:r>
            <a:br>
              <a:rPr lang="en-US" sz="2000"/>
            </a:br>
            <a:endParaRPr lang="en-US" sz="1600">
              <a:ea typeface="Calibri"/>
              <a:cs typeface="Calibri"/>
            </a:endParaRPr>
          </a:p>
          <a:p>
            <a:r>
              <a:rPr lang="es-AR" sz="1600" b="1">
                <a:solidFill>
                  <a:srgbClr val="7F7F7F"/>
                </a:solidFill>
                <a:ea typeface="+mn-lt"/>
                <a:cs typeface="+mn-lt"/>
              </a:rPr>
              <a:t>Implementación típica: uso de composición, </a:t>
            </a:r>
            <a:r>
              <a:rPr lang="es-AR" sz="1600" b="1" i="0" u="none" strike="noStrike">
                <a:solidFill>
                  <a:srgbClr val="7F7F7F"/>
                </a:solidFill>
                <a:effectLst/>
                <a:ea typeface="+mn-lt"/>
                <a:cs typeface="+mn-lt"/>
              </a:rPr>
              <a:t>el </a:t>
            </a:r>
            <a:r>
              <a:rPr lang="es-AR" sz="1600" i="1" err="1">
                <a:solidFill>
                  <a:srgbClr val="7F7F7F"/>
                </a:solidFill>
                <a:latin typeface="Consolas"/>
              </a:rPr>
              <a:t>Context</a:t>
            </a: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 mantiene una referencia a un </a:t>
            </a:r>
            <a:r>
              <a:rPr lang="es-AR" sz="1600" i="1" err="1">
                <a:solidFill>
                  <a:srgbClr val="7F7F7F"/>
                </a:solidFill>
                <a:latin typeface="Consolas"/>
              </a:rPr>
              <a:t>State</a:t>
            </a: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 y puede cambiarla según las reglas.</a:t>
            </a:r>
            <a:endParaRPr lang="es-AR" sz="1600">
              <a:solidFill>
                <a:srgbClr val="7F7F7F"/>
              </a:solidFill>
              <a:ea typeface="Calibri"/>
              <a:cs typeface="Calibri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68D5DA7-2D5F-A53C-E970-0E80E266FBFD}"/>
              </a:ext>
            </a:extLst>
          </p:cNvPr>
          <p:cNvSpPr/>
          <p:nvPr/>
        </p:nvSpPr>
        <p:spPr>
          <a:xfrm>
            <a:off x="507706" y="1666515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CFA5E30-B5FC-E65D-AF02-F5BBEEA02572}"/>
              </a:ext>
            </a:extLst>
          </p:cNvPr>
          <p:cNvSpPr/>
          <p:nvPr/>
        </p:nvSpPr>
        <p:spPr>
          <a:xfrm>
            <a:off x="507706" y="2391060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D222F7F-8EEA-208C-3ED3-F6FB7153BF86}"/>
              </a:ext>
            </a:extLst>
          </p:cNvPr>
          <p:cNvSpPr/>
          <p:nvPr/>
        </p:nvSpPr>
        <p:spPr>
          <a:xfrm>
            <a:off x="507706" y="3115611"/>
            <a:ext cx="130628" cy="130628"/>
          </a:xfrm>
          <a:prstGeom prst="ellipse">
            <a:avLst/>
          </a:prstGeom>
          <a:solidFill>
            <a:srgbClr val="ED6B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C256CD4-1EA1-B837-7DD1-2A4C0626943F}"/>
              </a:ext>
            </a:extLst>
          </p:cNvPr>
          <p:cNvSpPr/>
          <p:nvPr/>
        </p:nvSpPr>
        <p:spPr>
          <a:xfrm>
            <a:off x="507706" y="4323774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2C9DA31-48FE-04CD-2883-D1B5471F0681}"/>
              </a:ext>
            </a:extLst>
          </p:cNvPr>
          <p:cNvSpPr/>
          <p:nvPr/>
        </p:nvSpPr>
        <p:spPr>
          <a:xfrm>
            <a:off x="507706" y="5071919"/>
            <a:ext cx="130628" cy="13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AB2C377-617A-B265-F62F-CA60A3A33366}"/>
              </a:ext>
            </a:extLst>
          </p:cNvPr>
          <p:cNvSpPr/>
          <p:nvPr/>
        </p:nvSpPr>
        <p:spPr>
          <a:xfrm>
            <a:off x="507706" y="6280037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6232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3845D-478F-95D3-08DC-547A3C55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EF11BD2-2923-46F2-1777-96D78840C39C}"/>
              </a:ext>
            </a:extLst>
          </p:cNvPr>
          <p:cNvSpPr txBox="1">
            <a:spLocks/>
          </p:cNvSpPr>
          <p:nvPr/>
        </p:nvSpPr>
        <p:spPr>
          <a:xfrm>
            <a:off x="638334" y="664887"/>
            <a:ext cx="6719776" cy="57415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>
                <a:solidFill>
                  <a:schemeClr val="bg1"/>
                </a:solidFill>
              </a:rPr>
              <a:t>Síntesis de O</a:t>
            </a:r>
            <a:r>
              <a:rPr lang="es-AR" sz="4000" b="1" i="1">
                <a:solidFill>
                  <a:schemeClr val="bg1"/>
                </a:solidFill>
              </a:rPr>
              <a:t>bserver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D4B24F-35CF-5C26-2B8E-790217775C69}"/>
              </a:ext>
            </a:extLst>
          </p:cNvPr>
          <p:cNvSpPr txBox="1"/>
          <p:nvPr/>
        </p:nvSpPr>
        <p:spPr>
          <a:xfrm>
            <a:off x="638334" y="1493164"/>
            <a:ext cx="8873952" cy="53245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1600" b="1">
                <a:solidFill>
                  <a:srgbClr val="7F7F7F"/>
                </a:solidFill>
                <a:ea typeface="+mn-lt"/>
                <a:cs typeface="+mn-lt"/>
              </a:rPr>
              <a:t>Propósito: define una dependencia uno-a-muchos entre objetos, de modo que cuando uno cambia, todos sus observadores son notificados automáticamente.</a:t>
            </a:r>
            <a:br>
              <a:rPr lang="en-US" sz="2000"/>
            </a:br>
            <a:endParaRPr lang="en-US" sz="2000">
              <a:ea typeface="Calibri"/>
              <a:cs typeface="Calibri"/>
            </a:endParaRPr>
          </a:p>
          <a:p>
            <a:r>
              <a:rPr lang="es-AR" sz="1600" b="1">
                <a:solidFill>
                  <a:srgbClr val="7F7F7F"/>
                </a:solidFill>
                <a:ea typeface="+mn-lt"/>
                <a:cs typeface="+mn-lt"/>
              </a:rPr>
              <a:t>Motivación: desacopla el sujeto y los observadores, facilitando la extensibilidad y la reacción automática a eventos.</a:t>
            </a:r>
            <a:br>
              <a:rPr lang="en-US" sz="2000"/>
            </a:br>
            <a:endParaRPr lang="en-US" sz="2000">
              <a:ea typeface="Calibri"/>
              <a:cs typeface="Calibri"/>
            </a:endParaRPr>
          </a:p>
          <a:p>
            <a:r>
              <a:rPr lang="es-AR" sz="1600" b="1">
                <a:solidFill>
                  <a:srgbClr val="7F7F7F"/>
                </a:solidFill>
                <a:ea typeface="+mn-lt"/>
                <a:cs typeface="+mn-lt"/>
              </a:rPr>
              <a:t>Participantes</a:t>
            </a:r>
            <a:endParaRPr lang="es-AR" sz="200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 i="1" err="1">
                <a:solidFill>
                  <a:srgbClr val="7F7F7F"/>
                </a:solidFill>
                <a:latin typeface="Consolas"/>
              </a:rPr>
              <a:t>Subject</a:t>
            </a: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: mantiene la lista de observadores y los notifica.</a:t>
            </a:r>
            <a:endParaRPr lang="es-AR" sz="200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 i="1" err="1">
                <a:solidFill>
                  <a:srgbClr val="7F7F7F"/>
                </a:solidFill>
                <a:latin typeface="Consolas"/>
                <a:ea typeface="+mn-lt"/>
                <a:cs typeface="+mn-lt"/>
              </a:rPr>
              <a:t>Observer</a:t>
            </a: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 (interfaz): define el método de actualización.</a:t>
            </a:r>
            <a:endParaRPr lang="es-AR" sz="200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 i="1" err="1">
                <a:solidFill>
                  <a:srgbClr val="7F7F7F"/>
                </a:solidFill>
                <a:latin typeface="Consolas"/>
                <a:ea typeface="+mn-lt"/>
                <a:cs typeface="+mn-lt"/>
              </a:rPr>
              <a:t>ConcreteObserver</a:t>
            </a: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: reacciona a los cambios del sujeto.</a:t>
            </a:r>
            <a:endParaRPr lang="es-AR" sz="2000">
              <a:ea typeface="+mn-lt"/>
              <a:cs typeface="+mn-lt"/>
            </a:endParaRPr>
          </a:p>
          <a:p>
            <a:endParaRPr lang="en-US" sz="2000"/>
          </a:p>
          <a:p>
            <a:r>
              <a:rPr lang="es-AR" sz="1600" b="1">
                <a:solidFill>
                  <a:srgbClr val="7F7F7F"/>
                </a:solidFill>
                <a:ea typeface="+mn-lt"/>
                <a:cs typeface="+mn-lt"/>
              </a:rPr>
              <a:t>Colaboración: el </a:t>
            </a:r>
            <a:r>
              <a:rPr lang="es-AR" sz="1600" i="1" err="1">
                <a:solidFill>
                  <a:srgbClr val="7F7F7F"/>
                </a:solidFill>
                <a:latin typeface="Consolas"/>
                <a:ea typeface="+mn-lt"/>
                <a:cs typeface="+mn-lt"/>
              </a:rPr>
              <a:t>Subject</a:t>
            </a: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 notifica a todos los </a:t>
            </a:r>
            <a:r>
              <a:rPr lang="es-AR" sz="1600" i="1" err="1">
                <a:solidFill>
                  <a:srgbClr val="7F7F7F"/>
                </a:solidFill>
                <a:latin typeface="Consolas"/>
              </a:rPr>
              <a:t>Observer</a:t>
            </a: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 registrados cada vez que cambia su estado.</a:t>
            </a:r>
            <a:br>
              <a:rPr lang="en-US" sz="2000"/>
            </a:br>
            <a:endParaRPr lang="en-US" sz="2000">
              <a:ea typeface="Calibri"/>
              <a:cs typeface="Calibri"/>
            </a:endParaRPr>
          </a:p>
          <a:p>
            <a:r>
              <a:rPr lang="es-AR" sz="1600" b="1">
                <a:solidFill>
                  <a:srgbClr val="7F7F7F"/>
                </a:solidFill>
                <a:ea typeface="+mn-lt"/>
                <a:cs typeface="+mn-lt"/>
              </a:rPr>
              <a:t>Consecuencias</a:t>
            </a:r>
            <a:endParaRPr lang="es-AR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Alta flexibilidad y bajo acoplamiento..</a:t>
            </a:r>
            <a:endParaRPr lang="es-AR" sz="2000"/>
          </a:p>
          <a:p>
            <a:pPr marL="285750" indent="-285750">
              <a:buFont typeface="Arial"/>
              <a:buChar char="•"/>
            </a:pP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Posibilidad de notificaciones automáticas.</a:t>
            </a:r>
            <a:endParaRPr lang="es-AR" sz="2000"/>
          </a:p>
          <a:p>
            <a:pPr marL="285750" indent="-285750">
              <a:buFont typeface="Arial"/>
              <a:buChar char="•"/>
            </a:pP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Riesgo de efectos colaterales si hay muchos observadores.</a:t>
            </a:r>
            <a:br>
              <a:rPr lang="en-US" sz="2000"/>
            </a:br>
            <a:endParaRPr lang="en-US" sz="2000">
              <a:ea typeface="Calibri"/>
              <a:cs typeface="Calibri"/>
            </a:endParaRPr>
          </a:p>
          <a:p>
            <a:r>
              <a:rPr lang="es-AR" sz="1600" b="1">
                <a:solidFill>
                  <a:srgbClr val="7F7F7F"/>
                </a:solidFill>
                <a:ea typeface="+mn-lt"/>
                <a:cs typeface="+mn-lt"/>
              </a:rPr>
              <a:t>Implementación típica: registro y </a:t>
            </a:r>
            <a:r>
              <a:rPr lang="es-AR" sz="1600" b="1" err="1">
                <a:solidFill>
                  <a:srgbClr val="7F7F7F"/>
                </a:solidFill>
                <a:ea typeface="+mn-lt"/>
                <a:cs typeface="+mn-lt"/>
              </a:rPr>
              <a:t>desregistro</a:t>
            </a:r>
            <a:r>
              <a:rPr lang="es-AR" sz="1600" b="1">
                <a:solidFill>
                  <a:srgbClr val="7F7F7F"/>
                </a:solidFill>
                <a:ea typeface="+mn-lt"/>
                <a:cs typeface="+mn-lt"/>
              </a:rPr>
              <a:t> dinámico de observadores, con llamadas a </a:t>
            </a:r>
            <a:r>
              <a:rPr lang="es-AR" sz="1600" err="1">
                <a:solidFill>
                  <a:srgbClr val="7F7F7F"/>
                </a:solidFill>
                <a:latin typeface="Consolas"/>
                <a:ea typeface="+mn-lt"/>
                <a:cs typeface="+mn-lt"/>
              </a:rPr>
              <a:t>update</a:t>
            </a:r>
            <a:r>
              <a:rPr lang="es-AR" sz="1600">
                <a:solidFill>
                  <a:srgbClr val="7F7F7F"/>
                </a:solidFill>
                <a:latin typeface="Consolas"/>
                <a:ea typeface="+mn-lt"/>
                <a:cs typeface="+mn-lt"/>
              </a:rPr>
              <a:t>()</a:t>
            </a:r>
            <a:r>
              <a:rPr lang="es-AR" sz="1600">
                <a:solidFill>
                  <a:srgbClr val="7F7F7F"/>
                </a:solidFill>
                <a:ea typeface="+mn-lt"/>
                <a:cs typeface="+mn-lt"/>
              </a:rPr>
              <a:t> o métodos similares.</a:t>
            </a:r>
            <a:endParaRPr lang="es-AR" sz="2000">
              <a:ea typeface="+mn-lt"/>
              <a:cs typeface="+mn-lt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8DC72CB-FB76-61A7-14B9-877EEE93290C}"/>
              </a:ext>
            </a:extLst>
          </p:cNvPr>
          <p:cNvSpPr/>
          <p:nvPr/>
        </p:nvSpPr>
        <p:spPr>
          <a:xfrm>
            <a:off x="396866" y="1611095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4DEB6D4-0DAD-5CE8-BF9E-AE5A15F43BDA}"/>
              </a:ext>
            </a:extLst>
          </p:cNvPr>
          <p:cNvSpPr/>
          <p:nvPr/>
        </p:nvSpPr>
        <p:spPr>
          <a:xfrm>
            <a:off x="396866" y="2391060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BA71DE1-5125-DE28-2734-8690AB649D3B}"/>
              </a:ext>
            </a:extLst>
          </p:cNvPr>
          <p:cNvSpPr/>
          <p:nvPr/>
        </p:nvSpPr>
        <p:spPr>
          <a:xfrm>
            <a:off x="396866" y="3184886"/>
            <a:ext cx="130628" cy="130628"/>
          </a:xfrm>
          <a:prstGeom prst="ellipse">
            <a:avLst/>
          </a:prstGeom>
          <a:solidFill>
            <a:srgbClr val="ED6B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CD15714-FB16-E013-C706-81B537CE2F20}"/>
              </a:ext>
            </a:extLst>
          </p:cNvPr>
          <p:cNvSpPr/>
          <p:nvPr/>
        </p:nvSpPr>
        <p:spPr>
          <a:xfrm>
            <a:off x="396866" y="4448466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A170EEA-0003-D66D-D8D9-CB8033022BD3}"/>
              </a:ext>
            </a:extLst>
          </p:cNvPr>
          <p:cNvSpPr/>
          <p:nvPr/>
        </p:nvSpPr>
        <p:spPr>
          <a:xfrm>
            <a:off x="396866" y="5016499"/>
            <a:ext cx="130628" cy="13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5718168-B54D-2362-380E-D7EA8ABBED4C}"/>
              </a:ext>
            </a:extLst>
          </p:cNvPr>
          <p:cNvSpPr/>
          <p:nvPr/>
        </p:nvSpPr>
        <p:spPr>
          <a:xfrm>
            <a:off x="396866" y="6293892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73729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52C36-9434-C3E3-8DA1-1936310E9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87612E1-D110-7FE0-B346-3A88EC58C88B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>
                <a:solidFill>
                  <a:schemeClr val="bg1"/>
                </a:solidFill>
              </a:rPr>
              <a:t>¿Preguntas?</a:t>
            </a:r>
            <a:endParaRPr lang="es-E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306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3778293" y="2547264"/>
            <a:ext cx="4319366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HSU, S.; CURRIE, A. y BERGMAN, S.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Construir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software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verde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: un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enfoque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sostenible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para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el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desarrollo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y la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operación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de software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. Barcelona: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Marcombo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, 2025.</a:t>
            </a:r>
            <a:endParaRPr lang="es-ES" dirty="0">
              <a:solidFill>
                <a:schemeClr val="bg1"/>
              </a:solidFill>
              <a:ea typeface="+mn-lt"/>
              <a:cs typeface="+mn-lt"/>
            </a:endParaRPr>
          </a:p>
          <a:p>
            <a:pPr algn="just"/>
            <a:endParaRPr lang="es-E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>
                <a:solidFill>
                  <a:schemeClr val="bg1"/>
                </a:solidFill>
              </a:rPr>
              <a:t>Bibliografía </a:t>
            </a:r>
            <a:r>
              <a:rPr lang="es-AR" sz="360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>
                <a:solidFill>
                  <a:schemeClr val="bg1"/>
                </a:solidFill>
                <a:effectLst/>
              </a:rPr>
              <a:t>​</a:t>
            </a:r>
            <a:endParaRPr lang="es-AR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8C92D704EFF064BA8390B1F0BCDA6A5" ma:contentTypeVersion="19" ma:contentTypeDescription="Crear nuevo documento." ma:contentTypeScope="" ma:versionID="2ca7b30a8b21261bae43d849cd732259">
  <xsd:schema xmlns:xsd="http://www.w3.org/2001/XMLSchema" xmlns:xs="http://www.w3.org/2001/XMLSchema" xmlns:p="http://schemas.microsoft.com/office/2006/metadata/properties" xmlns:ns2="232756c5-2869-4da6-aa3d-6ef32daae75e" xmlns:ns3="b5f0631a-2ac1-434a-9e75-b23938e5739a" targetNamespace="http://schemas.microsoft.com/office/2006/metadata/properties" ma:root="true" ma:fieldsID="1cf8f755b6fc91a6ab28aee5ac077d21" ns2:_="" ns3:_="">
    <xsd:import namespace="232756c5-2869-4da6-aa3d-6ef32daae75e"/>
    <xsd:import namespace="b5f0631a-2ac1-434a-9e75-b23938e573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2756c5-2869-4da6-aa3d-6ef32daae7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f0631a-2ac1-434a-9e75-b23938e5739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9c1aa3-7ebd-4368-a771-30b49c08b8be}" ma:internalName="TaxCatchAll" ma:showField="CatchAllData" ma:web="b5f0631a-2ac1-434a-9e75-b23938e573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f0631a-2ac1-434a-9e75-b23938e5739a" xsi:nil="true"/>
    <lcf76f155ced4ddcb4097134ff3c332f xmlns="232756c5-2869-4da6-aa3d-6ef32daae7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2C34BE-D40D-40B4-A303-F89083FD93CD}">
  <ds:schemaRefs>
    <ds:schemaRef ds:uri="232756c5-2869-4da6-aa3d-6ef32daae75e"/>
    <ds:schemaRef ds:uri="b5f0631a-2ac1-434a-9e75-b23938e573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81803CA-FEBB-4A0D-BD4D-E9503F1B167C}">
  <ds:schemaRefs>
    <ds:schemaRef ds:uri="232756c5-2869-4da6-aa3d-6ef32daae75e"/>
    <ds:schemaRef ds:uri="b5f0631a-2ac1-434a-9e75-b23938e573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2</TotalTime>
  <Words>953</Words>
  <Application>Microsoft Office PowerPoint</Application>
  <PresentationFormat>Panorámica</PresentationFormat>
  <Paragraphs>107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21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Trebuchet MS</vt:lpstr>
      <vt:lpstr>Ubuntu</vt:lpstr>
      <vt:lpstr>Wingdings</vt:lpstr>
      <vt:lpstr>Wingdings 3</vt:lpstr>
      <vt:lpstr>Tema de Office</vt:lpstr>
      <vt:lpstr>1_Office Theme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Moisés Bueno</cp:lastModifiedBy>
  <cp:revision>7</cp:revision>
  <dcterms:created xsi:type="dcterms:W3CDTF">2022-08-30T18:57:15Z</dcterms:created>
  <dcterms:modified xsi:type="dcterms:W3CDTF">2026-09-03T17:14:25Z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0x010100D8C92D704EFF064BA8390B1F0BCDA6A5</vt:lpwstr>
  </property>
  <property fmtid="{D5CDD505-2E9C-101B-9397-08002B2CF9AE}" pid="3" name="MediaServiceImageTags">
    <vt:lpwstr/>
  </property>
</Properties>
</file>
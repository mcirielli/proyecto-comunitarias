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  <p:sldMasterId id="2147483660" r:id="rId6"/>
  </p:sldMasterIdLst>
  <p:notesMasterIdLst>
    <p:notesMasterId r:id="rId32"/>
  </p:notesMasterIdLst>
  <p:handoutMasterIdLst>
    <p:handoutMasterId r:id="rId33"/>
  </p:handoutMasterIdLst>
  <p:sldIdLst>
    <p:sldId id="344" r:id="rId7"/>
    <p:sldId id="346" r:id="rId8"/>
    <p:sldId id="258" r:id="rId9"/>
    <p:sldId id="326" r:id="rId10"/>
    <p:sldId id="348" r:id="rId11"/>
    <p:sldId id="347" r:id="rId12"/>
    <p:sldId id="366" r:id="rId13"/>
    <p:sldId id="349" r:id="rId14"/>
    <p:sldId id="350" r:id="rId15"/>
    <p:sldId id="368" r:id="rId16"/>
    <p:sldId id="355" r:id="rId17"/>
    <p:sldId id="359" r:id="rId18"/>
    <p:sldId id="358" r:id="rId19"/>
    <p:sldId id="357" r:id="rId20"/>
    <p:sldId id="360" r:id="rId21"/>
    <p:sldId id="364" r:id="rId22"/>
    <p:sldId id="363" r:id="rId23"/>
    <p:sldId id="362" r:id="rId24"/>
    <p:sldId id="361" r:id="rId25"/>
    <p:sldId id="369" r:id="rId26"/>
    <p:sldId id="354" r:id="rId27"/>
    <p:sldId id="353" r:id="rId28"/>
    <p:sldId id="367" r:id="rId29"/>
    <p:sldId id="316" r:id="rId30"/>
    <p:sldId id="27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37C43C-CEC8-FE24-E54E-EFD07AB6AFF6}" v="7" dt="2025-10-22T15:25:45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18" autoAdjust="0"/>
    <p:restoredTop sz="96654" autoAdjust="0"/>
  </p:normalViewPr>
  <p:slideViewPr>
    <p:cSldViewPr snapToGrid="0">
      <p:cViewPr varScale="1">
        <p:scale>
          <a:sx n="63" d="100"/>
          <a:sy n="63" d="100"/>
        </p:scale>
        <p:origin x="7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8/10/relationships/authors" Target="authors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5F4AEF-3A3B-4C96-8C82-189E7430CB8A}" type="doc">
      <dgm:prSet loTypeId="urn:microsoft.com/office/officeart/2005/8/layout/hList1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s-AR"/>
        </a:p>
      </dgm:t>
    </dgm:pt>
    <dgm:pt modelId="{264D17BD-4298-4B7F-BB3C-9ECBC8DA0C0D}">
      <dgm:prSet/>
      <dgm:spPr/>
      <dgm:t>
        <a:bodyPr/>
        <a:lstStyle/>
        <a:p>
          <a:r>
            <a:rPr lang="es-ES" b="1" dirty="0"/>
            <a:t>Método </a:t>
          </a:r>
          <a:r>
            <a:rPr lang="es-ES" b="1" i="1" dirty="0"/>
            <a:t>Factory</a:t>
          </a:r>
          <a:r>
            <a:rPr lang="es-ES" b="1" dirty="0"/>
            <a:t>:</a:t>
          </a:r>
          <a:endParaRPr lang="es-AR" b="1" dirty="0"/>
        </a:p>
      </dgm:t>
    </dgm:pt>
    <dgm:pt modelId="{DBEBEAC1-3F56-458E-BBB0-59EAD9F312F7}" type="parTrans" cxnId="{D6CC0A7B-5841-4286-B084-5221184104A2}">
      <dgm:prSet/>
      <dgm:spPr/>
      <dgm:t>
        <a:bodyPr/>
        <a:lstStyle/>
        <a:p>
          <a:endParaRPr lang="es-AR"/>
        </a:p>
      </dgm:t>
    </dgm:pt>
    <dgm:pt modelId="{7654FF45-FFC8-416D-A7EA-1D20B8762081}" type="sibTrans" cxnId="{D6CC0A7B-5841-4286-B084-5221184104A2}">
      <dgm:prSet/>
      <dgm:spPr/>
      <dgm:t>
        <a:bodyPr/>
        <a:lstStyle/>
        <a:p>
          <a:endParaRPr lang="es-AR"/>
        </a:p>
      </dgm:t>
    </dgm:pt>
    <dgm:pt modelId="{711779C6-0CB3-4913-B1F2-AA6451325D85}">
      <dgm:prSet/>
      <dgm:spPr/>
      <dgm:t>
        <a:bodyPr/>
        <a:lstStyle/>
        <a:p>
          <a:r>
            <a:rPr lang="es-ES" b="1" dirty="0"/>
            <a:t>• Interface (o clase abstracta) Producto:</a:t>
          </a:r>
          <a:endParaRPr lang="es-AR" b="1" dirty="0"/>
        </a:p>
      </dgm:t>
    </dgm:pt>
    <dgm:pt modelId="{DFB138D3-0BB2-4CB0-86E3-3DDDCB3A0408}" type="parTrans" cxnId="{E2E11FA2-6475-4187-AAD2-28B8FA782B61}">
      <dgm:prSet/>
      <dgm:spPr/>
      <dgm:t>
        <a:bodyPr/>
        <a:lstStyle/>
        <a:p>
          <a:endParaRPr lang="es-AR"/>
        </a:p>
      </dgm:t>
    </dgm:pt>
    <dgm:pt modelId="{28614088-1360-4CC1-9025-89C05D27B3CC}" type="sibTrans" cxnId="{E2E11FA2-6475-4187-AAD2-28B8FA782B61}">
      <dgm:prSet/>
      <dgm:spPr/>
      <dgm:t>
        <a:bodyPr/>
        <a:lstStyle/>
        <a:p>
          <a:endParaRPr lang="es-AR"/>
        </a:p>
      </dgm:t>
    </dgm:pt>
    <dgm:pt modelId="{0A18B2FA-59E0-4108-A513-592D7F5E2740}">
      <dgm:prSet/>
      <dgm:spPr/>
      <dgm:t>
        <a:bodyPr/>
        <a:lstStyle/>
        <a:p>
          <a:r>
            <a:rPr lang="es-ES" b="1" dirty="0"/>
            <a:t>Productos concretos:</a:t>
          </a:r>
          <a:endParaRPr lang="es-AR" b="1" dirty="0"/>
        </a:p>
      </dgm:t>
    </dgm:pt>
    <dgm:pt modelId="{C9F4A643-C5DF-4851-ADAB-3E571BE52365}" type="parTrans" cxnId="{8E4E980F-C6BF-425E-A89A-56C9EAF01E04}">
      <dgm:prSet/>
      <dgm:spPr/>
      <dgm:t>
        <a:bodyPr/>
        <a:lstStyle/>
        <a:p>
          <a:endParaRPr lang="es-AR"/>
        </a:p>
      </dgm:t>
    </dgm:pt>
    <dgm:pt modelId="{B7589F03-FE6E-4E3A-AAFE-3DD7842A6E63}" type="sibTrans" cxnId="{8E4E980F-C6BF-425E-A89A-56C9EAF01E04}">
      <dgm:prSet/>
      <dgm:spPr/>
      <dgm:t>
        <a:bodyPr/>
        <a:lstStyle/>
        <a:p>
          <a:endParaRPr lang="es-AR"/>
        </a:p>
      </dgm:t>
    </dgm:pt>
    <dgm:pt modelId="{7F572698-A04D-41F5-8E2F-AA81509D9AA9}">
      <dgm:prSet/>
      <dgm:spPr/>
      <dgm:t>
        <a:bodyPr/>
        <a:lstStyle/>
        <a:p>
          <a:r>
            <a:rPr lang="es-ES"/>
            <a:t>Método </a:t>
          </a:r>
          <a:r>
            <a:rPr lang="es-ES" dirty="0"/>
            <a:t>de alguna clase que tiene la responsabilidad de instanciar una clase, de entre muchas, </a:t>
          </a:r>
          <a:r>
            <a:rPr lang="es-ES" dirty="0" err="1"/>
            <a:t>según</a:t>
          </a:r>
          <a:r>
            <a:rPr lang="es-ES" dirty="0"/>
            <a:t> </a:t>
          </a:r>
          <a:r>
            <a:rPr lang="es-ES" dirty="0" err="1"/>
            <a:t>algún</a:t>
          </a:r>
          <a:r>
            <a:rPr lang="es-ES" dirty="0"/>
            <a:t> </a:t>
          </a:r>
          <a:r>
            <a:rPr lang="es-ES" dirty="0" err="1"/>
            <a:t>parámetro</a:t>
          </a:r>
          <a:r>
            <a:rPr lang="es-ES" dirty="0"/>
            <a:t>. Por comodidad, suele ser un </a:t>
          </a:r>
          <a:r>
            <a:rPr lang="es-ES" dirty="0" err="1"/>
            <a:t>método</a:t>
          </a:r>
          <a:r>
            <a:rPr lang="es-ES" dirty="0"/>
            <a:t> de clase (</a:t>
          </a:r>
          <a:r>
            <a:rPr lang="es-ES" dirty="0" err="1"/>
            <a:t>estático</a:t>
          </a:r>
          <a:r>
            <a:rPr lang="es-ES" dirty="0"/>
            <a:t>). Evita que otras clases tengan lógica repetida de instanciación. </a:t>
          </a:r>
          <a:endParaRPr lang="es-AR" dirty="0"/>
        </a:p>
      </dgm:t>
    </dgm:pt>
    <dgm:pt modelId="{65370A6A-5706-42BF-A3ED-3138F1BD94CA}" type="parTrans" cxnId="{606B8225-0ADA-4327-9C69-C7058BB397D0}">
      <dgm:prSet/>
      <dgm:spPr/>
      <dgm:t>
        <a:bodyPr/>
        <a:lstStyle/>
        <a:p>
          <a:endParaRPr lang="es-AR"/>
        </a:p>
      </dgm:t>
    </dgm:pt>
    <dgm:pt modelId="{B87D7AD9-2264-4073-B494-729361FDADF9}" type="sibTrans" cxnId="{606B8225-0ADA-4327-9C69-C7058BB397D0}">
      <dgm:prSet/>
      <dgm:spPr/>
      <dgm:t>
        <a:bodyPr/>
        <a:lstStyle/>
        <a:p>
          <a:endParaRPr lang="es-AR"/>
        </a:p>
      </dgm:t>
    </dgm:pt>
    <dgm:pt modelId="{433CBD61-5805-410D-A221-DCB3A9E29303}">
      <dgm:prSet/>
      <dgm:spPr/>
      <dgm:t>
        <a:bodyPr/>
        <a:lstStyle/>
        <a:p>
          <a:r>
            <a:rPr lang="es-ES" dirty="0"/>
            <a:t>Interface que comparten las clases que necesitan ser instanciadas de forma sencilla/transparente para un tercero. </a:t>
          </a:r>
          <a:endParaRPr lang="es-AR" dirty="0"/>
        </a:p>
      </dgm:t>
    </dgm:pt>
    <dgm:pt modelId="{BB094D7D-A488-436C-B55A-CA5632F9F200}" type="parTrans" cxnId="{BAADE3C7-6BAC-4DD2-9E3A-32DE1DDB7CA6}">
      <dgm:prSet/>
      <dgm:spPr/>
      <dgm:t>
        <a:bodyPr/>
        <a:lstStyle/>
        <a:p>
          <a:endParaRPr lang="es-AR"/>
        </a:p>
      </dgm:t>
    </dgm:pt>
    <dgm:pt modelId="{5D8E7A3B-799A-478E-92EF-C5E72AED2A15}" type="sibTrans" cxnId="{BAADE3C7-6BAC-4DD2-9E3A-32DE1DDB7CA6}">
      <dgm:prSet/>
      <dgm:spPr/>
      <dgm:t>
        <a:bodyPr/>
        <a:lstStyle/>
        <a:p>
          <a:endParaRPr lang="es-AR"/>
        </a:p>
      </dgm:t>
    </dgm:pt>
    <dgm:pt modelId="{971D6292-AAB8-40E0-BCC1-05DE44F9C23F}">
      <dgm:prSet/>
      <dgm:spPr/>
      <dgm:t>
        <a:bodyPr/>
        <a:lstStyle/>
        <a:p>
          <a:r>
            <a:rPr lang="es-ES" dirty="0"/>
            <a:t>Clases concretas que implementan (o heredan de, si fuera clase abstracta) la interface Producto. </a:t>
          </a:r>
          <a:endParaRPr lang="es-AR" dirty="0"/>
        </a:p>
      </dgm:t>
    </dgm:pt>
    <dgm:pt modelId="{846BD8B5-3354-42D6-B6BD-7F2373DDF59A}" type="parTrans" cxnId="{EF282415-B615-4941-94A2-5F7FA478C28F}">
      <dgm:prSet/>
      <dgm:spPr/>
      <dgm:t>
        <a:bodyPr/>
        <a:lstStyle/>
        <a:p>
          <a:endParaRPr lang="es-AR"/>
        </a:p>
      </dgm:t>
    </dgm:pt>
    <dgm:pt modelId="{B265178E-9CE3-4804-AD6A-FCB2F3CC2586}" type="sibTrans" cxnId="{EF282415-B615-4941-94A2-5F7FA478C28F}">
      <dgm:prSet/>
      <dgm:spPr/>
      <dgm:t>
        <a:bodyPr/>
        <a:lstStyle/>
        <a:p>
          <a:endParaRPr lang="es-AR"/>
        </a:p>
      </dgm:t>
    </dgm:pt>
    <dgm:pt modelId="{2E7B62BF-4360-453A-9B2C-298D5F2A3B37}">
      <dgm:prSet/>
      <dgm:spPr/>
      <dgm:t>
        <a:bodyPr/>
        <a:lstStyle/>
        <a:p>
          <a:r>
            <a:rPr lang="es-ES" b="1" dirty="0"/>
            <a:t>Cliente(s):</a:t>
          </a:r>
          <a:endParaRPr lang="es-AR" b="1" dirty="0"/>
        </a:p>
      </dgm:t>
    </dgm:pt>
    <dgm:pt modelId="{685361D0-B3AE-44AB-B24A-5EF287850F2D}" type="parTrans" cxnId="{B1E41EC3-FA7C-44A8-9FD4-593C59FDCB5B}">
      <dgm:prSet/>
      <dgm:spPr/>
      <dgm:t>
        <a:bodyPr/>
        <a:lstStyle/>
        <a:p>
          <a:endParaRPr lang="es-AR"/>
        </a:p>
      </dgm:t>
    </dgm:pt>
    <dgm:pt modelId="{865E216A-00C2-41AC-9BF5-629931321B0B}" type="sibTrans" cxnId="{B1E41EC3-FA7C-44A8-9FD4-593C59FDCB5B}">
      <dgm:prSet/>
      <dgm:spPr/>
      <dgm:t>
        <a:bodyPr/>
        <a:lstStyle/>
        <a:p>
          <a:endParaRPr lang="es-AR"/>
        </a:p>
      </dgm:t>
    </dgm:pt>
    <dgm:pt modelId="{14045C57-A71E-4330-A5FF-85728D138596}">
      <dgm:prSet/>
      <dgm:spPr/>
      <dgm:t>
        <a:bodyPr/>
        <a:lstStyle/>
        <a:p>
          <a:r>
            <a:rPr lang="es-ES"/>
            <a:t>Clase</a:t>
          </a:r>
          <a:r>
            <a:rPr lang="es-ES" dirty="0"/>
            <a:t>(s) cuyos objetos hacen uso del </a:t>
          </a:r>
          <a:r>
            <a:rPr lang="es-ES" dirty="0" err="1"/>
            <a:t>método</a:t>
          </a:r>
          <a:r>
            <a:rPr lang="es-ES" dirty="0"/>
            <a:t> de fabricación</a:t>
          </a:r>
          <a:endParaRPr lang="es-AR" dirty="0"/>
        </a:p>
      </dgm:t>
    </dgm:pt>
    <dgm:pt modelId="{56EB9951-5C54-4510-A675-7151E8A07D25}" type="parTrans" cxnId="{D9E5CC73-EE5A-43DE-A370-300361251E4C}">
      <dgm:prSet/>
      <dgm:spPr/>
      <dgm:t>
        <a:bodyPr/>
        <a:lstStyle/>
        <a:p>
          <a:endParaRPr lang="es-AR"/>
        </a:p>
      </dgm:t>
    </dgm:pt>
    <dgm:pt modelId="{8DC083AA-53B5-429A-8C0B-37615F09BE76}" type="sibTrans" cxnId="{D9E5CC73-EE5A-43DE-A370-300361251E4C}">
      <dgm:prSet/>
      <dgm:spPr/>
      <dgm:t>
        <a:bodyPr/>
        <a:lstStyle/>
        <a:p>
          <a:endParaRPr lang="es-AR"/>
        </a:p>
      </dgm:t>
    </dgm:pt>
    <dgm:pt modelId="{BB4C86D0-FE65-47F9-B921-BE2CB065F3B5}" type="pres">
      <dgm:prSet presAssocID="{805F4AEF-3A3B-4C96-8C82-189E7430CB8A}" presName="Name0" presStyleCnt="0">
        <dgm:presLayoutVars>
          <dgm:dir/>
          <dgm:animLvl val="lvl"/>
          <dgm:resizeHandles val="exact"/>
        </dgm:presLayoutVars>
      </dgm:prSet>
      <dgm:spPr/>
    </dgm:pt>
    <dgm:pt modelId="{4DF0DE51-33CE-4F4E-A67A-D0167A298223}" type="pres">
      <dgm:prSet presAssocID="{264D17BD-4298-4B7F-BB3C-9ECBC8DA0C0D}" presName="composite" presStyleCnt="0"/>
      <dgm:spPr/>
    </dgm:pt>
    <dgm:pt modelId="{2C2F3E96-48BA-4E0B-A822-31419E99AF93}" type="pres">
      <dgm:prSet presAssocID="{264D17BD-4298-4B7F-BB3C-9ECBC8DA0C0D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9F5A4F04-4F92-4B04-A01B-580BA78EC23A}" type="pres">
      <dgm:prSet presAssocID="{264D17BD-4298-4B7F-BB3C-9ECBC8DA0C0D}" presName="desTx" presStyleLbl="alignAccFollowNode1" presStyleIdx="0" presStyleCnt="4">
        <dgm:presLayoutVars>
          <dgm:bulletEnabled val="1"/>
        </dgm:presLayoutVars>
      </dgm:prSet>
      <dgm:spPr/>
    </dgm:pt>
    <dgm:pt modelId="{B1FD77D6-3F26-44EF-B3AD-66BDE2E3A995}" type="pres">
      <dgm:prSet presAssocID="{7654FF45-FFC8-416D-A7EA-1D20B8762081}" presName="space" presStyleCnt="0"/>
      <dgm:spPr/>
    </dgm:pt>
    <dgm:pt modelId="{039AE12E-B0DD-4084-99B3-2FB4907BA50E}" type="pres">
      <dgm:prSet presAssocID="{711779C6-0CB3-4913-B1F2-AA6451325D85}" presName="composite" presStyleCnt="0"/>
      <dgm:spPr/>
    </dgm:pt>
    <dgm:pt modelId="{08735B8C-1EDA-4150-A135-B3A062B6403C}" type="pres">
      <dgm:prSet presAssocID="{711779C6-0CB3-4913-B1F2-AA6451325D85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B9343B3-8E48-452D-8809-153AE38E7A68}" type="pres">
      <dgm:prSet presAssocID="{711779C6-0CB3-4913-B1F2-AA6451325D85}" presName="desTx" presStyleLbl="alignAccFollowNode1" presStyleIdx="1" presStyleCnt="4">
        <dgm:presLayoutVars>
          <dgm:bulletEnabled val="1"/>
        </dgm:presLayoutVars>
      </dgm:prSet>
      <dgm:spPr/>
    </dgm:pt>
    <dgm:pt modelId="{06FCC96A-CE60-4E5C-923E-B8F67E795369}" type="pres">
      <dgm:prSet presAssocID="{28614088-1360-4CC1-9025-89C05D27B3CC}" presName="space" presStyleCnt="0"/>
      <dgm:spPr/>
    </dgm:pt>
    <dgm:pt modelId="{A6283B25-7F1E-4DC3-A2EC-CECB6EBF8912}" type="pres">
      <dgm:prSet presAssocID="{0A18B2FA-59E0-4108-A513-592D7F5E2740}" presName="composite" presStyleCnt="0"/>
      <dgm:spPr/>
    </dgm:pt>
    <dgm:pt modelId="{9A35B4C8-C9A9-4A3F-9701-542AB6E9004E}" type="pres">
      <dgm:prSet presAssocID="{0A18B2FA-59E0-4108-A513-592D7F5E2740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CC67EE7-6E6D-4208-B920-DF4292D102AE}" type="pres">
      <dgm:prSet presAssocID="{0A18B2FA-59E0-4108-A513-592D7F5E2740}" presName="desTx" presStyleLbl="alignAccFollowNode1" presStyleIdx="2" presStyleCnt="4">
        <dgm:presLayoutVars>
          <dgm:bulletEnabled val="1"/>
        </dgm:presLayoutVars>
      </dgm:prSet>
      <dgm:spPr/>
    </dgm:pt>
    <dgm:pt modelId="{385CF7B4-9CB0-4CA7-A587-F61505BF3E44}" type="pres">
      <dgm:prSet presAssocID="{B7589F03-FE6E-4E3A-AAFE-3DD7842A6E63}" presName="space" presStyleCnt="0"/>
      <dgm:spPr/>
    </dgm:pt>
    <dgm:pt modelId="{EA8DF36B-B169-46BE-987E-6FD769D779BF}" type="pres">
      <dgm:prSet presAssocID="{2E7B62BF-4360-453A-9B2C-298D5F2A3B37}" presName="composite" presStyleCnt="0"/>
      <dgm:spPr/>
    </dgm:pt>
    <dgm:pt modelId="{329A2CCD-FAA3-44EA-B3A5-6E0B909E6C8A}" type="pres">
      <dgm:prSet presAssocID="{2E7B62BF-4360-453A-9B2C-298D5F2A3B3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59B89E4-551A-4828-BD4C-D3B70A900AD0}" type="pres">
      <dgm:prSet presAssocID="{2E7B62BF-4360-453A-9B2C-298D5F2A3B3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90F4505-39D3-4765-8FAB-793A3B1C3840}" type="presOf" srcId="{2E7B62BF-4360-453A-9B2C-298D5F2A3B37}" destId="{329A2CCD-FAA3-44EA-B3A5-6E0B909E6C8A}" srcOrd="0" destOrd="0" presId="urn:microsoft.com/office/officeart/2005/8/layout/hList1"/>
    <dgm:cxn modelId="{8E4E980F-C6BF-425E-A89A-56C9EAF01E04}" srcId="{805F4AEF-3A3B-4C96-8C82-189E7430CB8A}" destId="{0A18B2FA-59E0-4108-A513-592D7F5E2740}" srcOrd="2" destOrd="0" parTransId="{C9F4A643-C5DF-4851-ADAB-3E571BE52365}" sibTransId="{B7589F03-FE6E-4E3A-AAFE-3DD7842A6E63}"/>
    <dgm:cxn modelId="{EF282415-B615-4941-94A2-5F7FA478C28F}" srcId="{0A18B2FA-59E0-4108-A513-592D7F5E2740}" destId="{971D6292-AAB8-40E0-BCC1-05DE44F9C23F}" srcOrd="0" destOrd="0" parTransId="{846BD8B5-3354-42D6-B6BD-7F2373DDF59A}" sibTransId="{B265178E-9CE3-4804-AD6A-FCB2F3CC2586}"/>
    <dgm:cxn modelId="{406F851F-02D7-408B-A4BA-0505514DB75E}" type="presOf" srcId="{805F4AEF-3A3B-4C96-8C82-189E7430CB8A}" destId="{BB4C86D0-FE65-47F9-B921-BE2CB065F3B5}" srcOrd="0" destOrd="0" presId="urn:microsoft.com/office/officeart/2005/8/layout/hList1"/>
    <dgm:cxn modelId="{B7C9DF23-EC46-4466-9731-65BDF70C5E63}" type="presOf" srcId="{711779C6-0CB3-4913-B1F2-AA6451325D85}" destId="{08735B8C-1EDA-4150-A135-B3A062B6403C}" srcOrd="0" destOrd="0" presId="urn:microsoft.com/office/officeart/2005/8/layout/hList1"/>
    <dgm:cxn modelId="{606B8225-0ADA-4327-9C69-C7058BB397D0}" srcId="{264D17BD-4298-4B7F-BB3C-9ECBC8DA0C0D}" destId="{7F572698-A04D-41F5-8E2F-AA81509D9AA9}" srcOrd="0" destOrd="0" parTransId="{65370A6A-5706-42BF-A3ED-3138F1BD94CA}" sibTransId="{B87D7AD9-2264-4073-B494-729361FDADF9}"/>
    <dgm:cxn modelId="{A0AA7D40-1E87-4AE8-9734-BB800EADFAAC}" type="presOf" srcId="{264D17BD-4298-4B7F-BB3C-9ECBC8DA0C0D}" destId="{2C2F3E96-48BA-4E0B-A822-31419E99AF93}" srcOrd="0" destOrd="0" presId="urn:microsoft.com/office/officeart/2005/8/layout/hList1"/>
    <dgm:cxn modelId="{36786A5E-364B-4991-BB86-4999C4794F93}" type="presOf" srcId="{14045C57-A71E-4330-A5FF-85728D138596}" destId="{559B89E4-551A-4828-BD4C-D3B70A900AD0}" srcOrd="0" destOrd="0" presId="urn:microsoft.com/office/officeart/2005/8/layout/hList1"/>
    <dgm:cxn modelId="{DDCE6063-F472-4E39-B083-4438B5808460}" type="presOf" srcId="{0A18B2FA-59E0-4108-A513-592D7F5E2740}" destId="{9A35B4C8-C9A9-4A3F-9701-542AB6E9004E}" srcOrd="0" destOrd="0" presId="urn:microsoft.com/office/officeart/2005/8/layout/hList1"/>
    <dgm:cxn modelId="{F6AFC54A-3D54-4065-96A4-85B2D9891838}" type="presOf" srcId="{7F572698-A04D-41F5-8E2F-AA81509D9AA9}" destId="{9F5A4F04-4F92-4B04-A01B-580BA78EC23A}" srcOrd="0" destOrd="0" presId="urn:microsoft.com/office/officeart/2005/8/layout/hList1"/>
    <dgm:cxn modelId="{D9E5CC73-EE5A-43DE-A370-300361251E4C}" srcId="{2E7B62BF-4360-453A-9B2C-298D5F2A3B37}" destId="{14045C57-A71E-4330-A5FF-85728D138596}" srcOrd="0" destOrd="0" parTransId="{56EB9951-5C54-4510-A675-7151E8A07D25}" sibTransId="{8DC083AA-53B5-429A-8C0B-37615F09BE76}"/>
    <dgm:cxn modelId="{D6CC0A7B-5841-4286-B084-5221184104A2}" srcId="{805F4AEF-3A3B-4C96-8C82-189E7430CB8A}" destId="{264D17BD-4298-4B7F-BB3C-9ECBC8DA0C0D}" srcOrd="0" destOrd="0" parTransId="{DBEBEAC1-3F56-458E-BBB0-59EAD9F312F7}" sibTransId="{7654FF45-FFC8-416D-A7EA-1D20B8762081}"/>
    <dgm:cxn modelId="{E2E11FA2-6475-4187-AAD2-28B8FA782B61}" srcId="{805F4AEF-3A3B-4C96-8C82-189E7430CB8A}" destId="{711779C6-0CB3-4913-B1F2-AA6451325D85}" srcOrd="1" destOrd="0" parTransId="{DFB138D3-0BB2-4CB0-86E3-3DDDCB3A0408}" sibTransId="{28614088-1360-4CC1-9025-89C05D27B3CC}"/>
    <dgm:cxn modelId="{B1E41EC3-FA7C-44A8-9FD4-593C59FDCB5B}" srcId="{805F4AEF-3A3B-4C96-8C82-189E7430CB8A}" destId="{2E7B62BF-4360-453A-9B2C-298D5F2A3B37}" srcOrd="3" destOrd="0" parTransId="{685361D0-B3AE-44AB-B24A-5EF287850F2D}" sibTransId="{865E216A-00C2-41AC-9BF5-629931321B0B}"/>
    <dgm:cxn modelId="{BAADE3C7-6BAC-4DD2-9E3A-32DE1DDB7CA6}" srcId="{711779C6-0CB3-4913-B1F2-AA6451325D85}" destId="{433CBD61-5805-410D-A221-DCB3A9E29303}" srcOrd="0" destOrd="0" parTransId="{BB094D7D-A488-436C-B55A-CA5632F9F200}" sibTransId="{5D8E7A3B-799A-478E-92EF-C5E72AED2A15}"/>
    <dgm:cxn modelId="{8B2BFAE1-1318-46EA-8336-A19B73A4AA78}" type="presOf" srcId="{971D6292-AAB8-40E0-BCC1-05DE44F9C23F}" destId="{4CC67EE7-6E6D-4208-B920-DF4292D102AE}" srcOrd="0" destOrd="0" presId="urn:microsoft.com/office/officeart/2005/8/layout/hList1"/>
    <dgm:cxn modelId="{E7A375E7-4B4F-4403-891C-18B856C5715B}" type="presOf" srcId="{433CBD61-5805-410D-A221-DCB3A9E29303}" destId="{3B9343B3-8E48-452D-8809-153AE38E7A68}" srcOrd="0" destOrd="0" presId="urn:microsoft.com/office/officeart/2005/8/layout/hList1"/>
    <dgm:cxn modelId="{80141440-C549-4AB9-8D09-838C1C64C534}" type="presParOf" srcId="{BB4C86D0-FE65-47F9-B921-BE2CB065F3B5}" destId="{4DF0DE51-33CE-4F4E-A67A-D0167A298223}" srcOrd="0" destOrd="0" presId="urn:microsoft.com/office/officeart/2005/8/layout/hList1"/>
    <dgm:cxn modelId="{05EE4F87-7192-42F2-9719-29714D7DF4EF}" type="presParOf" srcId="{4DF0DE51-33CE-4F4E-A67A-D0167A298223}" destId="{2C2F3E96-48BA-4E0B-A822-31419E99AF93}" srcOrd="0" destOrd="0" presId="urn:microsoft.com/office/officeart/2005/8/layout/hList1"/>
    <dgm:cxn modelId="{652DA7E4-09CB-4F1F-B250-31BDF064658A}" type="presParOf" srcId="{4DF0DE51-33CE-4F4E-A67A-D0167A298223}" destId="{9F5A4F04-4F92-4B04-A01B-580BA78EC23A}" srcOrd="1" destOrd="0" presId="urn:microsoft.com/office/officeart/2005/8/layout/hList1"/>
    <dgm:cxn modelId="{EDF2986D-AD95-40D8-B18A-63CB0408DD56}" type="presParOf" srcId="{BB4C86D0-FE65-47F9-B921-BE2CB065F3B5}" destId="{B1FD77D6-3F26-44EF-B3AD-66BDE2E3A995}" srcOrd="1" destOrd="0" presId="urn:microsoft.com/office/officeart/2005/8/layout/hList1"/>
    <dgm:cxn modelId="{734B9B9F-E524-4DE1-B6CB-80C43635D3EA}" type="presParOf" srcId="{BB4C86D0-FE65-47F9-B921-BE2CB065F3B5}" destId="{039AE12E-B0DD-4084-99B3-2FB4907BA50E}" srcOrd="2" destOrd="0" presId="urn:microsoft.com/office/officeart/2005/8/layout/hList1"/>
    <dgm:cxn modelId="{A69510A2-7C0B-45FF-8552-E362AA39797C}" type="presParOf" srcId="{039AE12E-B0DD-4084-99B3-2FB4907BA50E}" destId="{08735B8C-1EDA-4150-A135-B3A062B6403C}" srcOrd="0" destOrd="0" presId="urn:microsoft.com/office/officeart/2005/8/layout/hList1"/>
    <dgm:cxn modelId="{55A49A96-A115-4490-885D-97AD0B8B7085}" type="presParOf" srcId="{039AE12E-B0DD-4084-99B3-2FB4907BA50E}" destId="{3B9343B3-8E48-452D-8809-153AE38E7A68}" srcOrd="1" destOrd="0" presId="urn:microsoft.com/office/officeart/2005/8/layout/hList1"/>
    <dgm:cxn modelId="{927E446B-C9A3-4B5F-AB4C-BCAA9813281F}" type="presParOf" srcId="{BB4C86D0-FE65-47F9-B921-BE2CB065F3B5}" destId="{06FCC96A-CE60-4E5C-923E-B8F67E795369}" srcOrd="3" destOrd="0" presId="urn:microsoft.com/office/officeart/2005/8/layout/hList1"/>
    <dgm:cxn modelId="{A48414D1-9D70-4FEB-B391-84FE5B0544AE}" type="presParOf" srcId="{BB4C86D0-FE65-47F9-B921-BE2CB065F3B5}" destId="{A6283B25-7F1E-4DC3-A2EC-CECB6EBF8912}" srcOrd="4" destOrd="0" presId="urn:microsoft.com/office/officeart/2005/8/layout/hList1"/>
    <dgm:cxn modelId="{26F49A9A-3D03-4633-886B-6E29E416EE35}" type="presParOf" srcId="{A6283B25-7F1E-4DC3-A2EC-CECB6EBF8912}" destId="{9A35B4C8-C9A9-4A3F-9701-542AB6E9004E}" srcOrd="0" destOrd="0" presId="urn:microsoft.com/office/officeart/2005/8/layout/hList1"/>
    <dgm:cxn modelId="{99581919-D1BA-49CE-8502-6C2AC55D4905}" type="presParOf" srcId="{A6283B25-7F1E-4DC3-A2EC-CECB6EBF8912}" destId="{4CC67EE7-6E6D-4208-B920-DF4292D102AE}" srcOrd="1" destOrd="0" presId="urn:microsoft.com/office/officeart/2005/8/layout/hList1"/>
    <dgm:cxn modelId="{53B7B58F-6448-4B0D-AE91-27B33507E265}" type="presParOf" srcId="{BB4C86D0-FE65-47F9-B921-BE2CB065F3B5}" destId="{385CF7B4-9CB0-4CA7-A587-F61505BF3E44}" srcOrd="5" destOrd="0" presId="urn:microsoft.com/office/officeart/2005/8/layout/hList1"/>
    <dgm:cxn modelId="{C25F22A2-C300-4CEB-9817-95C4F1DBAB6F}" type="presParOf" srcId="{BB4C86D0-FE65-47F9-B921-BE2CB065F3B5}" destId="{EA8DF36B-B169-46BE-987E-6FD769D779BF}" srcOrd="6" destOrd="0" presId="urn:microsoft.com/office/officeart/2005/8/layout/hList1"/>
    <dgm:cxn modelId="{749D0CF0-E6B9-442E-B14F-2DB4EEA09849}" type="presParOf" srcId="{EA8DF36B-B169-46BE-987E-6FD769D779BF}" destId="{329A2CCD-FAA3-44EA-B3A5-6E0B909E6C8A}" srcOrd="0" destOrd="0" presId="urn:microsoft.com/office/officeart/2005/8/layout/hList1"/>
    <dgm:cxn modelId="{E566D37E-428A-4754-B126-1A623F275F9D}" type="presParOf" srcId="{EA8DF36B-B169-46BE-987E-6FD769D779BF}" destId="{559B89E4-551A-4828-BD4C-D3B70A900AD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2F3E96-48BA-4E0B-A822-31419E99AF93}">
      <dsp:nvSpPr>
        <dsp:cNvPr id="0" name=""/>
        <dsp:cNvSpPr/>
      </dsp:nvSpPr>
      <dsp:spPr>
        <a:xfrm>
          <a:off x="3277" y="29114"/>
          <a:ext cx="1970568" cy="54332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Método </a:t>
          </a:r>
          <a:r>
            <a:rPr lang="es-ES" sz="1500" b="1" i="1" kern="1200" dirty="0"/>
            <a:t>Factory</a:t>
          </a:r>
          <a:r>
            <a:rPr lang="es-ES" sz="1500" b="1" kern="1200" dirty="0"/>
            <a:t>:</a:t>
          </a:r>
          <a:endParaRPr lang="es-AR" sz="1500" b="1" kern="1200" dirty="0"/>
        </a:p>
      </dsp:txBody>
      <dsp:txXfrm>
        <a:off x="3277" y="29114"/>
        <a:ext cx="1970568" cy="543321"/>
      </dsp:txXfrm>
    </dsp:sp>
    <dsp:sp modelId="{9F5A4F04-4F92-4B04-A01B-580BA78EC23A}">
      <dsp:nvSpPr>
        <dsp:cNvPr id="0" name=""/>
        <dsp:cNvSpPr/>
      </dsp:nvSpPr>
      <dsp:spPr>
        <a:xfrm>
          <a:off x="3277" y="572436"/>
          <a:ext cx="1970568" cy="2964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Método </a:t>
          </a:r>
          <a:r>
            <a:rPr lang="es-ES" sz="1500" kern="1200" dirty="0"/>
            <a:t>de alguna clase que tiene la responsabilidad de instanciar una clase, de entre muchas, </a:t>
          </a:r>
          <a:r>
            <a:rPr lang="es-ES" sz="1500" kern="1200" dirty="0" err="1"/>
            <a:t>según</a:t>
          </a:r>
          <a:r>
            <a:rPr lang="es-ES" sz="1500" kern="1200" dirty="0"/>
            <a:t> </a:t>
          </a:r>
          <a:r>
            <a:rPr lang="es-ES" sz="1500" kern="1200" dirty="0" err="1"/>
            <a:t>algún</a:t>
          </a:r>
          <a:r>
            <a:rPr lang="es-ES" sz="1500" kern="1200" dirty="0"/>
            <a:t> </a:t>
          </a:r>
          <a:r>
            <a:rPr lang="es-ES" sz="1500" kern="1200" dirty="0" err="1"/>
            <a:t>parámetro</a:t>
          </a:r>
          <a:r>
            <a:rPr lang="es-ES" sz="1500" kern="1200" dirty="0"/>
            <a:t>. Por comodidad, suele ser un </a:t>
          </a:r>
          <a:r>
            <a:rPr lang="es-ES" sz="1500" kern="1200" dirty="0" err="1"/>
            <a:t>método</a:t>
          </a:r>
          <a:r>
            <a:rPr lang="es-ES" sz="1500" kern="1200" dirty="0"/>
            <a:t> de clase (</a:t>
          </a:r>
          <a:r>
            <a:rPr lang="es-ES" sz="1500" kern="1200" dirty="0" err="1"/>
            <a:t>estático</a:t>
          </a:r>
          <a:r>
            <a:rPr lang="es-ES" sz="1500" kern="1200" dirty="0"/>
            <a:t>). Evita que otras clases tengan lógica repetida de instanciación. </a:t>
          </a:r>
          <a:endParaRPr lang="es-AR" sz="1500" kern="1200" dirty="0"/>
        </a:p>
      </dsp:txBody>
      <dsp:txXfrm>
        <a:off x="3277" y="572436"/>
        <a:ext cx="1970568" cy="2964600"/>
      </dsp:txXfrm>
    </dsp:sp>
    <dsp:sp modelId="{08735B8C-1EDA-4150-A135-B3A062B6403C}">
      <dsp:nvSpPr>
        <dsp:cNvPr id="0" name=""/>
        <dsp:cNvSpPr/>
      </dsp:nvSpPr>
      <dsp:spPr>
        <a:xfrm>
          <a:off x="2249725" y="29114"/>
          <a:ext cx="1970568" cy="54332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• Interface (o clase abstracta) Producto:</a:t>
          </a:r>
          <a:endParaRPr lang="es-AR" sz="1500" b="1" kern="1200" dirty="0"/>
        </a:p>
      </dsp:txBody>
      <dsp:txXfrm>
        <a:off x="2249725" y="29114"/>
        <a:ext cx="1970568" cy="543321"/>
      </dsp:txXfrm>
    </dsp:sp>
    <dsp:sp modelId="{3B9343B3-8E48-452D-8809-153AE38E7A68}">
      <dsp:nvSpPr>
        <dsp:cNvPr id="0" name=""/>
        <dsp:cNvSpPr/>
      </dsp:nvSpPr>
      <dsp:spPr>
        <a:xfrm>
          <a:off x="2249725" y="572436"/>
          <a:ext cx="1970568" cy="2964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Interface que comparten las clases que necesitan ser instanciadas de forma sencilla/transparente para un tercero. </a:t>
          </a:r>
          <a:endParaRPr lang="es-AR" sz="1500" kern="1200" dirty="0"/>
        </a:p>
      </dsp:txBody>
      <dsp:txXfrm>
        <a:off x="2249725" y="572436"/>
        <a:ext cx="1970568" cy="2964600"/>
      </dsp:txXfrm>
    </dsp:sp>
    <dsp:sp modelId="{9A35B4C8-C9A9-4A3F-9701-542AB6E9004E}">
      <dsp:nvSpPr>
        <dsp:cNvPr id="0" name=""/>
        <dsp:cNvSpPr/>
      </dsp:nvSpPr>
      <dsp:spPr>
        <a:xfrm>
          <a:off x="4496174" y="29114"/>
          <a:ext cx="1970568" cy="54332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Productos concretos:</a:t>
          </a:r>
          <a:endParaRPr lang="es-AR" sz="1500" b="1" kern="1200" dirty="0"/>
        </a:p>
      </dsp:txBody>
      <dsp:txXfrm>
        <a:off x="4496174" y="29114"/>
        <a:ext cx="1970568" cy="543321"/>
      </dsp:txXfrm>
    </dsp:sp>
    <dsp:sp modelId="{4CC67EE7-6E6D-4208-B920-DF4292D102AE}">
      <dsp:nvSpPr>
        <dsp:cNvPr id="0" name=""/>
        <dsp:cNvSpPr/>
      </dsp:nvSpPr>
      <dsp:spPr>
        <a:xfrm>
          <a:off x="4496174" y="572436"/>
          <a:ext cx="1970568" cy="2964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 dirty="0"/>
            <a:t>Clases concretas que implementan (o heredan de, si fuera clase abstracta) la interface Producto. </a:t>
          </a:r>
          <a:endParaRPr lang="es-AR" sz="1500" kern="1200" dirty="0"/>
        </a:p>
      </dsp:txBody>
      <dsp:txXfrm>
        <a:off x="4496174" y="572436"/>
        <a:ext cx="1970568" cy="2964600"/>
      </dsp:txXfrm>
    </dsp:sp>
    <dsp:sp modelId="{329A2CCD-FAA3-44EA-B3A5-6E0B909E6C8A}">
      <dsp:nvSpPr>
        <dsp:cNvPr id="0" name=""/>
        <dsp:cNvSpPr/>
      </dsp:nvSpPr>
      <dsp:spPr>
        <a:xfrm>
          <a:off x="6742622" y="29114"/>
          <a:ext cx="1970568" cy="543321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60960" rIns="106680" bIns="6096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500" b="1" kern="1200" dirty="0"/>
            <a:t>Cliente(s):</a:t>
          </a:r>
          <a:endParaRPr lang="es-AR" sz="1500" b="1" kern="1200" dirty="0"/>
        </a:p>
      </dsp:txBody>
      <dsp:txXfrm>
        <a:off x="6742622" y="29114"/>
        <a:ext cx="1970568" cy="543321"/>
      </dsp:txXfrm>
    </dsp:sp>
    <dsp:sp modelId="{559B89E4-551A-4828-BD4C-D3B70A900AD0}">
      <dsp:nvSpPr>
        <dsp:cNvPr id="0" name=""/>
        <dsp:cNvSpPr/>
      </dsp:nvSpPr>
      <dsp:spPr>
        <a:xfrm>
          <a:off x="6742622" y="572436"/>
          <a:ext cx="1970568" cy="2964600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106680" bIns="12001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500" kern="1200"/>
            <a:t>Clase</a:t>
          </a:r>
          <a:r>
            <a:rPr lang="es-ES" sz="1500" kern="1200" dirty="0"/>
            <a:t>(s) cuyos objetos hacen uso del </a:t>
          </a:r>
          <a:r>
            <a:rPr lang="es-ES" sz="1500" kern="1200" dirty="0" err="1"/>
            <a:t>método</a:t>
          </a:r>
          <a:r>
            <a:rPr lang="es-ES" sz="1500" kern="1200" dirty="0"/>
            <a:t> de fabricación</a:t>
          </a:r>
          <a:endParaRPr lang="es-AR" sz="1500" kern="1200" dirty="0"/>
        </a:p>
      </dsp:txBody>
      <dsp:txXfrm>
        <a:off x="6742622" y="572436"/>
        <a:ext cx="1970568" cy="2964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441F7-0A78-4297-9737-0443242114E2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5254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A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441F7-0A78-4297-9737-0443242114E2}" type="datetimeFigureOut">
              <a:rPr lang="es-AR" smtClean="0"/>
              <a:t>17/9/2026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26BA32B-691B-46E8-8163-E2FBFCC2E1E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86555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UADE </a:t>
            </a:r>
            <a:r>
              <a:rPr lang="es-AR" sz="6600" b="1" dirty="0" err="1">
                <a:solidFill>
                  <a:schemeClr val="bg1"/>
                </a:solidFill>
              </a:rPr>
              <a:t>Connect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72448" y="669178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1322661" y="1785810"/>
            <a:ext cx="6738207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dirty="0" err="1">
                <a:solidFill>
                  <a:srgbClr val="7F7F7F"/>
                </a:solidFill>
                <a:ea typeface="+mn-lt"/>
                <a:cs typeface="+mn-lt"/>
              </a:rPr>
              <a:t>Singleton</a:t>
            </a:r>
            <a:endParaRPr lang="es-ES" b="1" i="1" dirty="0" err="1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81D4304-08BD-C2C7-9E4F-2B70114F4BFB}"/>
              </a:ext>
            </a:extLst>
          </p:cNvPr>
          <p:cNvSpPr txBox="1"/>
          <p:nvPr/>
        </p:nvSpPr>
        <p:spPr>
          <a:xfrm>
            <a:off x="1322657" y="2543571"/>
            <a:ext cx="67382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dirty="0">
                <a:solidFill>
                  <a:srgbClr val="7F7F7F"/>
                </a:solidFill>
                <a:ea typeface="+mn-lt"/>
                <a:cs typeface="+mn-lt"/>
              </a:rPr>
              <a:t>Factory </a:t>
            </a:r>
            <a:r>
              <a:rPr lang="es-AR" sz="3200" b="1" i="1" dirty="0" err="1">
                <a:solidFill>
                  <a:srgbClr val="7F7F7F"/>
                </a:solidFill>
                <a:ea typeface="+mn-lt"/>
                <a:cs typeface="+mn-lt"/>
              </a:rPr>
              <a:t>Method</a:t>
            </a:r>
            <a:endParaRPr lang="es-ES" b="1" i="1" dirty="0" err="1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CB2031C-D4A1-6581-9F75-F445D16529A2}"/>
              </a:ext>
            </a:extLst>
          </p:cNvPr>
          <p:cNvSpPr txBox="1"/>
          <p:nvPr/>
        </p:nvSpPr>
        <p:spPr>
          <a:xfrm>
            <a:off x="1322661" y="3301332"/>
            <a:ext cx="67382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i="1" dirty="0">
                <a:solidFill>
                  <a:srgbClr val="7F7F7F"/>
                </a:solidFill>
                <a:ea typeface="+mn-lt"/>
                <a:cs typeface="+mn-lt"/>
              </a:rPr>
              <a:t>Simple Factory</a:t>
            </a:r>
            <a:endParaRPr lang="es-ES" b="1" i="1" dirty="0" err="1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3C1FE7AD-CB70-1C35-44BF-DF78403ACA9C}"/>
              </a:ext>
            </a:extLst>
          </p:cNvPr>
          <p:cNvSpPr/>
          <p:nvPr/>
        </p:nvSpPr>
        <p:spPr>
          <a:xfrm>
            <a:off x="863949" y="2012883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82FE8D8F-B960-6CDE-91B5-04B0CE3126F1}"/>
              </a:ext>
            </a:extLst>
          </p:cNvPr>
          <p:cNvSpPr/>
          <p:nvPr/>
        </p:nvSpPr>
        <p:spPr>
          <a:xfrm>
            <a:off x="863949" y="2751286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F5226316-73BD-DC8A-090B-3563ACC060FD}"/>
              </a:ext>
            </a:extLst>
          </p:cNvPr>
          <p:cNvSpPr/>
          <p:nvPr/>
        </p:nvSpPr>
        <p:spPr>
          <a:xfrm>
            <a:off x="863949" y="3545103"/>
            <a:ext cx="130628" cy="130628"/>
          </a:xfrm>
          <a:prstGeom prst="ellipse">
            <a:avLst/>
          </a:prstGeom>
          <a:solidFill>
            <a:srgbClr val="ED6B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AB2D9F-823B-7674-B14A-D2A9AB1A3F45}"/>
              </a:ext>
            </a:extLst>
          </p:cNvPr>
          <p:cNvSpPr txBox="1"/>
          <p:nvPr/>
        </p:nvSpPr>
        <p:spPr>
          <a:xfrm>
            <a:off x="1322657" y="4059094"/>
            <a:ext cx="6738211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Síntesis</a:t>
            </a:r>
            <a:endParaRPr lang="es-ES" b="1" dirty="0" err="1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1894324-27B1-119E-CC9A-FDF795B8592E}"/>
              </a:ext>
            </a:extLst>
          </p:cNvPr>
          <p:cNvSpPr/>
          <p:nvPr/>
        </p:nvSpPr>
        <p:spPr>
          <a:xfrm>
            <a:off x="863949" y="4295774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Singleton</a:t>
            </a:r>
            <a:endParaRPr lang="es-ES" b="1" i="1" dirty="0" err="1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CE47BBF-863E-A215-1603-70FEA0EBEDC2}"/>
              </a:ext>
            </a:extLst>
          </p:cNvPr>
          <p:cNvSpPr txBox="1"/>
          <p:nvPr/>
        </p:nvSpPr>
        <p:spPr>
          <a:xfrm>
            <a:off x="746186" y="2212756"/>
            <a:ext cx="3811959" cy="267765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Es un patrón </a:t>
            </a:r>
            <a:r>
              <a:rPr lang="es-ES" sz="2400" b="1" dirty="0">
                <a:solidFill>
                  <a:schemeClr val="accent2"/>
                </a:solidFill>
                <a:ea typeface="+mn-lt"/>
                <a:cs typeface="+mn-lt"/>
              </a:rPr>
              <a:t>Creacional</a:t>
            </a:r>
            <a:r>
              <a:rPr lang="es-ES" sz="2400" dirty="0">
                <a:ea typeface="+mn-lt"/>
                <a:cs typeface="+mn-lt"/>
              </a:rPr>
              <a:t>.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accent2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Asegura que existirá una única instancia de una clase.</a:t>
            </a:r>
          </a:p>
        </p:txBody>
      </p:sp>
      <p:sp>
        <p:nvSpPr>
          <p:cNvPr id="3" name="CuadroTexto 4">
            <a:extLst>
              <a:ext uri="{FF2B5EF4-FFF2-40B4-BE49-F238E27FC236}">
                <a16:creationId xmlns:a16="http://schemas.microsoft.com/office/drawing/2014/main" id="{C5EAD532-EBF3-01E4-5BA8-135BF90C50C7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B3318B1-403D-50AD-F0B6-9C7D8448B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676" y="2570018"/>
            <a:ext cx="4392171" cy="282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CE47BBF-863E-A215-1603-70FEA0EBEDC2}"/>
              </a:ext>
            </a:extLst>
          </p:cNvPr>
          <p:cNvSpPr txBox="1"/>
          <p:nvPr/>
        </p:nvSpPr>
        <p:spPr>
          <a:xfrm>
            <a:off x="604736" y="2434429"/>
            <a:ext cx="4435415" cy="230832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400" dirty="0">
                <a:ea typeface="+mn-lt"/>
                <a:cs typeface="+mn-lt"/>
              </a:rPr>
              <a:t>Se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sugiere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su utilización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cuando</a:t>
            </a:r>
            <a:r>
              <a:rPr lang="es-ES" sz="2400" dirty="0">
                <a:ea typeface="+mn-lt"/>
                <a:cs typeface="+mn-lt"/>
              </a:rPr>
              <a:t>: </a:t>
            </a:r>
            <a:endParaRPr lang="es-ES" sz="2400" dirty="0"/>
          </a:p>
          <a:p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Se requiere tener una única instancia de una clase y que la misma sea accesible por terceros. 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A67A4ED2-9D20-1DF6-142F-1462A0B39458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59DB6CB-DA00-F18D-E171-9745A64836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74" r="14210"/>
          <a:stretch>
            <a:fillRect/>
          </a:stretch>
        </p:blipFill>
        <p:spPr>
          <a:xfrm>
            <a:off x="5040151" y="2064327"/>
            <a:ext cx="3741880" cy="389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C3352-DD58-1F89-464E-A9F7161CA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1D4C73F0-159C-7B66-EBD4-6676B3F43891}"/>
              </a:ext>
            </a:extLst>
          </p:cNvPr>
          <p:cNvSpPr txBox="1"/>
          <p:nvPr/>
        </p:nvSpPr>
        <p:spPr>
          <a:xfrm>
            <a:off x="718476" y="2157338"/>
            <a:ext cx="8328542" cy="30469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>
                <a:solidFill>
                  <a:schemeClr val="accent4"/>
                </a:solidFill>
                <a:ea typeface="+mn-lt"/>
                <a:cs typeface="+mn-lt"/>
              </a:rPr>
              <a:t>¡Cuidado!</a:t>
            </a:r>
            <a:endParaRPr lang="es-ES" sz="2400" b="1" dirty="0">
              <a:solidFill>
                <a:schemeClr val="accent4"/>
              </a:solidFill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Este patrón tiene mucho </a:t>
            </a:r>
            <a:r>
              <a:rPr lang="es-ES" sz="2400" dirty="0" err="1">
                <a:ea typeface="+mn-lt"/>
                <a:cs typeface="+mn-lt"/>
              </a:rPr>
              <a:t>más</a:t>
            </a:r>
            <a:r>
              <a:rPr lang="es-ES" sz="2400" dirty="0">
                <a:ea typeface="+mn-lt"/>
                <a:cs typeface="+mn-lt"/>
              </a:rPr>
              <a:t> sentido en lenguajes compilados. </a:t>
            </a: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Si bien en lenguajes interpretados </a:t>
            </a:r>
            <a:r>
              <a:rPr lang="es-ES" sz="2400" dirty="0" err="1">
                <a:ea typeface="+mn-lt"/>
                <a:cs typeface="+mn-lt"/>
              </a:rPr>
              <a:t>también</a:t>
            </a:r>
            <a:r>
              <a:rPr lang="es-ES" sz="2400" dirty="0">
                <a:ea typeface="+mn-lt"/>
                <a:cs typeface="+mn-lt"/>
              </a:rPr>
              <a:t> es posible su implementación, se debe tener en cuenta que el objeto va a “morir” luego de cada llamada que se realice al script principal. </a:t>
            </a:r>
            <a:endParaRPr lang="es-ES" sz="2400" dirty="0"/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3EA3202A-2CB1-1052-A0FE-16893C3A0063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31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C6437CDF-36C4-7362-B783-5ECF2D1E34F0}"/>
              </a:ext>
            </a:extLst>
          </p:cNvPr>
          <p:cNvSpPr txBox="1"/>
          <p:nvPr/>
        </p:nvSpPr>
        <p:spPr>
          <a:xfrm>
            <a:off x="811574" y="2157338"/>
            <a:ext cx="4342317" cy="378565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Componentes</a:t>
            </a:r>
            <a:r>
              <a:rPr lang="es-ES" sz="2400" b="1" dirty="0">
                <a:ea typeface="+mn-lt"/>
                <a:cs typeface="+mn-lt"/>
              </a:rPr>
              <a:t>: </a:t>
            </a:r>
            <a:endParaRPr lang="es-ES" sz="2400" b="1" dirty="0">
              <a:ea typeface="Calibri"/>
              <a:cs typeface="Calibri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Clase </a:t>
            </a:r>
            <a:r>
              <a:rPr lang="es-ES" sz="2400" b="1" dirty="0" err="1">
                <a:solidFill>
                  <a:schemeClr val="accent5"/>
                </a:solidFill>
                <a:ea typeface="+mn-lt"/>
                <a:cs typeface="+mn-lt"/>
              </a:rPr>
              <a:t>Singleton</a:t>
            </a:r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: </a:t>
            </a:r>
            <a:r>
              <a:rPr lang="es-ES" sz="2400" dirty="0">
                <a:ea typeface="+mn-lt"/>
                <a:cs typeface="+mn-lt"/>
              </a:rPr>
              <a:t>clase que </a:t>
            </a:r>
            <a:r>
              <a:rPr lang="es-ES" sz="2400" dirty="0" err="1">
                <a:ea typeface="+mn-lt"/>
                <a:cs typeface="+mn-lt"/>
              </a:rPr>
              <a:t>permitira</a:t>
            </a:r>
            <a:r>
              <a:rPr lang="es-ES" sz="2400" dirty="0">
                <a:ea typeface="+mn-lt"/>
                <a:cs typeface="+mn-lt"/>
              </a:rPr>
              <a:t>́ que sea instanciada una </a:t>
            </a:r>
            <a:r>
              <a:rPr lang="es-ES" sz="2400" dirty="0" err="1">
                <a:ea typeface="+mn-lt"/>
                <a:cs typeface="+mn-lt"/>
              </a:rPr>
              <a:t>única</a:t>
            </a:r>
            <a:r>
              <a:rPr lang="es-ES" sz="2400" dirty="0">
                <a:ea typeface="+mn-lt"/>
                <a:cs typeface="+mn-lt"/>
              </a:rPr>
              <a:t> vez a </a:t>
            </a:r>
            <a:r>
              <a:rPr lang="es-ES" sz="2400" dirty="0" err="1">
                <a:ea typeface="+mn-lt"/>
                <a:cs typeface="+mn-lt"/>
              </a:rPr>
              <a:t>través</a:t>
            </a:r>
            <a:r>
              <a:rPr lang="es-ES" sz="2400" dirty="0">
                <a:ea typeface="+mn-lt"/>
                <a:cs typeface="+mn-lt"/>
              </a:rPr>
              <a:t> de un </a:t>
            </a:r>
            <a:r>
              <a:rPr lang="es-ES" sz="2400" dirty="0" err="1">
                <a:ea typeface="+mn-lt"/>
                <a:cs typeface="+mn-lt"/>
              </a:rPr>
              <a:t>método</a:t>
            </a:r>
            <a:r>
              <a:rPr lang="es-ES" sz="2400" dirty="0">
                <a:ea typeface="+mn-lt"/>
                <a:cs typeface="+mn-lt"/>
              </a:rPr>
              <a:t> de clase. El constructor debe ser privado para que sea accesible, </a:t>
            </a:r>
            <a:r>
              <a:rPr lang="es-ES" sz="2400" dirty="0" err="1">
                <a:ea typeface="+mn-lt"/>
                <a:cs typeface="+mn-lt"/>
              </a:rPr>
              <a:t>única</a:t>
            </a:r>
            <a:r>
              <a:rPr lang="es-ES" sz="2400" dirty="0">
                <a:ea typeface="+mn-lt"/>
                <a:cs typeface="+mn-lt"/>
              </a:rPr>
              <a:t> y exclusivamente, por la misma clase.</a:t>
            </a:r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89C9EB0A-C2F6-1F47-10D5-1C523B13317A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F3858F1-ED7F-941A-AA02-E3EF12C8D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459" y="2645958"/>
            <a:ext cx="3737303" cy="3057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06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C50D8E87-64F3-C288-7984-9432D881D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72" y="1863426"/>
            <a:ext cx="9036676" cy="4434595"/>
          </a:xfrm>
          <a:prstGeom prst="rect">
            <a:avLst/>
          </a:prstGeom>
        </p:spPr>
      </p:pic>
      <p:sp>
        <p:nvSpPr>
          <p:cNvPr id="4" name="CuadroTexto 4">
            <a:extLst>
              <a:ext uri="{FF2B5EF4-FFF2-40B4-BE49-F238E27FC236}">
                <a16:creationId xmlns:a16="http://schemas.microsoft.com/office/drawing/2014/main" id="{472795F7-2AEF-B31F-ADBE-2ED81D9BACA2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460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343CC-3EB4-C408-1A74-C1BD419D5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C4F384C2-4DF1-94A7-E727-601190FB2DAD}"/>
              </a:ext>
            </a:extLst>
          </p:cNvPr>
          <p:cNvSpPr txBox="1"/>
          <p:nvPr/>
        </p:nvSpPr>
        <p:spPr>
          <a:xfrm>
            <a:off x="718476" y="2157338"/>
            <a:ext cx="8328542" cy="230832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Un ejemplo real del patrón </a:t>
            </a:r>
            <a:r>
              <a:rPr lang="es-ES" sz="2400" dirty="0" err="1">
                <a:ea typeface="+mn-lt"/>
                <a:cs typeface="+mn-lt"/>
              </a:rPr>
              <a:t>Singleton</a:t>
            </a:r>
            <a:r>
              <a:rPr lang="es-ES" sz="2400" dirty="0">
                <a:ea typeface="+mn-lt"/>
                <a:cs typeface="+mn-lt"/>
              </a:rPr>
              <a:t> en Java es un administrador de configuración (</a:t>
            </a:r>
            <a:r>
              <a:rPr lang="es-ES" sz="2400" dirty="0" err="1">
                <a:ea typeface="+mn-lt"/>
                <a:cs typeface="+mn-lt"/>
              </a:rPr>
              <a:t>ConfigurationManager</a:t>
            </a:r>
            <a:r>
              <a:rPr lang="es-ES" sz="2400" dirty="0">
                <a:ea typeface="+mn-lt"/>
                <a:cs typeface="+mn-lt"/>
              </a:rPr>
              <a:t>) que carga las opciones de la aplicación desde un archivo una sola vez y las comparte en todo el sistema (por ej. modo oscuro activado o no).  </a:t>
            </a:r>
            <a:endParaRPr lang="es-ES" sz="2400" dirty="0"/>
          </a:p>
        </p:txBody>
      </p:sp>
      <p:sp>
        <p:nvSpPr>
          <p:cNvPr id="4" name="CuadroTexto 4">
            <a:extLst>
              <a:ext uri="{FF2B5EF4-FFF2-40B4-BE49-F238E27FC236}">
                <a16:creationId xmlns:a16="http://schemas.microsoft.com/office/drawing/2014/main" id="{6067F29F-6BDE-BADC-4A6E-F2C586D56541}"/>
              </a:ext>
            </a:extLst>
          </p:cNvPr>
          <p:cNvSpPr txBox="1"/>
          <p:nvPr/>
        </p:nvSpPr>
        <p:spPr>
          <a:xfrm>
            <a:off x="604736" y="559979"/>
            <a:ext cx="27432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AR" sz="4000" b="1" i="1" dirty="0" err="1">
                <a:solidFill>
                  <a:schemeClr val="bg1"/>
                </a:solidFill>
                <a:ea typeface="+mn-lt"/>
                <a:cs typeface="+mn-lt"/>
              </a:rPr>
              <a:t>Singleton</a:t>
            </a:r>
            <a:endParaRPr lang="es-ES" sz="2400" b="1" i="1" dirty="0" err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547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94558-98ED-43DD-4D30-301E384CA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8F95C2-32D1-8611-F7B8-EE81D264EB23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>
                <a:solidFill>
                  <a:prstClr val="white"/>
                </a:solidFill>
                <a:ea typeface="+mn-lt"/>
                <a:cs typeface="+mn-lt"/>
              </a:rPr>
              <a:t>Factory </a:t>
            </a:r>
            <a:r>
              <a:rPr lang="es-AR" sz="6600" b="1" i="1" err="1">
                <a:solidFill>
                  <a:prstClr val="white"/>
                </a:solidFill>
                <a:ea typeface="+mn-lt"/>
                <a:cs typeface="+mn-lt"/>
              </a:rPr>
              <a:t>Method</a:t>
            </a:r>
            <a:endParaRPr lang="es-ES" b="1" i="1" err="1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6611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B8BE9-C24C-E0E6-F2D5-40777CF2A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F946328D-FC2E-8B50-B2D1-C72F3FAE48DB}"/>
              </a:ext>
            </a:extLst>
          </p:cNvPr>
          <p:cNvSpPr txBox="1"/>
          <p:nvPr/>
        </p:nvSpPr>
        <p:spPr>
          <a:xfrm>
            <a:off x="760040" y="2254320"/>
            <a:ext cx="3798105" cy="34163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Es un patrón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creacional</a:t>
            </a:r>
            <a:r>
              <a:rPr lang="es-ES" sz="2400" dirty="0">
                <a:ea typeface="+mn-lt"/>
                <a:cs typeface="+mn-lt"/>
              </a:rPr>
              <a:t>.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tx2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tx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Encapsula en un </a:t>
            </a:r>
            <a:r>
              <a:rPr lang="es-ES" sz="2400" dirty="0" err="1">
                <a:ea typeface="+mn-lt"/>
                <a:cs typeface="+mn-lt"/>
              </a:rPr>
              <a:t>único</a:t>
            </a:r>
            <a:r>
              <a:rPr lang="es-ES" sz="2400" dirty="0">
                <a:ea typeface="+mn-lt"/>
                <a:cs typeface="+mn-lt"/>
              </a:rPr>
              <a:t> punto (un método) la creación de objetos que tienen una interfaz </a:t>
            </a:r>
            <a:r>
              <a:rPr lang="es-ES" sz="2400" dirty="0" err="1">
                <a:ea typeface="+mn-lt"/>
                <a:cs typeface="+mn-lt"/>
              </a:rPr>
              <a:t>común</a:t>
            </a:r>
            <a:r>
              <a:rPr lang="es-ES" sz="2400" dirty="0">
                <a:ea typeface="+mn-lt"/>
                <a:cs typeface="+mn-lt"/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BB68B3-CC05-B227-49B6-93D2C4DB9743}"/>
              </a:ext>
            </a:extLst>
          </p:cNvPr>
          <p:cNvSpPr txBox="1"/>
          <p:nvPr/>
        </p:nvSpPr>
        <p:spPr>
          <a:xfrm>
            <a:off x="496804" y="613278"/>
            <a:ext cx="51054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Factory </a:t>
            </a:r>
            <a:r>
              <a:rPr lang="es-AR" sz="4000" b="1" i="1" dirty="0" err="1">
                <a:solidFill>
                  <a:schemeClr val="bg1"/>
                </a:solidFill>
                <a:ea typeface="Calibri"/>
                <a:cs typeface="Calibri"/>
              </a:rPr>
              <a:t>Method</a:t>
            </a:r>
            <a:endParaRPr lang="es-ES" sz="2800" i="1" dirty="0" err="1">
              <a:solidFill>
                <a:schemeClr val="bg1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153CA6-7FB3-97F6-74B7-04E96D622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635" y="2661834"/>
            <a:ext cx="4338283" cy="2601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781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169BF-390C-99D4-7983-1ED4E009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94CC2CDD-B56F-F2C9-E45F-14BACAFEDD64}"/>
              </a:ext>
            </a:extLst>
          </p:cNvPr>
          <p:cNvSpPr txBox="1"/>
          <p:nvPr/>
        </p:nvSpPr>
        <p:spPr>
          <a:xfrm>
            <a:off x="611688" y="2112011"/>
            <a:ext cx="4875632" cy="30469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Se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sugiere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su utilización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cuando</a:t>
            </a:r>
            <a:r>
              <a:rPr lang="es-ES" sz="2400" dirty="0">
                <a:ea typeface="+mn-lt"/>
                <a:cs typeface="+mn-lt"/>
              </a:rPr>
              <a:t>: </a:t>
            </a:r>
            <a:endParaRPr lang="es-ES" sz="2400" dirty="0"/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1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Se requiere instanciar una clase de entre varias (con al menos una interfaz </a:t>
            </a:r>
            <a:r>
              <a:rPr lang="es-ES" sz="2400" dirty="0" err="1">
                <a:ea typeface="+mn-lt"/>
                <a:cs typeface="+mn-lt"/>
              </a:rPr>
              <a:t>común</a:t>
            </a:r>
            <a:r>
              <a:rPr lang="es-ES" sz="2400" dirty="0">
                <a:ea typeface="+mn-lt"/>
                <a:cs typeface="+mn-lt"/>
              </a:rPr>
              <a:t>)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el resultado de alguna condición o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el valor de una variable, en varias partes del proyecto.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BA70D7-4FB1-94A6-E921-E515755C694D}"/>
              </a:ext>
            </a:extLst>
          </p:cNvPr>
          <p:cNvSpPr txBox="1"/>
          <p:nvPr/>
        </p:nvSpPr>
        <p:spPr>
          <a:xfrm>
            <a:off x="496804" y="613278"/>
            <a:ext cx="5599196" cy="113877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Factory </a:t>
            </a:r>
            <a:r>
              <a:rPr lang="es-AR" sz="4000" b="1" i="1" dirty="0" err="1">
                <a:solidFill>
                  <a:schemeClr val="bg1"/>
                </a:solidFill>
                <a:ea typeface="Calibri"/>
                <a:cs typeface="Calibri"/>
              </a:rPr>
              <a:t>Method</a:t>
            </a:r>
            <a:endParaRPr lang="es-ES" sz="2800" i="1" dirty="0">
              <a:solidFill>
                <a:schemeClr val="bg1"/>
              </a:solidFill>
            </a:endParaRPr>
          </a:p>
          <a:p>
            <a:endParaRPr lang="es-ES" sz="2800" i="1" dirty="0" err="1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52D911-D3F6-D5FF-64B5-6337D2CB3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4327" y="2406979"/>
            <a:ext cx="3153154" cy="304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081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610E5-CF7E-1542-F972-2DAC64C5B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3C22E838-5D5B-3641-0967-118D789649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9022337"/>
              </p:ext>
            </p:extLst>
          </p:nvPr>
        </p:nvGraphicFramePr>
        <p:xfrm>
          <a:off x="496804" y="2220764"/>
          <a:ext cx="8716469" cy="35661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uadroTexto 3">
            <a:extLst>
              <a:ext uri="{FF2B5EF4-FFF2-40B4-BE49-F238E27FC236}">
                <a16:creationId xmlns:a16="http://schemas.microsoft.com/office/drawing/2014/main" id="{B7901908-7683-D5B5-81A1-DB5491DEF8CA}"/>
              </a:ext>
            </a:extLst>
          </p:cNvPr>
          <p:cNvSpPr txBox="1"/>
          <p:nvPr/>
        </p:nvSpPr>
        <p:spPr>
          <a:xfrm>
            <a:off x="501772" y="6044667"/>
            <a:ext cx="8914326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b="1" dirty="0">
                <a:solidFill>
                  <a:schemeClr val="tx2"/>
                </a:solidFill>
                <a:ea typeface="+mn-lt"/>
                <a:cs typeface="+mn-lt"/>
              </a:rPr>
              <a:t>Pero antes de ver el diagrama de clases, veamos otro patrón muy parecido...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C8F254-B397-06BF-CA3C-7489D93E07FE}"/>
              </a:ext>
            </a:extLst>
          </p:cNvPr>
          <p:cNvSpPr txBox="1"/>
          <p:nvPr/>
        </p:nvSpPr>
        <p:spPr>
          <a:xfrm>
            <a:off x="496804" y="613278"/>
            <a:ext cx="51054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Factory </a:t>
            </a:r>
            <a:r>
              <a:rPr lang="es-AR" sz="4000" b="1" i="1" dirty="0" err="1">
                <a:solidFill>
                  <a:schemeClr val="bg1"/>
                </a:solidFill>
                <a:ea typeface="Calibri"/>
                <a:cs typeface="Calibri"/>
              </a:rPr>
              <a:t>Method</a:t>
            </a:r>
            <a:endParaRPr lang="es-ES" sz="2800" i="1" dirty="0" err="1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8E3109F-8205-C8FB-C0A8-33A7130FBB2C}"/>
              </a:ext>
            </a:extLst>
          </p:cNvPr>
          <p:cNvSpPr txBox="1"/>
          <p:nvPr/>
        </p:nvSpPr>
        <p:spPr>
          <a:xfrm>
            <a:off x="496804" y="1673739"/>
            <a:ext cx="6109854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tx2"/>
                </a:solidFill>
                <a:ea typeface="+mn-lt"/>
                <a:cs typeface="+mn-lt"/>
              </a:defRPr>
            </a:lvl1pPr>
          </a:lstStyle>
          <a:p>
            <a:r>
              <a:rPr lang="es-ES" dirty="0"/>
              <a:t>Componentes: </a:t>
            </a:r>
          </a:p>
        </p:txBody>
      </p:sp>
    </p:spTree>
    <p:extLst>
      <p:ext uri="{BB962C8B-B14F-4D97-AF65-F5344CB8AC3E}">
        <p14:creationId xmlns:p14="http://schemas.microsoft.com/office/powerpoint/2010/main" val="3137472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81F77-4B6D-7A69-0712-C900D5480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5046429F-959F-35F6-2DE0-F08B4FB9269B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>
                <a:solidFill>
                  <a:prstClr val="white"/>
                </a:solidFill>
                <a:ea typeface="+mn-lt"/>
                <a:cs typeface="+mn-lt"/>
              </a:rPr>
              <a:t>Simple Factory</a:t>
            </a:r>
            <a:endParaRPr lang="es-ES" b="1" i="1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5839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264B8-ECBD-CF6B-DA1C-56CA282A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74595F42-354A-F672-E968-E44A88022C0C}"/>
              </a:ext>
            </a:extLst>
          </p:cNvPr>
          <p:cNvSpPr txBox="1"/>
          <p:nvPr/>
        </p:nvSpPr>
        <p:spPr>
          <a:xfrm>
            <a:off x="493899" y="1883418"/>
            <a:ext cx="4479883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Es un patrón </a:t>
            </a:r>
            <a:r>
              <a:rPr lang="es-ES" sz="2400" b="1" dirty="0">
                <a:solidFill>
                  <a:schemeClr val="accent5"/>
                </a:solidFill>
                <a:ea typeface="+mn-lt"/>
                <a:cs typeface="+mn-lt"/>
              </a:rPr>
              <a:t>Creacional</a:t>
            </a:r>
            <a:r>
              <a:rPr lang="es-ES" sz="2400" dirty="0">
                <a:ea typeface="+mn-lt"/>
                <a:cs typeface="+mn-lt"/>
              </a:rPr>
              <a:t>.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accent5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Encapsula en un </a:t>
            </a:r>
            <a:r>
              <a:rPr lang="es-ES" sz="2400" dirty="0" err="1">
                <a:ea typeface="+mn-lt"/>
                <a:cs typeface="+mn-lt"/>
              </a:rPr>
              <a:t>único</a:t>
            </a:r>
            <a:r>
              <a:rPr lang="es-ES" sz="2400" dirty="0">
                <a:ea typeface="+mn-lt"/>
                <a:cs typeface="+mn-lt"/>
              </a:rPr>
              <a:t> punto (una clase) la creación de objetos que tienen, al menos, una interfaz </a:t>
            </a:r>
            <a:r>
              <a:rPr lang="es-ES" sz="2400" dirty="0" err="1">
                <a:ea typeface="+mn-lt"/>
                <a:cs typeface="+mn-lt"/>
              </a:rPr>
              <a:t>común</a:t>
            </a:r>
            <a:r>
              <a:rPr lang="es-ES" sz="2400" dirty="0">
                <a:ea typeface="+mn-lt"/>
                <a:cs typeface="+mn-lt"/>
              </a:rPr>
              <a:t>.</a:t>
            </a: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endParaRPr lang="es-ES" sz="2400" dirty="0">
              <a:ea typeface="+mn-lt"/>
              <a:cs typeface="+mn-lt"/>
            </a:endParaRPr>
          </a:p>
          <a:p>
            <a:pPr algn="just">
              <a:buClr>
                <a:schemeClr val="accent5"/>
              </a:buClr>
              <a:buSzPct val="130000"/>
            </a:pPr>
            <a:r>
              <a:rPr lang="es-ES" sz="2400" dirty="0">
                <a:ea typeface="+mn-lt"/>
                <a:cs typeface="+mn-lt"/>
              </a:rPr>
              <a:t>Es...</a:t>
            </a:r>
          </a:p>
          <a:p>
            <a:pPr marL="342900" indent="-342900" algn="just">
              <a:buClr>
                <a:schemeClr val="accent5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Una generalización del patrón</a:t>
            </a:r>
            <a:r>
              <a:rPr lang="es-ES" sz="2400" i="1" dirty="0">
                <a:ea typeface="+mn-lt"/>
                <a:cs typeface="+mn-lt"/>
              </a:rPr>
              <a:t> Factory </a:t>
            </a:r>
            <a:r>
              <a:rPr lang="es-ES" sz="2400" i="1" dirty="0" err="1">
                <a:ea typeface="+mn-lt"/>
                <a:cs typeface="+mn-lt"/>
              </a:rPr>
              <a:t>Method</a:t>
            </a:r>
            <a:r>
              <a:rPr lang="es-ES" sz="2400" i="1" dirty="0">
                <a:ea typeface="+mn-lt"/>
                <a:cs typeface="+mn-lt"/>
              </a:rPr>
              <a:t>.</a:t>
            </a:r>
            <a:endParaRPr lang="es-ES" sz="2400" i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6B2A15F-0BE2-1C00-88F8-9133C625331F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3BECF0-5DD1-2153-9331-B7CD0B6FB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279" y="2331625"/>
            <a:ext cx="4479882" cy="352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629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015C2-CA65-415A-0B63-A264F08C2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F198ED3-96DA-8B9D-7208-56C2E7C30E89}"/>
              </a:ext>
            </a:extLst>
          </p:cNvPr>
          <p:cNvSpPr txBox="1"/>
          <p:nvPr/>
        </p:nvSpPr>
        <p:spPr>
          <a:xfrm>
            <a:off x="493900" y="1883418"/>
            <a:ext cx="4978646" cy="452431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dirty="0">
                <a:ea typeface="+mn-lt"/>
                <a:cs typeface="+mn-lt"/>
              </a:rPr>
              <a:t>Se </a:t>
            </a:r>
            <a:r>
              <a:rPr lang="es-ES" sz="2400" b="1" dirty="0">
                <a:solidFill>
                  <a:schemeClr val="accent2"/>
                </a:solidFill>
                <a:ea typeface="+mn-lt"/>
                <a:cs typeface="+mn-lt"/>
              </a:rPr>
              <a:t>sugiere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su utilización </a:t>
            </a:r>
            <a:r>
              <a:rPr lang="es-ES" sz="2400" b="1" dirty="0">
                <a:solidFill>
                  <a:schemeClr val="accent2"/>
                </a:solidFill>
                <a:ea typeface="+mn-lt"/>
                <a:cs typeface="+mn-lt"/>
              </a:rPr>
              <a:t>cuando</a:t>
            </a:r>
            <a:r>
              <a:rPr lang="es-ES" sz="2400" dirty="0">
                <a:ea typeface="+mn-lt"/>
                <a:cs typeface="+mn-lt"/>
              </a:rPr>
              <a:t>: </a:t>
            </a:r>
            <a:endParaRPr lang="es-ES" sz="2400" dirty="0"/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2400" dirty="0">
                <a:ea typeface="+mn-lt"/>
                <a:cs typeface="+mn-lt"/>
              </a:rPr>
              <a:t>Se requiere instanciar una clase distinta (con al menos una interfaz </a:t>
            </a:r>
            <a:r>
              <a:rPr lang="es-ES" sz="2400" dirty="0" err="1">
                <a:ea typeface="+mn-lt"/>
                <a:cs typeface="+mn-lt"/>
              </a:rPr>
              <a:t>común</a:t>
            </a:r>
            <a:r>
              <a:rPr lang="es-ES" sz="2400" dirty="0">
                <a:ea typeface="+mn-lt"/>
                <a:cs typeface="+mn-lt"/>
              </a:rPr>
              <a:t>)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el resultado de alguna condición o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el valor de una variable, en varias partes del proyecto; y dichas clases pueden ser consideradas “complejas” de instanciar o necesitan “mucha configuración” para funcionar.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DE39690-901C-DC8E-E942-C19D98A24460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1EBB3C-AFAD-FF04-DE62-C420BECBF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2546" y="2008910"/>
            <a:ext cx="3532863" cy="3715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682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86136-3E6E-6B3D-19C7-B3609961D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27457F9E-CAC1-ADBC-6E63-98F6E8EBC4B6}"/>
              </a:ext>
            </a:extLst>
          </p:cNvPr>
          <p:cNvSpPr txBox="1"/>
          <p:nvPr/>
        </p:nvSpPr>
        <p:spPr>
          <a:xfrm>
            <a:off x="607639" y="1758727"/>
            <a:ext cx="8134579" cy="415498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Componentes: </a:t>
            </a:r>
            <a:endParaRPr lang="es-ES" sz="2400" b="1" dirty="0">
              <a:solidFill>
                <a:schemeClr val="tx2"/>
              </a:solidFill>
              <a:ea typeface="Calibri"/>
              <a:cs typeface="Calibri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Los componentes son los mismos que tiene el patrón </a:t>
            </a:r>
            <a:r>
              <a:rPr lang="es-ES" sz="2400" i="1" dirty="0">
                <a:ea typeface="+mn-lt"/>
                <a:cs typeface="+mn-lt"/>
              </a:rPr>
              <a:t>Factory </a:t>
            </a:r>
            <a:r>
              <a:rPr lang="es-ES" sz="2400" i="1" dirty="0" err="1">
                <a:ea typeface="+mn-lt"/>
                <a:cs typeface="+mn-lt"/>
              </a:rPr>
              <a:t>method</a:t>
            </a:r>
            <a:r>
              <a:rPr lang="es-ES" sz="2400" dirty="0">
                <a:ea typeface="+mn-lt"/>
                <a:cs typeface="+mn-lt"/>
              </a:rPr>
              <a:t>, con la salvedad que se agrega un componente </a:t>
            </a:r>
            <a:r>
              <a:rPr lang="es-ES" sz="2400" dirty="0" err="1">
                <a:ea typeface="+mn-lt"/>
                <a:cs typeface="+mn-lt"/>
              </a:rPr>
              <a:t>más</a:t>
            </a:r>
            <a:r>
              <a:rPr lang="es-ES" sz="2400" dirty="0">
                <a:ea typeface="+mn-lt"/>
                <a:cs typeface="+mn-lt"/>
              </a:rPr>
              <a:t>: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i="1" dirty="0">
                <a:ea typeface="+mn-lt"/>
                <a:cs typeface="+mn-lt"/>
              </a:rPr>
              <a:t>Clase Factory: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clase concreta que tiene la responsabilidad exclusiva de instanciar una de entre varias clases, </a:t>
            </a:r>
            <a:r>
              <a:rPr lang="es-ES" sz="2400" dirty="0" err="1">
                <a:ea typeface="+mn-lt"/>
                <a:cs typeface="+mn-lt"/>
              </a:rPr>
              <a:t>según</a:t>
            </a:r>
            <a:r>
              <a:rPr lang="es-ES" sz="2400" dirty="0">
                <a:ea typeface="+mn-lt"/>
                <a:cs typeface="+mn-lt"/>
              </a:rPr>
              <a:t> </a:t>
            </a:r>
            <a:r>
              <a:rPr lang="es-ES" sz="2400" dirty="0" err="1">
                <a:ea typeface="+mn-lt"/>
                <a:cs typeface="+mn-lt"/>
              </a:rPr>
              <a:t>algún</a:t>
            </a:r>
            <a:r>
              <a:rPr lang="es-ES" sz="2400" dirty="0">
                <a:ea typeface="+mn-lt"/>
                <a:cs typeface="+mn-lt"/>
              </a:rPr>
              <a:t> </a:t>
            </a:r>
            <a:r>
              <a:rPr lang="es-ES" sz="2400" dirty="0" err="1">
                <a:ea typeface="+mn-lt"/>
                <a:cs typeface="+mn-lt"/>
              </a:rPr>
              <a:t>parámetro</a:t>
            </a:r>
            <a:r>
              <a:rPr lang="es-ES" sz="2400" dirty="0">
                <a:ea typeface="+mn-lt"/>
                <a:cs typeface="+mn-lt"/>
              </a:rPr>
              <a:t> y/o condición </a:t>
            </a:r>
            <a:r>
              <a:rPr lang="es-ES" sz="2400" dirty="0" err="1">
                <a:ea typeface="+mn-lt"/>
                <a:cs typeface="+mn-lt"/>
              </a:rPr>
              <a:t>más</a:t>
            </a:r>
            <a:r>
              <a:rPr lang="es-ES" sz="2400" dirty="0">
                <a:ea typeface="+mn-lt"/>
                <a:cs typeface="+mn-lt"/>
              </a:rPr>
              <a:t> compleja. Esta clase puede tener varios </a:t>
            </a:r>
            <a:r>
              <a:rPr lang="es-ES" sz="2400" dirty="0" err="1">
                <a:ea typeface="+mn-lt"/>
                <a:cs typeface="+mn-lt"/>
              </a:rPr>
              <a:t>métodos</a:t>
            </a:r>
            <a:r>
              <a:rPr lang="es-ES" sz="2400" dirty="0">
                <a:ea typeface="+mn-lt"/>
                <a:cs typeface="+mn-lt"/>
              </a:rPr>
              <a:t> (internos/privados) que colaboren en la creación de los diferentes objetos. En pocas palabras: contiene el “</a:t>
            </a:r>
            <a:r>
              <a:rPr lang="es-ES" sz="2400" i="1" dirty="0">
                <a:ea typeface="+mn-lt"/>
                <a:cs typeface="+mn-lt"/>
              </a:rPr>
              <a:t>Factory </a:t>
            </a:r>
            <a:r>
              <a:rPr lang="es-ES" sz="2400" i="1" dirty="0" err="1">
                <a:ea typeface="+mn-lt"/>
                <a:cs typeface="+mn-lt"/>
              </a:rPr>
              <a:t>method</a:t>
            </a:r>
            <a:r>
              <a:rPr lang="es-ES" sz="2400" dirty="0">
                <a:ea typeface="+mn-lt"/>
                <a:cs typeface="+mn-lt"/>
              </a:rPr>
              <a:t>”.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C70E1A1-F7DF-C25A-3325-18F98FF58C94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11132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61399-1BBF-1128-96AD-A606FCC3E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FD18F3ED-032A-B7B0-C295-A14C8BCC7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422" y="2002598"/>
            <a:ext cx="8278029" cy="44841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A269034-0B72-6EAE-EE45-977490D96A97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65800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004A-DC86-A602-D695-617FA8CC3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3">
            <a:extLst>
              <a:ext uri="{FF2B5EF4-FFF2-40B4-BE49-F238E27FC236}">
                <a16:creationId xmlns:a16="http://schemas.microsoft.com/office/drawing/2014/main" id="{96176C64-061D-68D3-0F55-3DC224A78F26}"/>
              </a:ext>
            </a:extLst>
          </p:cNvPr>
          <p:cNvSpPr txBox="1"/>
          <p:nvPr/>
        </p:nvSpPr>
        <p:spPr>
          <a:xfrm>
            <a:off x="607639" y="1758727"/>
            <a:ext cx="8134579" cy="34163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dirty="0">
                <a:ea typeface="+mn-lt"/>
                <a:cs typeface="+mn-lt"/>
              </a:rPr>
              <a:t>El patrón Simple Factory se usa cuando tienes una clase base (o interfaz) y muchas subclases, y quieres delegar la lógica de creación de objetos a una sola clase "fábrica" en lugar de usar </a:t>
            </a:r>
            <a:r>
              <a:rPr lang="es-ES" sz="2400" i="1" dirty="0">
                <a:ea typeface="+mn-lt"/>
                <a:cs typeface="+mn-lt"/>
              </a:rPr>
              <a:t>new</a:t>
            </a:r>
            <a:r>
              <a:rPr lang="es-ES" sz="2400" dirty="0">
                <a:ea typeface="+mn-lt"/>
                <a:cs typeface="+mn-lt"/>
              </a:rPr>
              <a:t> por todo tu código.  </a:t>
            </a:r>
          </a:p>
          <a:p>
            <a:pPr algn="just"/>
            <a:r>
              <a:rPr lang="es-ES" sz="2400" dirty="0">
                <a:ea typeface="+mn-lt"/>
                <a:cs typeface="+mn-lt"/>
              </a:rPr>
              <a:t>Un ejemplo del mundo real es un </a:t>
            </a:r>
            <a:r>
              <a:rPr lang="es-ES" sz="2400" b="1" dirty="0">
                <a:ea typeface="+mn-lt"/>
                <a:cs typeface="+mn-lt"/>
              </a:rPr>
              <a:t>generador de notificaciones </a:t>
            </a:r>
            <a:r>
              <a:rPr lang="es-ES" sz="2400" dirty="0">
                <a:ea typeface="+mn-lt"/>
                <a:cs typeface="+mn-lt"/>
              </a:rPr>
              <a:t>para una plataforma. Dependiendo de la preferencia del usuario, el sistema decide si crea una notificación por Email, SMS o </a:t>
            </a:r>
            <a:r>
              <a:rPr lang="es-ES" sz="2400" dirty="0" err="1">
                <a:ea typeface="+mn-lt"/>
                <a:cs typeface="+mn-lt"/>
              </a:rPr>
              <a:t>Push</a:t>
            </a:r>
            <a:r>
              <a:rPr lang="es-ES" sz="2400" dirty="0">
                <a:ea typeface="+mn-lt"/>
                <a:cs typeface="+mn-lt"/>
              </a:rPr>
              <a:t> </a:t>
            </a:r>
            <a:r>
              <a:rPr lang="es-ES" sz="2400" dirty="0" err="1">
                <a:ea typeface="+mn-lt"/>
                <a:cs typeface="+mn-lt"/>
              </a:rPr>
              <a:t>Notification</a:t>
            </a:r>
            <a:r>
              <a:rPr lang="es-ES" sz="2400" dirty="0">
                <a:ea typeface="+mn-lt"/>
                <a:cs typeface="+mn-lt"/>
              </a:rPr>
              <a:t>.</a:t>
            </a:r>
            <a:endParaRPr lang="es-ES" sz="2400" dirty="0">
              <a:ea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362E46B-ABF6-81B6-EF31-B1A977A77EEB}"/>
              </a:ext>
            </a:extLst>
          </p:cNvPr>
          <p:cNvSpPr txBox="1"/>
          <p:nvPr/>
        </p:nvSpPr>
        <p:spPr>
          <a:xfrm>
            <a:off x="493899" y="559979"/>
            <a:ext cx="5105400" cy="132343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AR" sz="4000" b="1" i="1" dirty="0">
                <a:solidFill>
                  <a:schemeClr val="bg1"/>
                </a:solidFill>
                <a:ea typeface="Calibri"/>
                <a:cs typeface="Calibri"/>
              </a:rPr>
              <a:t>Simple Factory</a:t>
            </a:r>
            <a:endParaRPr lang="es-AR" sz="4000" i="1" dirty="0">
              <a:solidFill>
                <a:schemeClr val="bg1"/>
              </a:solidFill>
              <a:ea typeface="Calibri"/>
              <a:cs typeface="Calibri"/>
            </a:endParaRPr>
          </a:p>
          <a:p>
            <a:pPr algn="l"/>
            <a:endParaRPr lang="es-AR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92633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Síntesis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600158" y="664887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 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710994" y="1595021"/>
            <a:ext cx="8391442" cy="47705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AR" sz="1600" b="1" dirty="0" err="1">
                <a:solidFill>
                  <a:schemeClr val="bg2"/>
                </a:solidFill>
              </a:rPr>
              <a:t>Singleton</a:t>
            </a:r>
            <a:r>
              <a:rPr lang="es-AR" sz="1600" b="1" dirty="0">
                <a:solidFill>
                  <a:schemeClr val="bg2"/>
                </a:solidFill>
              </a:rPr>
              <a:t> </a:t>
            </a:r>
          </a:p>
          <a:p>
            <a:endParaRPr lang="es-AR" sz="1600" b="1" dirty="0">
              <a:solidFill>
                <a:schemeClr val="bg2"/>
              </a:solidFill>
              <a:ea typeface="+mn-lt"/>
              <a:cs typeface="+mn-lt"/>
            </a:endParaRP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Propósito: </a:t>
            </a:r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Asegura que existirá una única instancia de una clase</a:t>
            </a:r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.</a:t>
            </a:r>
          </a:p>
          <a:p>
            <a:r>
              <a:rPr lang="es-AR" sz="1600" b="1" dirty="0">
                <a:solidFill>
                  <a:srgbClr val="7F7F7F"/>
                </a:solidFill>
                <a:ea typeface="+mn-lt"/>
                <a:cs typeface="+mn-lt"/>
              </a:rPr>
              <a:t>Motivación: </a:t>
            </a:r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Se sugiere su utilización cuando se requiere tener una única instancia de una clase y que la misma sea accesible por terceros. </a:t>
            </a:r>
          </a:p>
          <a:p>
            <a:endParaRPr lang="es-ES" sz="1600" b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ES" sz="1600" b="1" dirty="0">
                <a:solidFill>
                  <a:schemeClr val="bg2"/>
                </a:solidFill>
                <a:ea typeface="+mn-lt"/>
                <a:cs typeface="+mn-lt"/>
              </a:rPr>
              <a:t>Factory </a:t>
            </a:r>
            <a:r>
              <a:rPr lang="es-ES" sz="1600" b="1" dirty="0" err="1">
                <a:solidFill>
                  <a:schemeClr val="bg2"/>
                </a:solidFill>
                <a:ea typeface="+mn-lt"/>
                <a:cs typeface="+mn-lt"/>
              </a:rPr>
              <a:t>Method</a:t>
            </a:r>
            <a:endParaRPr lang="es-ES" sz="1600" b="1" dirty="0">
              <a:solidFill>
                <a:schemeClr val="bg2"/>
              </a:solidFill>
              <a:ea typeface="+mn-lt"/>
              <a:cs typeface="+mn-lt"/>
            </a:endParaRPr>
          </a:p>
          <a:p>
            <a:endParaRPr lang="es-ES" sz="1600" b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Es un patrón creacional.  Encapsula en un </a:t>
            </a:r>
            <a:r>
              <a:rPr lang="es-ES" sz="1600" b="1" dirty="0" err="1">
                <a:solidFill>
                  <a:srgbClr val="7F7F7F"/>
                </a:solidFill>
                <a:ea typeface="+mn-lt"/>
                <a:cs typeface="+mn-lt"/>
              </a:rPr>
              <a:t>único</a:t>
            </a:r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 punto (un método) la creación de objetos que tienen una interfaz </a:t>
            </a:r>
            <a:r>
              <a:rPr lang="es-ES" sz="1600" b="1" dirty="0" err="1">
                <a:solidFill>
                  <a:srgbClr val="7F7F7F"/>
                </a:solidFill>
                <a:ea typeface="+mn-lt"/>
                <a:cs typeface="+mn-lt"/>
              </a:rPr>
              <a:t>común</a:t>
            </a:r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.</a:t>
            </a:r>
          </a:p>
          <a:p>
            <a:endParaRPr lang="es-ES" sz="1600" b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ES" sz="1600" b="1" dirty="0">
                <a:solidFill>
                  <a:schemeClr val="bg2"/>
                </a:solidFill>
                <a:ea typeface="+mn-lt"/>
                <a:cs typeface="+mn-lt"/>
              </a:rPr>
              <a:t>Simple Factory</a:t>
            </a:r>
          </a:p>
          <a:p>
            <a:endParaRPr lang="es-ES" sz="1600" b="1" dirty="0">
              <a:solidFill>
                <a:srgbClr val="7F7F7F"/>
              </a:solidFill>
              <a:ea typeface="+mn-lt"/>
              <a:cs typeface="+mn-lt"/>
            </a:endParaRPr>
          </a:p>
          <a:p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Es un patrón Creacional.  Encapsula en un </a:t>
            </a:r>
            <a:r>
              <a:rPr lang="es-ES" sz="1600" b="1" dirty="0" err="1">
                <a:solidFill>
                  <a:srgbClr val="7F7F7F"/>
                </a:solidFill>
                <a:ea typeface="+mn-lt"/>
                <a:cs typeface="+mn-lt"/>
              </a:rPr>
              <a:t>único</a:t>
            </a:r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 punto (una clase) la creación de objetos que tienen, al menos, una interfaz </a:t>
            </a:r>
            <a:r>
              <a:rPr lang="es-ES" sz="1600" b="1" dirty="0" err="1">
                <a:solidFill>
                  <a:srgbClr val="7F7F7F"/>
                </a:solidFill>
                <a:ea typeface="+mn-lt"/>
                <a:cs typeface="+mn-lt"/>
              </a:rPr>
              <a:t>común</a:t>
            </a:r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.</a:t>
            </a:r>
          </a:p>
          <a:p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Es una generalización del patrón Factory </a:t>
            </a:r>
            <a:r>
              <a:rPr lang="es-ES" sz="1600" b="1" dirty="0" err="1">
                <a:solidFill>
                  <a:srgbClr val="7F7F7F"/>
                </a:solidFill>
                <a:ea typeface="+mn-lt"/>
                <a:cs typeface="+mn-lt"/>
              </a:rPr>
              <a:t>Method</a:t>
            </a:r>
            <a:r>
              <a:rPr lang="es-ES" sz="1600" b="1" dirty="0">
                <a:solidFill>
                  <a:srgbClr val="7F7F7F"/>
                </a:solidFill>
                <a:ea typeface="+mn-lt"/>
                <a:cs typeface="+mn-lt"/>
              </a:rPr>
              <a:t>.</a:t>
            </a:r>
          </a:p>
          <a:p>
            <a:endParaRPr lang="es-ES" sz="1600" b="1" dirty="0">
              <a:solidFill>
                <a:srgbClr val="7F7F7F"/>
              </a:solidFill>
              <a:ea typeface="+mn-lt"/>
              <a:cs typeface="+mn-lt"/>
            </a:endParaRPr>
          </a:p>
          <a:p>
            <a:endParaRPr lang="es-ES" sz="1600" b="1" dirty="0">
              <a:solidFill>
                <a:srgbClr val="7F7F7F"/>
              </a:solidFill>
              <a:ea typeface="+mn-lt"/>
              <a:cs typeface="+mn-lt"/>
            </a:endParaRPr>
          </a:p>
          <a:p>
            <a:endParaRPr lang="en-US" sz="1600" dirty="0">
              <a:ea typeface="Calibri"/>
              <a:cs typeface="Calibri"/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33AB8C7E-F680-01DD-A4E5-0A07D1659D04}"/>
              </a:ext>
            </a:extLst>
          </p:cNvPr>
          <p:cNvSpPr/>
          <p:nvPr/>
        </p:nvSpPr>
        <p:spPr>
          <a:xfrm>
            <a:off x="448305" y="1680371"/>
            <a:ext cx="130628" cy="130628"/>
          </a:xfrm>
          <a:prstGeom prst="ellipse">
            <a:avLst/>
          </a:prstGeom>
          <a:solidFill>
            <a:srgbClr val="A57E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137C547B-60F0-7101-5C82-A644BE41F492}"/>
              </a:ext>
            </a:extLst>
          </p:cNvPr>
          <p:cNvSpPr/>
          <p:nvPr/>
        </p:nvSpPr>
        <p:spPr>
          <a:xfrm>
            <a:off x="448305" y="2418774"/>
            <a:ext cx="130628" cy="130628"/>
          </a:xfrm>
          <a:prstGeom prst="ellipse">
            <a:avLst/>
          </a:prstGeom>
          <a:solidFill>
            <a:srgbClr val="CF10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76B79628-0367-A870-5205-0C3E7F17B84D}"/>
              </a:ext>
            </a:extLst>
          </p:cNvPr>
          <p:cNvSpPr/>
          <p:nvPr/>
        </p:nvSpPr>
        <p:spPr>
          <a:xfrm>
            <a:off x="448305" y="3129464"/>
            <a:ext cx="130628" cy="130628"/>
          </a:xfrm>
          <a:prstGeom prst="ellipse">
            <a:avLst/>
          </a:prstGeom>
          <a:solidFill>
            <a:srgbClr val="ED6B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0886ECBE-CEBB-42B0-B246-DEE901007651}"/>
              </a:ext>
            </a:extLst>
          </p:cNvPr>
          <p:cNvSpPr/>
          <p:nvPr/>
        </p:nvSpPr>
        <p:spPr>
          <a:xfrm>
            <a:off x="448305" y="4362516"/>
            <a:ext cx="130628" cy="13062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58ED66D-A4D9-0019-710C-1EFDD50FAAA8}"/>
              </a:ext>
            </a:extLst>
          </p:cNvPr>
          <p:cNvSpPr/>
          <p:nvPr/>
        </p:nvSpPr>
        <p:spPr>
          <a:xfrm>
            <a:off x="448305" y="5112315"/>
            <a:ext cx="130628" cy="13062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431E101-02E9-FCA9-82BD-D42D79597EC6}"/>
              </a:ext>
            </a:extLst>
          </p:cNvPr>
          <p:cNvSpPr/>
          <p:nvPr/>
        </p:nvSpPr>
        <p:spPr>
          <a:xfrm>
            <a:off x="448305" y="6305464"/>
            <a:ext cx="130628" cy="130628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C553E-27C0-99B2-1E3B-DB930BF2E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CE28A18-C414-B0B0-7B2F-A00326C28AAA}"/>
              </a:ext>
            </a:extLst>
          </p:cNvPr>
          <p:cNvSpPr txBox="1"/>
          <p:nvPr/>
        </p:nvSpPr>
        <p:spPr>
          <a:xfrm>
            <a:off x="1413524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¿Preguntas?</a:t>
            </a:r>
            <a:endParaRPr lang="es-E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0929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6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3721407" y="2533846"/>
            <a:ext cx="4339343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HSU, S.; CURRIE, A. y BERGMAN, S.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Construir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software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verde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: un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enfoque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sostenible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para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el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desarrollo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y la </a:t>
            </a:r>
            <a:r>
              <a:rPr lang="en-US" sz="2400" i="1" dirty="0" err="1">
                <a:solidFill>
                  <a:schemeClr val="bg1"/>
                </a:solidFill>
                <a:ea typeface="+mn-lt"/>
                <a:cs typeface="+mn-lt"/>
              </a:rPr>
              <a:t>operación</a:t>
            </a:r>
            <a:r>
              <a:rPr lang="en-US" sz="2400" i="1" dirty="0">
                <a:solidFill>
                  <a:schemeClr val="bg1"/>
                </a:solidFill>
                <a:ea typeface="+mn-lt"/>
                <a:cs typeface="+mn-lt"/>
              </a:rPr>
              <a:t> de software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. Barcelona: </a:t>
            </a:r>
            <a:r>
              <a:rPr lang="en-US" sz="2400" dirty="0" err="1">
                <a:solidFill>
                  <a:schemeClr val="bg1"/>
                </a:solidFill>
                <a:ea typeface="+mn-lt"/>
                <a:cs typeface="+mn-lt"/>
              </a:rPr>
              <a:t>Marcombo</a:t>
            </a:r>
            <a:r>
              <a:rPr lang="en-US" sz="2400" dirty="0">
                <a:solidFill>
                  <a:schemeClr val="bg1"/>
                </a:solidFill>
                <a:ea typeface="+mn-lt"/>
                <a:cs typeface="+mn-lt"/>
              </a:rPr>
              <a:t>, 2025.</a:t>
            </a:r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  <a:p>
            <a:pPr algn="just"/>
            <a:endParaRPr lang="es-ES" sz="2400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1803CA-FEBB-4A0D-BD4D-E9503F1B167C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b5f0631a-2ac1-434a-9e75-b23938e5739a"/>
    <ds:schemaRef ds:uri="232756c5-2869-4da6-aa3d-6ef32daae75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44979d0-d31d-4c57-8ba0-491aff4acaed}" enabled="0" method="" siteId="{344979d0-d31d-4c57-8ba0-491aff4acae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124</TotalTime>
  <Words>830</Words>
  <Application>Microsoft Office PowerPoint</Application>
  <PresentationFormat>Panorámica</PresentationFormat>
  <Paragraphs>98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25</vt:i4>
      </vt:variant>
    </vt:vector>
  </HeadingPairs>
  <TitlesOfParts>
    <vt:vector size="35" baseType="lpstr">
      <vt:lpstr>Arial</vt:lpstr>
      <vt:lpstr>Calibri</vt:lpstr>
      <vt:lpstr>Calibri Light</vt:lpstr>
      <vt:lpstr>Trebuchet MS</vt:lpstr>
      <vt:lpstr>Ubuntu</vt:lpstr>
      <vt:lpstr>Wingdings</vt:lpstr>
      <vt:lpstr>Wingdings 3</vt:lpstr>
      <vt:lpstr>Tema de Office</vt:lpstr>
      <vt:lpstr>1_Office Theme</vt:lpstr>
      <vt:lpstr>Faceta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Moisés Bueno</cp:lastModifiedBy>
  <cp:revision>229</cp:revision>
  <dcterms:created xsi:type="dcterms:W3CDTF">2022-08-30T18:57:15Z</dcterms:created>
  <dcterms:modified xsi:type="dcterms:W3CDTF">2026-09-17T16:34:53Z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
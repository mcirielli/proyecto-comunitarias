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4"/>
    <p:sldMasterId id="2147483720" r:id="rId5"/>
    <p:sldMasterId id="2147483660" r:id="rId6"/>
  </p:sldMasterIdLst>
  <p:notesMasterIdLst>
    <p:notesMasterId r:id="rId53"/>
  </p:notesMasterIdLst>
  <p:handoutMasterIdLst>
    <p:handoutMasterId r:id="rId54"/>
  </p:handoutMasterIdLst>
  <p:sldIdLst>
    <p:sldId id="344" r:id="rId7"/>
    <p:sldId id="346" r:id="rId8"/>
    <p:sldId id="258" r:id="rId9"/>
    <p:sldId id="326" r:id="rId10"/>
    <p:sldId id="348" r:id="rId11"/>
    <p:sldId id="347" r:id="rId12"/>
    <p:sldId id="386" r:id="rId13"/>
    <p:sldId id="349" r:id="rId14"/>
    <p:sldId id="350" r:id="rId15"/>
    <p:sldId id="351" r:id="rId16"/>
    <p:sldId id="352" r:id="rId17"/>
    <p:sldId id="355" r:id="rId18"/>
    <p:sldId id="357" r:id="rId19"/>
    <p:sldId id="356" r:id="rId20"/>
    <p:sldId id="358" r:id="rId21"/>
    <p:sldId id="359" r:id="rId22"/>
    <p:sldId id="360" r:id="rId23"/>
    <p:sldId id="361" r:id="rId24"/>
    <p:sldId id="362" r:id="rId25"/>
    <p:sldId id="364" r:id="rId26"/>
    <p:sldId id="363" r:id="rId27"/>
    <p:sldId id="365" r:id="rId28"/>
    <p:sldId id="366" r:id="rId29"/>
    <p:sldId id="367" r:id="rId30"/>
    <p:sldId id="368" r:id="rId31"/>
    <p:sldId id="369" r:id="rId32"/>
    <p:sldId id="370" r:id="rId33"/>
    <p:sldId id="371" r:id="rId34"/>
    <p:sldId id="372" r:id="rId35"/>
    <p:sldId id="373" r:id="rId36"/>
    <p:sldId id="375" r:id="rId37"/>
    <p:sldId id="376" r:id="rId38"/>
    <p:sldId id="377" r:id="rId39"/>
    <p:sldId id="379" r:id="rId40"/>
    <p:sldId id="378" r:id="rId41"/>
    <p:sldId id="380" r:id="rId42"/>
    <p:sldId id="381" r:id="rId43"/>
    <p:sldId id="382" r:id="rId44"/>
    <p:sldId id="383" r:id="rId45"/>
    <p:sldId id="384" r:id="rId46"/>
    <p:sldId id="385" r:id="rId47"/>
    <p:sldId id="354" r:id="rId48"/>
    <p:sldId id="353" r:id="rId49"/>
    <p:sldId id="387" r:id="rId50"/>
    <p:sldId id="316" r:id="rId51"/>
    <p:sldId id="272"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62F96D9-971B-6D8E-A80A-74D16742802A}" name="RUIZ MATIAS GABRIEL" initials="RG" userId="S::matruiz@uade.edu.ar::72c12a3b-a710-4b0e-ab01-ac5c42c63442" providerId="AD"/>
  <p188:author id="{DD719EE8-DDFC-16A4-4674-DD58E045D250}" name="ADDESSO CAMILA" initials="CA" userId="S::caddesso@uade.edu.ar::efb615f5-46de-4cfe-a24f-17ca13fe304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F102D"/>
    <a:srgbClr val="62A72F"/>
    <a:srgbClr val="A57EB2"/>
    <a:srgbClr val="E1E1DF"/>
    <a:srgbClr val="F6A610"/>
    <a:srgbClr val="4C4C4C"/>
    <a:srgbClr val="0EA6CF"/>
    <a:srgbClr val="ED6B20"/>
    <a:srgbClr val="7F7F7F"/>
    <a:srgbClr val="0C1C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750015-3652-02A8-0D0A-71379D6E28F1}" v="5" dt="2025-10-22T15:02:59.8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382" autoAdjust="0"/>
    <p:restoredTop sz="96654" autoAdjust="0"/>
  </p:normalViewPr>
  <p:slideViewPr>
    <p:cSldViewPr snapToGrid="0">
      <p:cViewPr varScale="1">
        <p:scale>
          <a:sx n="63" d="100"/>
          <a:sy n="63" d="100"/>
        </p:scale>
        <p:origin x="672" y="5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118" d="100"/>
          <a:sy n="118" d="100"/>
        </p:scale>
        <p:origin x="4832" y="21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Master" Target="slideMasters/slideMaster2.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viewProps" Target="viewProp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microsoft.com/office/2015/10/relationships/revisionInfo" Target="revisionInfo.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theme" Target="theme/theme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FD1FCA-8EC3-4099-93EE-EEA94EE59154}" type="doc">
      <dgm:prSet loTypeId="urn:microsoft.com/office/officeart/2005/8/layout/vList2" loCatId="list" qsTypeId="urn:microsoft.com/office/officeart/2005/8/quickstyle/simple1" qsCatId="simple" csTypeId="urn:microsoft.com/office/officeart/2005/8/colors/accent4_2" csCatId="accent4"/>
      <dgm:spPr/>
      <dgm:t>
        <a:bodyPr/>
        <a:lstStyle/>
        <a:p>
          <a:endParaRPr lang="es-AR"/>
        </a:p>
      </dgm:t>
    </dgm:pt>
    <dgm:pt modelId="{41AE5BDA-4518-452E-A0D5-B6640394D8ED}">
      <dgm:prSet/>
      <dgm:spPr/>
      <dgm:t>
        <a:bodyPr/>
        <a:lstStyle/>
        <a:p>
          <a:pPr algn="just"/>
          <a:r>
            <a:rPr lang="es-ES" b="1"/>
            <a:t>• El comportamiento de una entidad debe poder ser alterado sin tener que modificar su propio código fuente. </a:t>
          </a:r>
          <a:endParaRPr lang="es-AR" b="1"/>
        </a:p>
      </dgm:t>
    </dgm:pt>
    <dgm:pt modelId="{D898A1F2-EE0E-49E6-85D4-7A56C9651C21}" type="parTrans" cxnId="{FE1FD32F-82C9-4804-9E30-196C73895668}">
      <dgm:prSet/>
      <dgm:spPr/>
      <dgm:t>
        <a:bodyPr/>
        <a:lstStyle/>
        <a:p>
          <a:pPr algn="just"/>
          <a:endParaRPr lang="es-AR" b="1"/>
        </a:p>
      </dgm:t>
    </dgm:pt>
    <dgm:pt modelId="{BC9FA492-4DB4-4C44-9E9E-7E4E2CF3A078}" type="sibTrans" cxnId="{FE1FD32F-82C9-4804-9E30-196C73895668}">
      <dgm:prSet/>
      <dgm:spPr/>
      <dgm:t>
        <a:bodyPr/>
        <a:lstStyle/>
        <a:p>
          <a:pPr algn="just"/>
          <a:endParaRPr lang="es-AR" b="1"/>
        </a:p>
      </dgm:t>
    </dgm:pt>
    <dgm:pt modelId="{BB65B024-4FCC-4278-84BD-00C17933AEE1}">
      <dgm:prSet/>
      <dgm:spPr/>
      <dgm:t>
        <a:bodyPr/>
        <a:lstStyle/>
        <a:p>
          <a:pPr algn="just"/>
          <a:r>
            <a:rPr lang="es-ES" b="1"/>
            <a:t>• Una clase no se puede modificar, pero si se puede extender haciendo uso de la herencia. </a:t>
          </a:r>
          <a:endParaRPr lang="es-AR" b="1"/>
        </a:p>
      </dgm:t>
    </dgm:pt>
    <dgm:pt modelId="{EC54634A-3DE3-4A40-811E-40B7A43E8A84}" type="parTrans" cxnId="{36A93615-CC12-4F2F-A49C-5301CF7B9F9C}">
      <dgm:prSet/>
      <dgm:spPr/>
      <dgm:t>
        <a:bodyPr/>
        <a:lstStyle/>
        <a:p>
          <a:pPr algn="just"/>
          <a:endParaRPr lang="es-AR" b="1"/>
        </a:p>
      </dgm:t>
    </dgm:pt>
    <dgm:pt modelId="{BBD55668-BEA7-4022-9CAB-E9AD4EE16442}" type="sibTrans" cxnId="{36A93615-CC12-4F2F-A49C-5301CF7B9F9C}">
      <dgm:prSet/>
      <dgm:spPr/>
      <dgm:t>
        <a:bodyPr/>
        <a:lstStyle/>
        <a:p>
          <a:pPr algn="just"/>
          <a:endParaRPr lang="es-AR" b="1"/>
        </a:p>
      </dgm:t>
    </dgm:pt>
    <dgm:pt modelId="{87D19FB9-0E2A-4D20-97FF-B0D09C759AD4}">
      <dgm:prSet/>
      <dgm:spPr/>
      <dgm:t>
        <a:bodyPr/>
        <a:lstStyle/>
        <a:p>
          <a:pPr algn="just"/>
          <a:r>
            <a:rPr lang="es-ES" b="1"/>
            <a:t>• Se centra en mantener bajo el acoplamiento.</a:t>
          </a:r>
          <a:endParaRPr lang="es-AR" b="1"/>
        </a:p>
      </dgm:t>
    </dgm:pt>
    <dgm:pt modelId="{FDE5FFE5-42DF-44E4-8ACD-6C492A721563}" type="parTrans" cxnId="{F7FF99A0-CF85-472F-881C-247D1239BFBA}">
      <dgm:prSet/>
      <dgm:spPr/>
      <dgm:t>
        <a:bodyPr/>
        <a:lstStyle/>
        <a:p>
          <a:pPr algn="just"/>
          <a:endParaRPr lang="es-AR" b="1"/>
        </a:p>
      </dgm:t>
    </dgm:pt>
    <dgm:pt modelId="{CD57D787-3CE5-4A77-9AD4-1105909C60C6}" type="sibTrans" cxnId="{F7FF99A0-CF85-472F-881C-247D1239BFBA}">
      <dgm:prSet/>
      <dgm:spPr/>
      <dgm:t>
        <a:bodyPr/>
        <a:lstStyle/>
        <a:p>
          <a:pPr algn="just"/>
          <a:endParaRPr lang="es-AR" b="1"/>
        </a:p>
      </dgm:t>
    </dgm:pt>
    <dgm:pt modelId="{E77F3D34-12E3-4721-988C-7537D5821A08}" type="pres">
      <dgm:prSet presAssocID="{84FD1FCA-8EC3-4099-93EE-EEA94EE59154}" presName="linear" presStyleCnt="0">
        <dgm:presLayoutVars>
          <dgm:animLvl val="lvl"/>
          <dgm:resizeHandles val="exact"/>
        </dgm:presLayoutVars>
      </dgm:prSet>
      <dgm:spPr/>
    </dgm:pt>
    <dgm:pt modelId="{FCF024F7-CB74-4CC0-8F12-4A3C4D9CD33B}" type="pres">
      <dgm:prSet presAssocID="{41AE5BDA-4518-452E-A0D5-B6640394D8ED}" presName="parentText" presStyleLbl="node1" presStyleIdx="0" presStyleCnt="3">
        <dgm:presLayoutVars>
          <dgm:chMax val="0"/>
          <dgm:bulletEnabled val="1"/>
        </dgm:presLayoutVars>
      </dgm:prSet>
      <dgm:spPr/>
    </dgm:pt>
    <dgm:pt modelId="{B25B3B2F-807A-4B24-B77B-7BC6A7E219B8}" type="pres">
      <dgm:prSet presAssocID="{BC9FA492-4DB4-4C44-9E9E-7E4E2CF3A078}" presName="spacer" presStyleCnt="0"/>
      <dgm:spPr/>
    </dgm:pt>
    <dgm:pt modelId="{884CC0CB-9F39-45C4-843D-537B14403B43}" type="pres">
      <dgm:prSet presAssocID="{BB65B024-4FCC-4278-84BD-00C17933AEE1}" presName="parentText" presStyleLbl="node1" presStyleIdx="1" presStyleCnt="3">
        <dgm:presLayoutVars>
          <dgm:chMax val="0"/>
          <dgm:bulletEnabled val="1"/>
        </dgm:presLayoutVars>
      </dgm:prSet>
      <dgm:spPr/>
    </dgm:pt>
    <dgm:pt modelId="{2712A99F-6195-4DB8-8CCF-DD08D49987D7}" type="pres">
      <dgm:prSet presAssocID="{BBD55668-BEA7-4022-9CAB-E9AD4EE16442}" presName="spacer" presStyleCnt="0"/>
      <dgm:spPr/>
    </dgm:pt>
    <dgm:pt modelId="{6B346F51-F6AF-46AB-8E68-CF3A6A6910D9}" type="pres">
      <dgm:prSet presAssocID="{87D19FB9-0E2A-4D20-97FF-B0D09C759AD4}" presName="parentText" presStyleLbl="node1" presStyleIdx="2" presStyleCnt="3">
        <dgm:presLayoutVars>
          <dgm:chMax val="0"/>
          <dgm:bulletEnabled val="1"/>
        </dgm:presLayoutVars>
      </dgm:prSet>
      <dgm:spPr/>
    </dgm:pt>
  </dgm:ptLst>
  <dgm:cxnLst>
    <dgm:cxn modelId="{174BF810-DC2D-497D-BCDD-A24C59C07F50}" type="presOf" srcId="{87D19FB9-0E2A-4D20-97FF-B0D09C759AD4}" destId="{6B346F51-F6AF-46AB-8E68-CF3A6A6910D9}" srcOrd="0" destOrd="0" presId="urn:microsoft.com/office/officeart/2005/8/layout/vList2"/>
    <dgm:cxn modelId="{6C801612-7665-4433-A3E4-7EA248E1505B}" type="presOf" srcId="{BB65B024-4FCC-4278-84BD-00C17933AEE1}" destId="{884CC0CB-9F39-45C4-843D-537B14403B43}" srcOrd="0" destOrd="0" presId="urn:microsoft.com/office/officeart/2005/8/layout/vList2"/>
    <dgm:cxn modelId="{36A93615-CC12-4F2F-A49C-5301CF7B9F9C}" srcId="{84FD1FCA-8EC3-4099-93EE-EEA94EE59154}" destId="{BB65B024-4FCC-4278-84BD-00C17933AEE1}" srcOrd="1" destOrd="0" parTransId="{EC54634A-3DE3-4A40-811E-40B7A43E8A84}" sibTransId="{BBD55668-BEA7-4022-9CAB-E9AD4EE16442}"/>
    <dgm:cxn modelId="{4D791A21-1122-4128-A334-4ABB05112E9D}" type="presOf" srcId="{84FD1FCA-8EC3-4099-93EE-EEA94EE59154}" destId="{E77F3D34-12E3-4721-988C-7537D5821A08}" srcOrd="0" destOrd="0" presId="urn:microsoft.com/office/officeart/2005/8/layout/vList2"/>
    <dgm:cxn modelId="{408A1D2C-52FC-4974-9909-AB2866424D4B}" type="presOf" srcId="{41AE5BDA-4518-452E-A0D5-B6640394D8ED}" destId="{FCF024F7-CB74-4CC0-8F12-4A3C4D9CD33B}" srcOrd="0" destOrd="0" presId="urn:microsoft.com/office/officeart/2005/8/layout/vList2"/>
    <dgm:cxn modelId="{FE1FD32F-82C9-4804-9E30-196C73895668}" srcId="{84FD1FCA-8EC3-4099-93EE-EEA94EE59154}" destId="{41AE5BDA-4518-452E-A0D5-B6640394D8ED}" srcOrd="0" destOrd="0" parTransId="{D898A1F2-EE0E-49E6-85D4-7A56C9651C21}" sibTransId="{BC9FA492-4DB4-4C44-9E9E-7E4E2CF3A078}"/>
    <dgm:cxn modelId="{F7FF99A0-CF85-472F-881C-247D1239BFBA}" srcId="{84FD1FCA-8EC3-4099-93EE-EEA94EE59154}" destId="{87D19FB9-0E2A-4D20-97FF-B0D09C759AD4}" srcOrd="2" destOrd="0" parTransId="{FDE5FFE5-42DF-44E4-8ACD-6C492A721563}" sibTransId="{CD57D787-3CE5-4A77-9AD4-1105909C60C6}"/>
    <dgm:cxn modelId="{C00CB340-287F-4682-82E2-A772A4D5FE28}" type="presParOf" srcId="{E77F3D34-12E3-4721-988C-7537D5821A08}" destId="{FCF024F7-CB74-4CC0-8F12-4A3C4D9CD33B}" srcOrd="0" destOrd="0" presId="urn:microsoft.com/office/officeart/2005/8/layout/vList2"/>
    <dgm:cxn modelId="{FA5E72C3-8325-4F8E-AF19-50BAA81B0BFA}" type="presParOf" srcId="{E77F3D34-12E3-4721-988C-7537D5821A08}" destId="{B25B3B2F-807A-4B24-B77B-7BC6A7E219B8}" srcOrd="1" destOrd="0" presId="urn:microsoft.com/office/officeart/2005/8/layout/vList2"/>
    <dgm:cxn modelId="{A6A85D9A-61E3-4D89-83EA-436118228955}" type="presParOf" srcId="{E77F3D34-12E3-4721-988C-7537D5821A08}" destId="{884CC0CB-9F39-45C4-843D-537B14403B43}" srcOrd="2" destOrd="0" presId="urn:microsoft.com/office/officeart/2005/8/layout/vList2"/>
    <dgm:cxn modelId="{DB15557B-78E5-453F-9457-163FF2B26EDA}" type="presParOf" srcId="{E77F3D34-12E3-4721-988C-7537D5821A08}" destId="{2712A99F-6195-4DB8-8CCF-DD08D49987D7}" srcOrd="3" destOrd="0" presId="urn:microsoft.com/office/officeart/2005/8/layout/vList2"/>
    <dgm:cxn modelId="{6A509675-707F-4D9E-9E01-F3A1884FD421}" type="presParOf" srcId="{E77F3D34-12E3-4721-988C-7537D5821A08}" destId="{6B346F51-F6AF-46AB-8E68-CF3A6A6910D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70448A-4537-4FE8-90E8-69449D78D88B}"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es-AR"/>
        </a:p>
      </dgm:t>
    </dgm:pt>
    <dgm:pt modelId="{4893C211-E0E6-434E-915F-B08D7836B735}">
      <dgm:prSet custT="1"/>
      <dgm:spPr/>
      <dgm:t>
        <a:bodyPr/>
        <a:lstStyle/>
        <a:p>
          <a:r>
            <a:rPr lang="es-ES" sz="2000" b="1" dirty="0"/>
            <a:t>• Extensión del principio </a:t>
          </a:r>
          <a:r>
            <a:rPr lang="es-ES" sz="2000" b="1" i="1" dirty="0"/>
            <a:t>open/</a:t>
          </a:r>
          <a:r>
            <a:rPr lang="es-ES" sz="2000" b="1" i="1" dirty="0" err="1"/>
            <a:t>closed</a:t>
          </a:r>
          <a:r>
            <a:rPr lang="es-ES" sz="2000" b="1" dirty="0"/>
            <a:t>. </a:t>
          </a:r>
          <a:endParaRPr lang="es-AR" sz="2000" b="1" dirty="0"/>
        </a:p>
      </dgm:t>
    </dgm:pt>
    <dgm:pt modelId="{B189281C-B886-4526-87AD-3306E51CCE71}" type="parTrans" cxnId="{19E32D62-7AD8-4409-B005-EA19DE886A24}">
      <dgm:prSet/>
      <dgm:spPr/>
      <dgm:t>
        <a:bodyPr/>
        <a:lstStyle/>
        <a:p>
          <a:endParaRPr lang="es-AR" sz="2000" b="1"/>
        </a:p>
      </dgm:t>
    </dgm:pt>
    <dgm:pt modelId="{A433FD08-6969-4D30-9D1C-0B1D66BC2077}" type="sibTrans" cxnId="{19E32D62-7AD8-4409-B005-EA19DE886A24}">
      <dgm:prSet/>
      <dgm:spPr/>
      <dgm:t>
        <a:bodyPr/>
        <a:lstStyle/>
        <a:p>
          <a:endParaRPr lang="es-AR" sz="2000" b="1"/>
        </a:p>
      </dgm:t>
    </dgm:pt>
    <dgm:pt modelId="{528BABBB-0F07-479B-BBBB-70180A3F9D26}">
      <dgm:prSet custT="1"/>
      <dgm:spPr/>
      <dgm:t>
        <a:bodyPr/>
        <a:lstStyle/>
        <a:p>
          <a:r>
            <a:rPr lang="es-ES" sz="2000" b="1" dirty="0"/>
            <a:t>• Una clase derivada puede ser reemplazada por cualquier otra que use su clase base sin alterar el correcto funcionamiento de un programa. </a:t>
          </a:r>
          <a:endParaRPr lang="es-AR" sz="2000" b="1" dirty="0"/>
        </a:p>
      </dgm:t>
    </dgm:pt>
    <dgm:pt modelId="{8F2B836B-3498-47B6-9087-5A17F76E0EE8}" type="parTrans" cxnId="{F2B23545-5555-4981-A6D1-B7E9CF03FCAF}">
      <dgm:prSet/>
      <dgm:spPr/>
      <dgm:t>
        <a:bodyPr/>
        <a:lstStyle/>
        <a:p>
          <a:endParaRPr lang="es-AR" sz="2000" b="1"/>
        </a:p>
      </dgm:t>
    </dgm:pt>
    <dgm:pt modelId="{2DA32FDA-E6BE-48E9-B944-289B29CE24BE}" type="sibTrans" cxnId="{F2B23545-5555-4981-A6D1-B7E9CF03FCAF}">
      <dgm:prSet/>
      <dgm:spPr/>
      <dgm:t>
        <a:bodyPr/>
        <a:lstStyle/>
        <a:p>
          <a:endParaRPr lang="es-AR" sz="2000" b="1"/>
        </a:p>
      </dgm:t>
    </dgm:pt>
    <dgm:pt modelId="{F21590F9-5351-49DA-95B7-D6A2CA649023}">
      <dgm:prSet custT="1"/>
      <dgm:spPr/>
      <dgm:t>
        <a:bodyPr/>
        <a:lstStyle/>
        <a:p>
          <a:r>
            <a:rPr lang="es-ES" sz="2000" b="1"/>
            <a:t>• Si una función espera como parámetro una clase base esta puede ser reemplazada por cualquier clase derivada. </a:t>
          </a:r>
          <a:endParaRPr lang="es-AR" sz="2000" b="1"/>
        </a:p>
      </dgm:t>
    </dgm:pt>
    <dgm:pt modelId="{88C4E10F-3995-4169-8EC6-B9C3C18AD1BA}" type="parTrans" cxnId="{A0BECF5C-5B1D-48A2-B878-675A17D2A608}">
      <dgm:prSet/>
      <dgm:spPr/>
      <dgm:t>
        <a:bodyPr/>
        <a:lstStyle/>
        <a:p>
          <a:endParaRPr lang="es-AR" sz="2000" b="1"/>
        </a:p>
      </dgm:t>
    </dgm:pt>
    <dgm:pt modelId="{130314A5-9AC1-40A1-A865-485D5D3DA7E2}" type="sibTrans" cxnId="{A0BECF5C-5B1D-48A2-B878-675A17D2A608}">
      <dgm:prSet/>
      <dgm:spPr/>
      <dgm:t>
        <a:bodyPr/>
        <a:lstStyle/>
        <a:p>
          <a:endParaRPr lang="es-AR" sz="2000" b="1"/>
        </a:p>
      </dgm:t>
    </dgm:pt>
    <dgm:pt modelId="{5B1BD9E2-8ACF-40B7-B8AF-A07BC809C1C7}">
      <dgm:prSet custT="1"/>
      <dgm:spPr/>
      <dgm:t>
        <a:bodyPr/>
        <a:lstStyle/>
        <a:p>
          <a:r>
            <a:rPr lang="es-ES" sz="2000" b="1"/>
            <a:t>• Una subclase no debe remover ni modificar comportamiento de la clase base, no debe conocer a los demás subtipos. </a:t>
          </a:r>
          <a:endParaRPr lang="es-AR" sz="2000" b="1"/>
        </a:p>
      </dgm:t>
    </dgm:pt>
    <dgm:pt modelId="{6CF12406-EFB9-4F6A-BF19-B93BBBD61A02}" type="parTrans" cxnId="{C32EDB68-EDB8-4161-8BE9-C652D0F286F4}">
      <dgm:prSet/>
      <dgm:spPr/>
      <dgm:t>
        <a:bodyPr/>
        <a:lstStyle/>
        <a:p>
          <a:endParaRPr lang="es-AR" sz="2000" b="1"/>
        </a:p>
      </dgm:t>
    </dgm:pt>
    <dgm:pt modelId="{25D0421A-CF99-4C43-B744-DFAB83626F70}" type="sibTrans" cxnId="{C32EDB68-EDB8-4161-8BE9-C652D0F286F4}">
      <dgm:prSet/>
      <dgm:spPr/>
      <dgm:t>
        <a:bodyPr/>
        <a:lstStyle/>
        <a:p>
          <a:endParaRPr lang="es-AR" sz="2000" b="1"/>
        </a:p>
      </dgm:t>
    </dgm:pt>
    <dgm:pt modelId="{AEB22506-BA5B-490A-8115-59C1DA510139}">
      <dgm:prSet custT="1"/>
      <dgm:spPr/>
      <dgm:t>
        <a:bodyPr/>
        <a:lstStyle/>
        <a:p>
          <a:r>
            <a:rPr lang="es-ES" sz="2000" b="1"/>
            <a:t>• Si un subtipo hace algo que el cliente del supertipo no espera, es una violación al principio. </a:t>
          </a:r>
          <a:endParaRPr lang="es-AR" sz="2000" b="1"/>
        </a:p>
      </dgm:t>
    </dgm:pt>
    <dgm:pt modelId="{5BB802AB-6C9E-4FD4-9D7D-07834ECBF671}" type="parTrans" cxnId="{D495A73E-20D8-4DCE-904C-8135FB02EB27}">
      <dgm:prSet/>
      <dgm:spPr/>
      <dgm:t>
        <a:bodyPr/>
        <a:lstStyle/>
        <a:p>
          <a:endParaRPr lang="es-AR" sz="2000" b="1"/>
        </a:p>
      </dgm:t>
    </dgm:pt>
    <dgm:pt modelId="{F2FE2838-CAD8-41FE-BE49-B33515DA681B}" type="sibTrans" cxnId="{D495A73E-20D8-4DCE-904C-8135FB02EB27}">
      <dgm:prSet/>
      <dgm:spPr/>
      <dgm:t>
        <a:bodyPr/>
        <a:lstStyle/>
        <a:p>
          <a:endParaRPr lang="es-AR" sz="2000" b="1"/>
        </a:p>
      </dgm:t>
    </dgm:pt>
    <dgm:pt modelId="{5FB24B28-0AF3-4B39-866B-45A7401BE9E0}" type="pres">
      <dgm:prSet presAssocID="{F670448A-4537-4FE8-90E8-69449D78D88B}" presName="linear" presStyleCnt="0">
        <dgm:presLayoutVars>
          <dgm:animLvl val="lvl"/>
          <dgm:resizeHandles val="exact"/>
        </dgm:presLayoutVars>
      </dgm:prSet>
      <dgm:spPr/>
    </dgm:pt>
    <dgm:pt modelId="{6AF529D8-C923-4647-8F2A-9DAC0E487F35}" type="pres">
      <dgm:prSet presAssocID="{4893C211-E0E6-434E-915F-B08D7836B735}" presName="parentText" presStyleLbl="node1" presStyleIdx="0" presStyleCnt="5" custLinFactY="-58797" custLinFactNeighborX="121" custLinFactNeighborY="-100000">
        <dgm:presLayoutVars>
          <dgm:chMax val="0"/>
          <dgm:bulletEnabled val="1"/>
        </dgm:presLayoutVars>
      </dgm:prSet>
      <dgm:spPr/>
    </dgm:pt>
    <dgm:pt modelId="{013EEC6C-4359-4DF4-BA73-7452EF4EFC5B}" type="pres">
      <dgm:prSet presAssocID="{A433FD08-6969-4D30-9D1C-0B1D66BC2077}" presName="spacer" presStyleCnt="0"/>
      <dgm:spPr/>
    </dgm:pt>
    <dgm:pt modelId="{77E6EA2D-238E-408E-9535-1FF8653E3AAC}" type="pres">
      <dgm:prSet presAssocID="{528BABBB-0F07-479B-BBBB-70180A3F9D26}" presName="parentText" presStyleLbl="node1" presStyleIdx="1" presStyleCnt="5" custScaleY="148379" custLinFactY="-16" custLinFactNeighborX="605" custLinFactNeighborY="-100000">
        <dgm:presLayoutVars>
          <dgm:chMax val="0"/>
          <dgm:bulletEnabled val="1"/>
        </dgm:presLayoutVars>
      </dgm:prSet>
      <dgm:spPr/>
    </dgm:pt>
    <dgm:pt modelId="{CC48734D-CE7B-4C9C-92A4-9FA0B065062D}" type="pres">
      <dgm:prSet presAssocID="{2DA32FDA-E6BE-48E9-B944-289B29CE24BE}" presName="spacer" presStyleCnt="0"/>
      <dgm:spPr/>
    </dgm:pt>
    <dgm:pt modelId="{B3C42D26-4CB9-48A6-9B86-5F5897F009E0}" type="pres">
      <dgm:prSet presAssocID="{F21590F9-5351-49DA-95B7-D6A2CA649023}" presName="parentText" presStyleLbl="node1" presStyleIdx="2" presStyleCnt="5">
        <dgm:presLayoutVars>
          <dgm:chMax val="0"/>
          <dgm:bulletEnabled val="1"/>
        </dgm:presLayoutVars>
      </dgm:prSet>
      <dgm:spPr/>
    </dgm:pt>
    <dgm:pt modelId="{9A4415E0-9FD4-4042-8391-174EF35E92EA}" type="pres">
      <dgm:prSet presAssocID="{130314A5-9AC1-40A1-A865-485D5D3DA7E2}" presName="spacer" presStyleCnt="0"/>
      <dgm:spPr/>
    </dgm:pt>
    <dgm:pt modelId="{EE87F078-62D4-4395-98A4-61E75E8F95B1}" type="pres">
      <dgm:prSet presAssocID="{5B1BD9E2-8ACF-40B7-B8AF-A07BC809C1C7}" presName="parentText" presStyleLbl="node1" presStyleIdx="3" presStyleCnt="5">
        <dgm:presLayoutVars>
          <dgm:chMax val="0"/>
          <dgm:bulletEnabled val="1"/>
        </dgm:presLayoutVars>
      </dgm:prSet>
      <dgm:spPr/>
    </dgm:pt>
    <dgm:pt modelId="{754935CC-347F-4E98-8EDD-2388CCA8138B}" type="pres">
      <dgm:prSet presAssocID="{25D0421A-CF99-4C43-B744-DFAB83626F70}" presName="spacer" presStyleCnt="0"/>
      <dgm:spPr/>
    </dgm:pt>
    <dgm:pt modelId="{8AA15250-A0E1-4CE5-8C2D-070755F83AFB}" type="pres">
      <dgm:prSet presAssocID="{AEB22506-BA5B-490A-8115-59C1DA510139}" presName="parentText" presStyleLbl="node1" presStyleIdx="4" presStyleCnt="5">
        <dgm:presLayoutVars>
          <dgm:chMax val="0"/>
          <dgm:bulletEnabled val="1"/>
        </dgm:presLayoutVars>
      </dgm:prSet>
      <dgm:spPr/>
    </dgm:pt>
  </dgm:ptLst>
  <dgm:cxnLst>
    <dgm:cxn modelId="{28096430-33FD-4574-8B19-146AE1B77A4E}" type="presOf" srcId="{528BABBB-0F07-479B-BBBB-70180A3F9D26}" destId="{77E6EA2D-238E-408E-9535-1FF8653E3AAC}" srcOrd="0" destOrd="0" presId="urn:microsoft.com/office/officeart/2005/8/layout/vList2"/>
    <dgm:cxn modelId="{F6390736-2A8A-40E3-91A4-EE080F2225AC}" type="presOf" srcId="{F670448A-4537-4FE8-90E8-69449D78D88B}" destId="{5FB24B28-0AF3-4B39-866B-45A7401BE9E0}" srcOrd="0" destOrd="0" presId="urn:microsoft.com/office/officeart/2005/8/layout/vList2"/>
    <dgm:cxn modelId="{D495A73E-20D8-4DCE-904C-8135FB02EB27}" srcId="{F670448A-4537-4FE8-90E8-69449D78D88B}" destId="{AEB22506-BA5B-490A-8115-59C1DA510139}" srcOrd="4" destOrd="0" parTransId="{5BB802AB-6C9E-4FD4-9D7D-07834ECBF671}" sibTransId="{F2FE2838-CAD8-41FE-BE49-B33515DA681B}"/>
    <dgm:cxn modelId="{A0BECF5C-5B1D-48A2-B878-675A17D2A608}" srcId="{F670448A-4537-4FE8-90E8-69449D78D88B}" destId="{F21590F9-5351-49DA-95B7-D6A2CA649023}" srcOrd="2" destOrd="0" parTransId="{88C4E10F-3995-4169-8EC6-B9C3C18AD1BA}" sibTransId="{130314A5-9AC1-40A1-A865-485D5D3DA7E2}"/>
    <dgm:cxn modelId="{19E32D62-7AD8-4409-B005-EA19DE886A24}" srcId="{F670448A-4537-4FE8-90E8-69449D78D88B}" destId="{4893C211-E0E6-434E-915F-B08D7836B735}" srcOrd="0" destOrd="0" parTransId="{B189281C-B886-4526-87AD-3306E51CCE71}" sibTransId="{A433FD08-6969-4D30-9D1C-0B1D66BC2077}"/>
    <dgm:cxn modelId="{F2B23545-5555-4981-A6D1-B7E9CF03FCAF}" srcId="{F670448A-4537-4FE8-90E8-69449D78D88B}" destId="{528BABBB-0F07-479B-BBBB-70180A3F9D26}" srcOrd="1" destOrd="0" parTransId="{8F2B836B-3498-47B6-9087-5A17F76E0EE8}" sibTransId="{2DA32FDA-E6BE-48E9-B944-289B29CE24BE}"/>
    <dgm:cxn modelId="{C32EDB68-EDB8-4161-8BE9-C652D0F286F4}" srcId="{F670448A-4537-4FE8-90E8-69449D78D88B}" destId="{5B1BD9E2-8ACF-40B7-B8AF-A07BC809C1C7}" srcOrd="3" destOrd="0" parTransId="{6CF12406-EFB9-4F6A-BF19-B93BBBD61A02}" sibTransId="{25D0421A-CF99-4C43-B744-DFAB83626F70}"/>
    <dgm:cxn modelId="{E71E0D4F-19E4-424F-893D-535EEDB6A242}" type="presOf" srcId="{4893C211-E0E6-434E-915F-B08D7836B735}" destId="{6AF529D8-C923-4647-8F2A-9DAC0E487F35}" srcOrd="0" destOrd="0" presId="urn:microsoft.com/office/officeart/2005/8/layout/vList2"/>
    <dgm:cxn modelId="{2679A186-1770-4F42-AB35-FB75806782DD}" type="presOf" srcId="{5B1BD9E2-8ACF-40B7-B8AF-A07BC809C1C7}" destId="{EE87F078-62D4-4395-98A4-61E75E8F95B1}" srcOrd="0" destOrd="0" presId="urn:microsoft.com/office/officeart/2005/8/layout/vList2"/>
    <dgm:cxn modelId="{657B2FC6-A778-4FCA-807F-A58E09845AE3}" type="presOf" srcId="{AEB22506-BA5B-490A-8115-59C1DA510139}" destId="{8AA15250-A0E1-4CE5-8C2D-070755F83AFB}" srcOrd="0" destOrd="0" presId="urn:microsoft.com/office/officeart/2005/8/layout/vList2"/>
    <dgm:cxn modelId="{959D82E5-AF04-43E2-B826-D2ACA4C6568E}" type="presOf" srcId="{F21590F9-5351-49DA-95B7-D6A2CA649023}" destId="{B3C42D26-4CB9-48A6-9B86-5F5897F009E0}" srcOrd="0" destOrd="0" presId="urn:microsoft.com/office/officeart/2005/8/layout/vList2"/>
    <dgm:cxn modelId="{8332B397-A843-48DD-A86E-A6CAED3B898D}" type="presParOf" srcId="{5FB24B28-0AF3-4B39-866B-45A7401BE9E0}" destId="{6AF529D8-C923-4647-8F2A-9DAC0E487F35}" srcOrd="0" destOrd="0" presId="urn:microsoft.com/office/officeart/2005/8/layout/vList2"/>
    <dgm:cxn modelId="{84FAC58C-69C5-49F6-A34F-3A3DE18AE08B}" type="presParOf" srcId="{5FB24B28-0AF3-4B39-866B-45A7401BE9E0}" destId="{013EEC6C-4359-4DF4-BA73-7452EF4EFC5B}" srcOrd="1" destOrd="0" presId="urn:microsoft.com/office/officeart/2005/8/layout/vList2"/>
    <dgm:cxn modelId="{5ADDD38C-EF2F-43A4-91BC-CA02A5B2B9D9}" type="presParOf" srcId="{5FB24B28-0AF3-4B39-866B-45A7401BE9E0}" destId="{77E6EA2D-238E-408E-9535-1FF8653E3AAC}" srcOrd="2" destOrd="0" presId="urn:microsoft.com/office/officeart/2005/8/layout/vList2"/>
    <dgm:cxn modelId="{03D2A23D-0DF4-42CF-8345-FFEA3D37C117}" type="presParOf" srcId="{5FB24B28-0AF3-4B39-866B-45A7401BE9E0}" destId="{CC48734D-CE7B-4C9C-92A4-9FA0B065062D}" srcOrd="3" destOrd="0" presId="urn:microsoft.com/office/officeart/2005/8/layout/vList2"/>
    <dgm:cxn modelId="{96699740-2964-4A3C-AE6D-92ECE4A2CA9B}" type="presParOf" srcId="{5FB24B28-0AF3-4B39-866B-45A7401BE9E0}" destId="{B3C42D26-4CB9-48A6-9B86-5F5897F009E0}" srcOrd="4" destOrd="0" presId="urn:microsoft.com/office/officeart/2005/8/layout/vList2"/>
    <dgm:cxn modelId="{EEE69309-7D77-458C-AF38-FBCF453450E2}" type="presParOf" srcId="{5FB24B28-0AF3-4B39-866B-45A7401BE9E0}" destId="{9A4415E0-9FD4-4042-8391-174EF35E92EA}" srcOrd="5" destOrd="0" presId="urn:microsoft.com/office/officeart/2005/8/layout/vList2"/>
    <dgm:cxn modelId="{3690FDA8-9EA5-47FB-B582-9CD409F0772D}" type="presParOf" srcId="{5FB24B28-0AF3-4B39-866B-45A7401BE9E0}" destId="{EE87F078-62D4-4395-98A4-61E75E8F95B1}" srcOrd="6" destOrd="0" presId="urn:microsoft.com/office/officeart/2005/8/layout/vList2"/>
    <dgm:cxn modelId="{31192305-5769-47D0-8C19-9525CCEE8EF6}" type="presParOf" srcId="{5FB24B28-0AF3-4B39-866B-45A7401BE9E0}" destId="{754935CC-347F-4E98-8EDD-2388CCA8138B}" srcOrd="7" destOrd="0" presId="urn:microsoft.com/office/officeart/2005/8/layout/vList2"/>
    <dgm:cxn modelId="{79242A36-D5CB-460D-BFAE-75B4399D69AA}" type="presParOf" srcId="{5FB24B28-0AF3-4B39-866B-45A7401BE9E0}" destId="{8AA15250-A0E1-4CE5-8C2D-070755F83AFB}"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38643BA-E912-4C4F-BE28-3A8387AEF814}" type="doc">
      <dgm:prSet loTypeId="urn:microsoft.com/office/officeart/2005/8/layout/vList2" loCatId="list" qsTypeId="urn:microsoft.com/office/officeart/2005/8/quickstyle/simple1" qsCatId="simple" csTypeId="urn:microsoft.com/office/officeart/2005/8/colors/accent5_2" csCatId="accent5"/>
      <dgm:spPr/>
      <dgm:t>
        <a:bodyPr/>
        <a:lstStyle/>
        <a:p>
          <a:endParaRPr lang="es-AR"/>
        </a:p>
      </dgm:t>
    </dgm:pt>
    <dgm:pt modelId="{A75DD448-3127-44B1-A3AD-5E3E673B555E}">
      <dgm:prSet/>
      <dgm:spPr/>
      <dgm:t>
        <a:bodyPr/>
        <a:lstStyle/>
        <a:p>
          <a:pPr algn="just"/>
          <a:r>
            <a:rPr lang="es-ES" b="1"/>
            <a:t>• Los clientes no deben estar forzados a implementar interfaces que no usan. </a:t>
          </a:r>
          <a:endParaRPr lang="es-AR" b="1"/>
        </a:p>
      </dgm:t>
    </dgm:pt>
    <dgm:pt modelId="{A0E7379E-F131-4315-B04A-DA6FAD61DD53}" type="parTrans" cxnId="{20842B8D-55A6-4A2A-A7EF-8016E2D0F969}">
      <dgm:prSet/>
      <dgm:spPr/>
      <dgm:t>
        <a:bodyPr/>
        <a:lstStyle/>
        <a:p>
          <a:pPr algn="just"/>
          <a:endParaRPr lang="es-AR" b="1"/>
        </a:p>
      </dgm:t>
    </dgm:pt>
    <dgm:pt modelId="{1CA1E9A0-BD27-4822-B083-D074270769E0}" type="sibTrans" cxnId="{20842B8D-55A6-4A2A-A7EF-8016E2D0F969}">
      <dgm:prSet/>
      <dgm:spPr/>
      <dgm:t>
        <a:bodyPr/>
        <a:lstStyle/>
        <a:p>
          <a:pPr algn="just"/>
          <a:endParaRPr lang="es-AR" b="1"/>
        </a:p>
      </dgm:t>
    </dgm:pt>
    <dgm:pt modelId="{3E920CA1-C4AE-46DD-B957-0258C18635E1}">
      <dgm:prSet/>
      <dgm:spPr/>
      <dgm:t>
        <a:bodyPr/>
        <a:lstStyle/>
        <a:p>
          <a:pPr algn="just"/>
          <a:r>
            <a:rPr lang="es-ES" b="1"/>
            <a:t>• Guarda relación con la cohesión de las aplicaciones. </a:t>
          </a:r>
          <a:endParaRPr lang="es-AR" b="1"/>
        </a:p>
      </dgm:t>
    </dgm:pt>
    <dgm:pt modelId="{6D78DCEF-ED6B-412D-842A-635C0A4B6DB3}" type="parTrans" cxnId="{203F70A3-F2B2-4F78-806E-80826946F7C1}">
      <dgm:prSet/>
      <dgm:spPr/>
      <dgm:t>
        <a:bodyPr/>
        <a:lstStyle/>
        <a:p>
          <a:pPr algn="just"/>
          <a:endParaRPr lang="es-AR" b="1"/>
        </a:p>
      </dgm:t>
    </dgm:pt>
    <dgm:pt modelId="{4EDA5852-2498-4524-AA0B-1D0E955B33C0}" type="sibTrans" cxnId="{203F70A3-F2B2-4F78-806E-80826946F7C1}">
      <dgm:prSet/>
      <dgm:spPr/>
      <dgm:t>
        <a:bodyPr/>
        <a:lstStyle/>
        <a:p>
          <a:pPr algn="just"/>
          <a:endParaRPr lang="es-AR" b="1"/>
        </a:p>
      </dgm:t>
    </dgm:pt>
    <dgm:pt modelId="{4A458072-4209-4B7D-9A05-E622D99AF257}">
      <dgm:prSet/>
      <dgm:spPr/>
      <dgm:t>
        <a:bodyPr/>
        <a:lstStyle/>
        <a:p>
          <a:pPr algn="just"/>
          <a:r>
            <a:rPr lang="es-ES" b="1"/>
            <a:t>• Las clases que implementen una interfaz o una clase abstracta no deberían estar obligadas a utilizar partes que no necesitan. </a:t>
          </a:r>
          <a:endParaRPr lang="es-AR" b="1"/>
        </a:p>
      </dgm:t>
    </dgm:pt>
    <dgm:pt modelId="{2AF5F8F9-6700-4384-854D-D89BC14059E9}" type="parTrans" cxnId="{32025093-F87F-45DC-BD66-CC9953FA9202}">
      <dgm:prSet/>
      <dgm:spPr/>
      <dgm:t>
        <a:bodyPr/>
        <a:lstStyle/>
        <a:p>
          <a:pPr algn="just"/>
          <a:endParaRPr lang="es-AR" b="1"/>
        </a:p>
      </dgm:t>
    </dgm:pt>
    <dgm:pt modelId="{593386C4-59FF-4DAD-B16A-920DC209B54F}" type="sibTrans" cxnId="{32025093-F87F-45DC-BD66-CC9953FA9202}">
      <dgm:prSet/>
      <dgm:spPr/>
      <dgm:t>
        <a:bodyPr/>
        <a:lstStyle/>
        <a:p>
          <a:pPr algn="just"/>
          <a:endParaRPr lang="es-AR" b="1"/>
        </a:p>
      </dgm:t>
    </dgm:pt>
    <dgm:pt modelId="{0C31D118-14F7-440C-A5E1-F2467A92F467}">
      <dgm:prSet/>
      <dgm:spPr/>
      <dgm:t>
        <a:bodyPr/>
        <a:lstStyle/>
        <a:p>
          <a:pPr algn="just"/>
          <a:r>
            <a:rPr lang="es-ES" b="1"/>
            <a:t>• Los clientes no deben estar obligados a implementar y/o a depender de una interfaz que luego no usarán. </a:t>
          </a:r>
          <a:endParaRPr lang="es-AR" b="1"/>
        </a:p>
      </dgm:t>
    </dgm:pt>
    <dgm:pt modelId="{410BFFF9-A9AD-4964-B5E0-35DB43174641}" type="parTrans" cxnId="{7C513545-F346-4A08-B642-1F70BACBECB6}">
      <dgm:prSet/>
      <dgm:spPr/>
      <dgm:t>
        <a:bodyPr/>
        <a:lstStyle/>
        <a:p>
          <a:pPr algn="just"/>
          <a:endParaRPr lang="es-AR" b="1"/>
        </a:p>
      </dgm:t>
    </dgm:pt>
    <dgm:pt modelId="{BB7D8410-98E5-4C43-8EA5-4DAF19741337}" type="sibTrans" cxnId="{7C513545-F346-4A08-B642-1F70BACBECB6}">
      <dgm:prSet/>
      <dgm:spPr/>
      <dgm:t>
        <a:bodyPr/>
        <a:lstStyle/>
        <a:p>
          <a:pPr algn="just"/>
          <a:endParaRPr lang="es-AR" b="1"/>
        </a:p>
      </dgm:t>
    </dgm:pt>
    <dgm:pt modelId="{38DFF728-0A6F-4AFC-B256-F08CEED535DC}" type="pres">
      <dgm:prSet presAssocID="{738643BA-E912-4C4F-BE28-3A8387AEF814}" presName="linear" presStyleCnt="0">
        <dgm:presLayoutVars>
          <dgm:animLvl val="lvl"/>
          <dgm:resizeHandles val="exact"/>
        </dgm:presLayoutVars>
      </dgm:prSet>
      <dgm:spPr/>
    </dgm:pt>
    <dgm:pt modelId="{BE7048A6-DE33-4BA8-B88E-BC99E73807A3}" type="pres">
      <dgm:prSet presAssocID="{A75DD448-3127-44B1-A3AD-5E3E673B555E}" presName="parentText" presStyleLbl="node1" presStyleIdx="0" presStyleCnt="4">
        <dgm:presLayoutVars>
          <dgm:chMax val="0"/>
          <dgm:bulletEnabled val="1"/>
        </dgm:presLayoutVars>
      </dgm:prSet>
      <dgm:spPr/>
    </dgm:pt>
    <dgm:pt modelId="{83080211-19BB-46DC-94FA-9473BDA7BDC2}" type="pres">
      <dgm:prSet presAssocID="{1CA1E9A0-BD27-4822-B083-D074270769E0}" presName="spacer" presStyleCnt="0"/>
      <dgm:spPr/>
    </dgm:pt>
    <dgm:pt modelId="{3B139CEA-FF9E-49FC-B25B-2CED5CF99FD3}" type="pres">
      <dgm:prSet presAssocID="{3E920CA1-C4AE-46DD-B957-0258C18635E1}" presName="parentText" presStyleLbl="node1" presStyleIdx="1" presStyleCnt="4">
        <dgm:presLayoutVars>
          <dgm:chMax val="0"/>
          <dgm:bulletEnabled val="1"/>
        </dgm:presLayoutVars>
      </dgm:prSet>
      <dgm:spPr/>
    </dgm:pt>
    <dgm:pt modelId="{336FCB95-E1D5-42DD-95DD-709B91DD82A8}" type="pres">
      <dgm:prSet presAssocID="{4EDA5852-2498-4524-AA0B-1D0E955B33C0}" presName="spacer" presStyleCnt="0"/>
      <dgm:spPr/>
    </dgm:pt>
    <dgm:pt modelId="{024AB367-33B2-4698-9618-183133B0C82E}" type="pres">
      <dgm:prSet presAssocID="{4A458072-4209-4B7D-9A05-E622D99AF257}" presName="parentText" presStyleLbl="node1" presStyleIdx="2" presStyleCnt="4">
        <dgm:presLayoutVars>
          <dgm:chMax val="0"/>
          <dgm:bulletEnabled val="1"/>
        </dgm:presLayoutVars>
      </dgm:prSet>
      <dgm:spPr/>
    </dgm:pt>
    <dgm:pt modelId="{4C2C0106-9FF4-4B62-9E3A-8F0EA7F58063}" type="pres">
      <dgm:prSet presAssocID="{593386C4-59FF-4DAD-B16A-920DC209B54F}" presName="spacer" presStyleCnt="0"/>
      <dgm:spPr/>
    </dgm:pt>
    <dgm:pt modelId="{36517336-F124-4FA5-91F6-2B6EF87201CD}" type="pres">
      <dgm:prSet presAssocID="{0C31D118-14F7-440C-A5E1-F2467A92F467}" presName="parentText" presStyleLbl="node1" presStyleIdx="3" presStyleCnt="4">
        <dgm:presLayoutVars>
          <dgm:chMax val="0"/>
          <dgm:bulletEnabled val="1"/>
        </dgm:presLayoutVars>
      </dgm:prSet>
      <dgm:spPr/>
    </dgm:pt>
  </dgm:ptLst>
  <dgm:cxnLst>
    <dgm:cxn modelId="{5A31B024-D18A-428C-B451-6934B80942F9}" type="presOf" srcId="{4A458072-4209-4B7D-9A05-E622D99AF257}" destId="{024AB367-33B2-4698-9618-183133B0C82E}" srcOrd="0" destOrd="0" presId="urn:microsoft.com/office/officeart/2005/8/layout/vList2"/>
    <dgm:cxn modelId="{9EC89537-BB64-45F3-9209-E73E64CAF51E}" type="presOf" srcId="{A75DD448-3127-44B1-A3AD-5E3E673B555E}" destId="{BE7048A6-DE33-4BA8-B88E-BC99E73807A3}" srcOrd="0" destOrd="0" presId="urn:microsoft.com/office/officeart/2005/8/layout/vList2"/>
    <dgm:cxn modelId="{7C513545-F346-4A08-B642-1F70BACBECB6}" srcId="{738643BA-E912-4C4F-BE28-3A8387AEF814}" destId="{0C31D118-14F7-440C-A5E1-F2467A92F467}" srcOrd="3" destOrd="0" parTransId="{410BFFF9-A9AD-4964-B5E0-35DB43174641}" sibTransId="{BB7D8410-98E5-4C43-8EA5-4DAF19741337}"/>
    <dgm:cxn modelId="{20842B8D-55A6-4A2A-A7EF-8016E2D0F969}" srcId="{738643BA-E912-4C4F-BE28-3A8387AEF814}" destId="{A75DD448-3127-44B1-A3AD-5E3E673B555E}" srcOrd="0" destOrd="0" parTransId="{A0E7379E-F131-4315-B04A-DA6FAD61DD53}" sibTransId="{1CA1E9A0-BD27-4822-B083-D074270769E0}"/>
    <dgm:cxn modelId="{32025093-F87F-45DC-BD66-CC9953FA9202}" srcId="{738643BA-E912-4C4F-BE28-3A8387AEF814}" destId="{4A458072-4209-4B7D-9A05-E622D99AF257}" srcOrd="2" destOrd="0" parTransId="{2AF5F8F9-6700-4384-854D-D89BC14059E9}" sibTransId="{593386C4-59FF-4DAD-B16A-920DC209B54F}"/>
    <dgm:cxn modelId="{203F70A3-F2B2-4F78-806E-80826946F7C1}" srcId="{738643BA-E912-4C4F-BE28-3A8387AEF814}" destId="{3E920CA1-C4AE-46DD-B957-0258C18635E1}" srcOrd="1" destOrd="0" parTransId="{6D78DCEF-ED6B-412D-842A-635C0A4B6DB3}" sibTransId="{4EDA5852-2498-4524-AA0B-1D0E955B33C0}"/>
    <dgm:cxn modelId="{EE3070A7-A245-4E60-ADF3-6F5BF10F0817}" type="presOf" srcId="{738643BA-E912-4C4F-BE28-3A8387AEF814}" destId="{38DFF728-0A6F-4AFC-B256-F08CEED535DC}" srcOrd="0" destOrd="0" presId="urn:microsoft.com/office/officeart/2005/8/layout/vList2"/>
    <dgm:cxn modelId="{1533BCA8-A3B6-4D0F-8FB9-ED3166B572FA}" type="presOf" srcId="{0C31D118-14F7-440C-A5E1-F2467A92F467}" destId="{36517336-F124-4FA5-91F6-2B6EF87201CD}" srcOrd="0" destOrd="0" presId="urn:microsoft.com/office/officeart/2005/8/layout/vList2"/>
    <dgm:cxn modelId="{36EEEED2-CF1B-4FA4-A3A5-711CAA1E4FA1}" type="presOf" srcId="{3E920CA1-C4AE-46DD-B957-0258C18635E1}" destId="{3B139CEA-FF9E-49FC-B25B-2CED5CF99FD3}" srcOrd="0" destOrd="0" presId="urn:microsoft.com/office/officeart/2005/8/layout/vList2"/>
    <dgm:cxn modelId="{F759B4D5-C5A6-48FC-A60C-08AC2292971E}" type="presParOf" srcId="{38DFF728-0A6F-4AFC-B256-F08CEED535DC}" destId="{BE7048A6-DE33-4BA8-B88E-BC99E73807A3}" srcOrd="0" destOrd="0" presId="urn:microsoft.com/office/officeart/2005/8/layout/vList2"/>
    <dgm:cxn modelId="{4391B53F-4B1C-49ED-BB10-2FAE8995E819}" type="presParOf" srcId="{38DFF728-0A6F-4AFC-B256-F08CEED535DC}" destId="{83080211-19BB-46DC-94FA-9473BDA7BDC2}" srcOrd="1" destOrd="0" presId="urn:microsoft.com/office/officeart/2005/8/layout/vList2"/>
    <dgm:cxn modelId="{0C19E730-6560-4BC8-9DB2-E12FB3B3234A}" type="presParOf" srcId="{38DFF728-0A6F-4AFC-B256-F08CEED535DC}" destId="{3B139CEA-FF9E-49FC-B25B-2CED5CF99FD3}" srcOrd="2" destOrd="0" presId="urn:microsoft.com/office/officeart/2005/8/layout/vList2"/>
    <dgm:cxn modelId="{27D95972-CF4B-4900-B7D0-183E001621D5}" type="presParOf" srcId="{38DFF728-0A6F-4AFC-B256-F08CEED535DC}" destId="{336FCB95-E1D5-42DD-95DD-709B91DD82A8}" srcOrd="3" destOrd="0" presId="urn:microsoft.com/office/officeart/2005/8/layout/vList2"/>
    <dgm:cxn modelId="{E8BAEA48-7A78-4EA9-AA9D-5B880BB98E08}" type="presParOf" srcId="{38DFF728-0A6F-4AFC-B256-F08CEED535DC}" destId="{024AB367-33B2-4698-9618-183133B0C82E}" srcOrd="4" destOrd="0" presId="urn:microsoft.com/office/officeart/2005/8/layout/vList2"/>
    <dgm:cxn modelId="{DB15D838-034A-4524-AEB7-C6C94B1DF005}" type="presParOf" srcId="{38DFF728-0A6F-4AFC-B256-F08CEED535DC}" destId="{4C2C0106-9FF4-4B62-9E3A-8F0EA7F58063}" srcOrd="5" destOrd="0" presId="urn:microsoft.com/office/officeart/2005/8/layout/vList2"/>
    <dgm:cxn modelId="{823EDC07-9C41-4DDE-A8CC-4F5A2EAC4EEF}" type="presParOf" srcId="{38DFF728-0A6F-4AFC-B256-F08CEED535DC}" destId="{36517336-F124-4FA5-91F6-2B6EF87201C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F024F7-CB74-4CC0-8F12-4A3C4D9CD33B}">
      <dsp:nvSpPr>
        <dsp:cNvPr id="0" name=""/>
        <dsp:cNvSpPr/>
      </dsp:nvSpPr>
      <dsp:spPr>
        <a:xfrm>
          <a:off x="0" y="26605"/>
          <a:ext cx="8501998" cy="103428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just" defTabSz="1155700">
            <a:lnSpc>
              <a:spcPct val="90000"/>
            </a:lnSpc>
            <a:spcBef>
              <a:spcPct val="0"/>
            </a:spcBef>
            <a:spcAft>
              <a:spcPct val="35000"/>
            </a:spcAft>
            <a:buNone/>
          </a:pPr>
          <a:r>
            <a:rPr lang="es-ES" sz="2600" b="1" kern="1200"/>
            <a:t>• El comportamiento de una entidad debe poder ser alterado sin tener que modificar su propio código fuente. </a:t>
          </a:r>
          <a:endParaRPr lang="es-AR" sz="2600" b="1" kern="1200"/>
        </a:p>
      </dsp:txBody>
      <dsp:txXfrm>
        <a:off x="50489" y="77094"/>
        <a:ext cx="8401020" cy="933302"/>
      </dsp:txXfrm>
    </dsp:sp>
    <dsp:sp modelId="{884CC0CB-9F39-45C4-843D-537B14403B43}">
      <dsp:nvSpPr>
        <dsp:cNvPr id="0" name=""/>
        <dsp:cNvSpPr/>
      </dsp:nvSpPr>
      <dsp:spPr>
        <a:xfrm>
          <a:off x="0" y="1135766"/>
          <a:ext cx="8501998" cy="103428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just" defTabSz="1155700">
            <a:lnSpc>
              <a:spcPct val="90000"/>
            </a:lnSpc>
            <a:spcBef>
              <a:spcPct val="0"/>
            </a:spcBef>
            <a:spcAft>
              <a:spcPct val="35000"/>
            </a:spcAft>
            <a:buNone/>
          </a:pPr>
          <a:r>
            <a:rPr lang="es-ES" sz="2600" b="1" kern="1200"/>
            <a:t>• Una clase no se puede modificar, pero si se puede extender haciendo uso de la herencia. </a:t>
          </a:r>
          <a:endParaRPr lang="es-AR" sz="2600" b="1" kern="1200"/>
        </a:p>
      </dsp:txBody>
      <dsp:txXfrm>
        <a:off x="50489" y="1186255"/>
        <a:ext cx="8401020" cy="933302"/>
      </dsp:txXfrm>
    </dsp:sp>
    <dsp:sp modelId="{6B346F51-F6AF-46AB-8E68-CF3A6A6910D9}">
      <dsp:nvSpPr>
        <dsp:cNvPr id="0" name=""/>
        <dsp:cNvSpPr/>
      </dsp:nvSpPr>
      <dsp:spPr>
        <a:xfrm>
          <a:off x="0" y="2244926"/>
          <a:ext cx="8501998" cy="103428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just" defTabSz="1155700">
            <a:lnSpc>
              <a:spcPct val="90000"/>
            </a:lnSpc>
            <a:spcBef>
              <a:spcPct val="0"/>
            </a:spcBef>
            <a:spcAft>
              <a:spcPct val="35000"/>
            </a:spcAft>
            <a:buNone/>
          </a:pPr>
          <a:r>
            <a:rPr lang="es-ES" sz="2600" b="1" kern="1200"/>
            <a:t>• Se centra en mantener bajo el acoplamiento.</a:t>
          </a:r>
          <a:endParaRPr lang="es-AR" sz="2600" b="1" kern="1200"/>
        </a:p>
      </dsp:txBody>
      <dsp:txXfrm>
        <a:off x="50489" y="2295415"/>
        <a:ext cx="8401020" cy="9333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F529D8-C923-4647-8F2A-9DAC0E487F35}">
      <dsp:nvSpPr>
        <dsp:cNvPr id="0" name=""/>
        <dsp:cNvSpPr/>
      </dsp:nvSpPr>
      <dsp:spPr>
        <a:xfrm>
          <a:off x="0" y="0"/>
          <a:ext cx="8391162" cy="79187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 sz="2000" b="1" kern="1200" dirty="0"/>
            <a:t>• Extensión del principio </a:t>
          </a:r>
          <a:r>
            <a:rPr lang="es-ES" sz="2000" b="1" i="1" kern="1200" dirty="0"/>
            <a:t>open/</a:t>
          </a:r>
          <a:r>
            <a:rPr lang="es-ES" sz="2000" b="1" i="1" kern="1200" dirty="0" err="1"/>
            <a:t>closed</a:t>
          </a:r>
          <a:r>
            <a:rPr lang="es-ES" sz="2000" b="1" kern="1200" dirty="0"/>
            <a:t>. </a:t>
          </a:r>
          <a:endParaRPr lang="es-AR" sz="2000" b="1" kern="1200" dirty="0"/>
        </a:p>
      </dsp:txBody>
      <dsp:txXfrm>
        <a:off x="38656" y="38656"/>
        <a:ext cx="8313850" cy="714558"/>
      </dsp:txXfrm>
    </dsp:sp>
    <dsp:sp modelId="{77E6EA2D-238E-408E-9535-1FF8653E3AAC}">
      <dsp:nvSpPr>
        <dsp:cNvPr id="0" name=""/>
        <dsp:cNvSpPr/>
      </dsp:nvSpPr>
      <dsp:spPr>
        <a:xfrm>
          <a:off x="0" y="805885"/>
          <a:ext cx="8391162" cy="1174969"/>
        </a:xfrm>
        <a:prstGeom prst="roundRect">
          <a:avLst/>
        </a:prstGeom>
        <a:solidFill>
          <a:schemeClr val="accent4">
            <a:hueOff val="261305"/>
            <a:satOff val="1933"/>
            <a:lumOff val="-54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 sz="2000" b="1" kern="1200" dirty="0"/>
            <a:t>• Una clase derivada puede ser reemplazada por cualquier otra que use su clase base sin alterar el correcto funcionamiento de un programa. </a:t>
          </a:r>
          <a:endParaRPr lang="es-AR" sz="2000" b="1" kern="1200" dirty="0"/>
        </a:p>
      </dsp:txBody>
      <dsp:txXfrm>
        <a:off x="57357" y="863242"/>
        <a:ext cx="8276448" cy="1060255"/>
      </dsp:txXfrm>
    </dsp:sp>
    <dsp:sp modelId="{B3C42D26-4CB9-48A6-9B86-5F5897F009E0}">
      <dsp:nvSpPr>
        <dsp:cNvPr id="0" name=""/>
        <dsp:cNvSpPr/>
      </dsp:nvSpPr>
      <dsp:spPr>
        <a:xfrm>
          <a:off x="0" y="2078902"/>
          <a:ext cx="8391162" cy="791870"/>
        </a:xfrm>
        <a:prstGeom prst="roundRect">
          <a:avLst/>
        </a:prstGeom>
        <a:solidFill>
          <a:schemeClr val="accent4">
            <a:hueOff val="522610"/>
            <a:satOff val="3866"/>
            <a:lumOff val="-107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 sz="2000" b="1" kern="1200"/>
            <a:t>• Si una función espera como parámetro una clase base esta puede ser reemplazada por cualquier clase derivada. </a:t>
          </a:r>
          <a:endParaRPr lang="es-AR" sz="2000" b="1" kern="1200"/>
        </a:p>
      </dsp:txBody>
      <dsp:txXfrm>
        <a:off x="38656" y="2117558"/>
        <a:ext cx="8313850" cy="714558"/>
      </dsp:txXfrm>
    </dsp:sp>
    <dsp:sp modelId="{EE87F078-62D4-4395-98A4-61E75E8F95B1}">
      <dsp:nvSpPr>
        <dsp:cNvPr id="0" name=""/>
        <dsp:cNvSpPr/>
      </dsp:nvSpPr>
      <dsp:spPr>
        <a:xfrm>
          <a:off x="0" y="2919732"/>
          <a:ext cx="8391162" cy="791870"/>
        </a:xfrm>
        <a:prstGeom prst="roundRect">
          <a:avLst/>
        </a:prstGeom>
        <a:solidFill>
          <a:schemeClr val="accent4">
            <a:hueOff val="783915"/>
            <a:satOff val="5800"/>
            <a:lumOff val="-161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 sz="2000" b="1" kern="1200"/>
            <a:t>• Una subclase no debe remover ni modificar comportamiento de la clase base, no debe conocer a los demás subtipos. </a:t>
          </a:r>
          <a:endParaRPr lang="es-AR" sz="2000" b="1" kern="1200"/>
        </a:p>
      </dsp:txBody>
      <dsp:txXfrm>
        <a:off x="38656" y="2958388"/>
        <a:ext cx="8313850" cy="714558"/>
      </dsp:txXfrm>
    </dsp:sp>
    <dsp:sp modelId="{8AA15250-A0E1-4CE5-8C2D-070755F83AFB}">
      <dsp:nvSpPr>
        <dsp:cNvPr id="0" name=""/>
        <dsp:cNvSpPr/>
      </dsp:nvSpPr>
      <dsp:spPr>
        <a:xfrm>
          <a:off x="0" y="3760563"/>
          <a:ext cx="8391162" cy="791870"/>
        </a:xfrm>
        <a:prstGeom prst="roundRect">
          <a:avLst/>
        </a:prstGeom>
        <a:solidFill>
          <a:schemeClr val="accent4">
            <a:hueOff val="1045220"/>
            <a:satOff val="7733"/>
            <a:lumOff val="-21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 sz="2000" b="1" kern="1200"/>
            <a:t>• Si un subtipo hace algo que el cliente del supertipo no espera, es una violación al principio. </a:t>
          </a:r>
          <a:endParaRPr lang="es-AR" sz="2000" b="1" kern="1200"/>
        </a:p>
      </dsp:txBody>
      <dsp:txXfrm>
        <a:off x="38656" y="3799219"/>
        <a:ext cx="8313850" cy="7145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7048A6-DE33-4BA8-B88E-BC99E73807A3}">
      <dsp:nvSpPr>
        <dsp:cNvPr id="0" name=""/>
        <dsp:cNvSpPr/>
      </dsp:nvSpPr>
      <dsp:spPr>
        <a:xfrm>
          <a:off x="0" y="76956"/>
          <a:ext cx="8391162" cy="91494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just" defTabSz="1022350">
            <a:lnSpc>
              <a:spcPct val="90000"/>
            </a:lnSpc>
            <a:spcBef>
              <a:spcPct val="0"/>
            </a:spcBef>
            <a:spcAft>
              <a:spcPct val="35000"/>
            </a:spcAft>
            <a:buNone/>
          </a:pPr>
          <a:r>
            <a:rPr lang="es-ES" sz="2300" b="1" kern="1200"/>
            <a:t>• Los clientes no deben estar forzados a implementar interfaces que no usan. </a:t>
          </a:r>
          <a:endParaRPr lang="es-AR" sz="2300" b="1" kern="1200"/>
        </a:p>
      </dsp:txBody>
      <dsp:txXfrm>
        <a:off x="44664" y="121620"/>
        <a:ext cx="8301834" cy="825612"/>
      </dsp:txXfrm>
    </dsp:sp>
    <dsp:sp modelId="{3B139CEA-FF9E-49FC-B25B-2CED5CF99FD3}">
      <dsp:nvSpPr>
        <dsp:cNvPr id="0" name=""/>
        <dsp:cNvSpPr/>
      </dsp:nvSpPr>
      <dsp:spPr>
        <a:xfrm>
          <a:off x="0" y="1058136"/>
          <a:ext cx="8391162" cy="91494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just" defTabSz="1022350">
            <a:lnSpc>
              <a:spcPct val="90000"/>
            </a:lnSpc>
            <a:spcBef>
              <a:spcPct val="0"/>
            </a:spcBef>
            <a:spcAft>
              <a:spcPct val="35000"/>
            </a:spcAft>
            <a:buNone/>
          </a:pPr>
          <a:r>
            <a:rPr lang="es-ES" sz="2300" b="1" kern="1200"/>
            <a:t>• Guarda relación con la cohesión de las aplicaciones. </a:t>
          </a:r>
          <a:endParaRPr lang="es-AR" sz="2300" b="1" kern="1200"/>
        </a:p>
      </dsp:txBody>
      <dsp:txXfrm>
        <a:off x="44664" y="1102800"/>
        <a:ext cx="8301834" cy="825612"/>
      </dsp:txXfrm>
    </dsp:sp>
    <dsp:sp modelId="{024AB367-33B2-4698-9618-183133B0C82E}">
      <dsp:nvSpPr>
        <dsp:cNvPr id="0" name=""/>
        <dsp:cNvSpPr/>
      </dsp:nvSpPr>
      <dsp:spPr>
        <a:xfrm>
          <a:off x="0" y="2039317"/>
          <a:ext cx="8391162" cy="91494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just" defTabSz="1022350">
            <a:lnSpc>
              <a:spcPct val="90000"/>
            </a:lnSpc>
            <a:spcBef>
              <a:spcPct val="0"/>
            </a:spcBef>
            <a:spcAft>
              <a:spcPct val="35000"/>
            </a:spcAft>
            <a:buNone/>
          </a:pPr>
          <a:r>
            <a:rPr lang="es-ES" sz="2300" b="1" kern="1200"/>
            <a:t>• Las clases que implementen una interfaz o una clase abstracta no deberían estar obligadas a utilizar partes que no necesitan. </a:t>
          </a:r>
          <a:endParaRPr lang="es-AR" sz="2300" b="1" kern="1200"/>
        </a:p>
      </dsp:txBody>
      <dsp:txXfrm>
        <a:off x="44664" y="2083981"/>
        <a:ext cx="8301834" cy="825612"/>
      </dsp:txXfrm>
    </dsp:sp>
    <dsp:sp modelId="{36517336-F124-4FA5-91F6-2B6EF87201CD}">
      <dsp:nvSpPr>
        <dsp:cNvPr id="0" name=""/>
        <dsp:cNvSpPr/>
      </dsp:nvSpPr>
      <dsp:spPr>
        <a:xfrm>
          <a:off x="0" y="3020497"/>
          <a:ext cx="8391162" cy="91494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just" defTabSz="1022350">
            <a:lnSpc>
              <a:spcPct val="90000"/>
            </a:lnSpc>
            <a:spcBef>
              <a:spcPct val="0"/>
            </a:spcBef>
            <a:spcAft>
              <a:spcPct val="35000"/>
            </a:spcAft>
            <a:buNone/>
          </a:pPr>
          <a:r>
            <a:rPr lang="es-ES" sz="2300" b="1" kern="1200"/>
            <a:t>• Los clientes no deben estar obligados a implementar y/o a depender de una interfaz que luego no usarán. </a:t>
          </a:r>
          <a:endParaRPr lang="es-AR" sz="2300" b="1" kern="1200"/>
        </a:p>
      </dsp:txBody>
      <dsp:txXfrm>
        <a:off x="44664" y="3065161"/>
        <a:ext cx="8301834" cy="82561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E19318D9-1C74-894A-82B9-08234547CBA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a:extLst>
              <a:ext uri="{FF2B5EF4-FFF2-40B4-BE49-F238E27FC236}">
                <a16:creationId xmlns:a16="http://schemas.microsoft.com/office/drawing/2014/main" id="{25A90431-346B-FF4F-90F3-5C33DDFC0EA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452339-5F8B-F640-A005-4EDA3E12CECF}" type="datetimeFigureOut">
              <a:rPr lang="es-AR" smtClean="0"/>
              <a:t>26/3/2026</a:t>
            </a:fld>
            <a:endParaRPr lang="es-AR"/>
          </a:p>
        </p:txBody>
      </p:sp>
      <p:sp>
        <p:nvSpPr>
          <p:cNvPr id="4" name="Marcador de pie de página 3">
            <a:extLst>
              <a:ext uri="{FF2B5EF4-FFF2-40B4-BE49-F238E27FC236}">
                <a16:creationId xmlns:a16="http://schemas.microsoft.com/office/drawing/2014/main" id="{7257D341-252F-154F-BCD0-0D80E26497D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5" name="Marcador de número de diapositiva 4">
            <a:extLst>
              <a:ext uri="{FF2B5EF4-FFF2-40B4-BE49-F238E27FC236}">
                <a16:creationId xmlns:a16="http://schemas.microsoft.com/office/drawing/2014/main" id="{7543607C-91C9-DD4A-88B2-E4B0E7C4C03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016872-CFF9-7043-9FD8-7CAAB38F38F3}" type="slidenum">
              <a:rPr lang="es-AR" smtClean="0"/>
              <a:t>‹Nº›</a:t>
            </a:fld>
            <a:endParaRPr lang="es-AR"/>
          </a:p>
        </p:txBody>
      </p:sp>
    </p:spTree>
    <p:extLst>
      <p:ext uri="{BB962C8B-B14F-4D97-AF65-F5344CB8AC3E}">
        <p14:creationId xmlns:p14="http://schemas.microsoft.com/office/powerpoint/2010/main" val="24675552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94448C-68AB-41ED-9AA1-623600B6A404}" type="datetimeFigureOut">
              <a:rPr lang="es-AR" smtClean="0"/>
              <a:t>26/3/2026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D0DE57-D832-4C0E-B844-2BC9C8865DC9}" type="slidenum">
              <a:rPr lang="es-AR" smtClean="0"/>
              <a:t>‹Nº›</a:t>
            </a:fld>
            <a:endParaRPr lang="es-AR"/>
          </a:p>
        </p:txBody>
      </p:sp>
    </p:spTree>
    <p:extLst>
      <p:ext uri="{BB962C8B-B14F-4D97-AF65-F5344CB8AC3E}">
        <p14:creationId xmlns:p14="http://schemas.microsoft.com/office/powerpoint/2010/main" val="3829774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3" name="Imagen 2" descr="Calendario&#10;&#10;Descripción generada automáticamente con confianza media">
            <a:extLst>
              <a:ext uri="{FF2B5EF4-FFF2-40B4-BE49-F238E27FC236}">
                <a16:creationId xmlns:a16="http://schemas.microsoft.com/office/drawing/2014/main" id="{7F535B13-CD10-974C-BF7B-B8EA82EEA5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6282"/>
            <a:ext cx="12221084" cy="6841718"/>
          </a:xfrm>
          <a:prstGeom prst="rect">
            <a:avLst/>
          </a:prstGeom>
        </p:spPr>
      </p:pic>
    </p:spTree>
    <p:extLst>
      <p:ext uri="{BB962C8B-B14F-4D97-AF65-F5344CB8AC3E}">
        <p14:creationId xmlns:p14="http://schemas.microsoft.com/office/powerpoint/2010/main" val="379288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bg>
      <p:bgPr>
        <a:solidFill>
          <a:schemeClr val="bg1"/>
        </a:solidFill>
        <a:effectLst/>
      </p:bgPr>
    </p:bg>
    <p:spTree>
      <p:nvGrpSpPr>
        <p:cNvPr id="1" name=""/>
        <p:cNvGrpSpPr/>
        <p:nvPr/>
      </p:nvGrpSpPr>
      <p:grpSpPr>
        <a:xfrm>
          <a:off x="0" y="0"/>
          <a:ext cx="0" cy="0"/>
          <a:chOff x="0" y="0"/>
          <a:chExt cx="0" cy="0"/>
        </a:xfrm>
      </p:grpSpPr>
      <p:pic>
        <p:nvPicPr>
          <p:cNvPr id="5" name="Imagen 4" descr="Forma&#10;&#10;Descripción generada automáticamente">
            <a:extLst>
              <a:ext uri="{FF2B5EF4-FFF2-40B4-BE49-F238E27FC236}">
                <a16:creationId xmlns:a16="http://schemas.microsoft.com/office/drawing/2014/main" id="{FCADEDCF-DA7F-C84B-9E3A-D37447BC1E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250168" cy="6858000"/>
          </a:xfrm>
          <a:prstGeom prst="rect">
            <a:avLst/>
          </a:prstGeom>
        </p:spPr>
      </p:pic>
    </p:spTree>
    <p:extLst>
      <p:ext uri="{BB962C8B-B14F-4D97-AF65-F5344CB8AC3E}">
        <p14:creationId xmlns:p14="http://schemas.microsoft.com/office/powerpoint/2010/main" val="2540821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pic>
        <p:nvPicPr>
          <p:cNvPr id="6" name="Imagen 5" descr="Forma&#10;&#10;Descripción generada automáticamente">
            <a:extLst>
              <a:ext uri="{FF2B5EF4-FFF2-40B4-BE49-F238E27FC236}">
                <a16:creationId xmlns:a16="http://schemas.microsoft.com/office/drawing/2014/main" id="{6BB30792-84BC-5645-AFE5-6C1B6C31C0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084" y="0"/>
            <a:ext cx="12250168" cy="6858000"/>
          </a:xfrm>
          <a:prstGeom prst="rect">
            <a:avLst/>
          </a:prstGeom>
        </p:spPr>
      </p:pic>
    </p:spTree>
    <p:extLst>
      <p:ext uri="{BB962C8B-B14F-4D97-AF65-F5344CB8AC3E}">
        <p14:creationId xmlns:p14="http://schemas.microsoft.com/office/powerpoint/2010/main" val="1349459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ítulo y objetos">
    <p:spTree>
      <p:nvGrpSpPr>
        <p:cNvPr id="1" name=""/>
        <p:cNvGrpSpPr/>
        <p:nvPr/>
      </p:nvGrpSpPr>
      <p:grpSpPr>
        <a:xfrm>
          <a:off x="0" y="0"/>
          <a:ext cx="0" cy="0"/>
          <a:chOff x="0" y="0"/>
          <a:chExt cx="0" cy="0"/>
        </a:xfrm>
      </p:grpSpPr>
      <p:pic>
        <p:nvPicPr>
          <p:cNvPr id="5" name="Imagen 4" descr="Forma&#10;&#10;Descripción generada automáticamente">
            <a:extLst>
              <a:ext uri="{FF2B5EF4-FFF2-40B4-BE49-F238E27FC236}">
                <a16:creationId xmlns:a16="http://schemas.microsoft.com/office/drawing/2014/main" id="{85B58F2E-6ABC-6141-8351-A9667E5A27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6282"/>
            <a:ext cx="12221084" cy="6841718"/>
          </a:xfrm>
          <a:prstGeom prst="rect">
            <a:avLst/>
          </a:prstGeom>
        </p:spPr>
      </p:pic>
    </p:spTree>
    <p:extLst>
      <p:ext uri="{BB962C8B-B14F-4D97-AF65-F5344CB8AC3E}">
        <p14:creationId xmlns:p14="http://schemas.microsoft.com/office/powerpoint/2010/main" val="2059597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ítulo y objetos">
    <p:spTree>
      <p:nvGrpSpPr>
        <p:cNvPr id="1" name=""/>
        <p:cNvGrpSpPr/>
        <p:nvPr/>
      </p:nvGrpSpPr>
      <p:grpSpPr>
        <a:xfrm>
          <a:off x="0" y="0"/>
          <a:ext cx="0" cy="0"/>
          <a:chOff x="0" y="0"/>
          <a:chExt cx="0" cy="0"/>
        </a:xfrm>
      </p:grpSpPr>
      <p:pic>
        <p:nvPicPr>
          <p:cNvPr id="7" name="Imagen 6" descr="Forma&#10;&#10;Descripción generada automáticamente con confianza media">
            <a:extLst>
              <a:ext uri="{FF2B5EF4-FFF2-40B4-BE49-F238E27FC236}">
                <a16:creationId xmlns:a16="http://schemas.microsoft.com/office/drawing/2014/main" id="{B77A4838-F1DD-9046-91FC-E45F806234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250168" cy="6858000"/>
          </a:xfrm>
          <a:prstGeom prst="rect">
            <a:avLst/>
          </a:prstGeom>
        </p:spPr>
      </p:pic>
    </p:spTree>
    <p:extLst>
      <p:ext uri="{BB962C8B-B14F-4D97-AF65-F5344CB8AC3E}">
        <p14:creationId xmlns:p14="http://schemas.microsoft.com/office/powerpoint/2010/main" val="2546093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ítulo y objetos">
    <p:spTree>
      <p:nvGrpSpPr>
        <p:cNvPr id="1" name=""/>
        <p:cNvGrpSpPr/>
        <p:nvPr/>
      </p:nvGrpSpPr>
      <p:grpSpPr>
        <a:xfrm>
          <a:off x="0" y="0"/>
          <a:ext cx="0" cy="0"/>
          <a:chOff x="0" y="0"/>
          <a:chExt cx="0" cy="0"/>
        </a:xfrm>
      </p:grpSpPr>
      <p:pic>
        <p:nvPicPr>
          <p:cNvPr id="5" name="Imagen 4" descr="Forma&#10;&#10;Descripción generada automáticamente">
            <a:extLst>
              <a:ext uri="{FF2B5EF4-FFF2-40B4-BE49-F238E27FC236}">
                <a16:creationId xmlns:a16="http://schemas.microsoft.com/office/drawing/2014/main" id="{BFD4B215-CC6C-F747-BEB2-F42A821CE9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084" y="0"/>
            <a:ext cx="12250168" cy="6858000"/>
          </a:xfrm>
          <a:prstGeom prst="rect">
            <a:avLst/>
          </a:prstGeom>
        </p:spPr>
      </p:pic>
    </p:spTree>
    <p:extLst>
      <p:ext uri="{BB962C8B-B14F-4D97-AF65-F5344CB8AC3E}">
        <p14:creationId xmlns:p14="http://schemas.microsoft.com/office/powerpoint/2010/main" val="2530095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ítulo y objetos">
    <p:spTree>
      <p:nvGrpSpPr>
        <p:cNvPr id="1" name=""/>
        <p:cNvGrpSpPr/>
        <p:nvPr/>
      </p:nvGrpSpPr>
      <p:grpSpPr>
        <a:xfrm>
          <a:off x="0" y="0"/>
          <a:ext cx="0" cy="0"/>
          <a:chOff x="0" y="0"/>
          <a:chExt cx="0" cy="0"/>
        </a:xfrm>
      </p:grpSpPr>
      <p:pic>
        <p:nvPicPr>
          <p:cNvPr id="6" name="Imagen 5" descr="Forma&#10;&#10;Descripción generada automáticamente">
            <a:extLst>
              <a:ext uri="{FF2B5EF4-FFF2-40B4-BE49-F238E27FC236}">
                <a16:creationId xmlns:a16="http://schemas.microsoft.com/office/drawing/2014/main" id="{3CD84CC3-4E28-3146-BFE5-F7C65E952CC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6282"/>
            <a:ext cx="12221084" cy="6841718"/>
          </a:xfrm>
          <a:prstGeom prst="rect">
            <a:avLst/>
          </a:prstGeom>
        </p:spPr>
      </p:pic>
    </p:spTree>
    <p:extLst>
      <p:ext uri="{BB962C8B-B14F-4D97-AF65-F5344CB8AC3E}">
        <p14:creationId xmlns:p14="http://schemas.microsoft.com/office/powerpoint/2010/main" val="130815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pic>
        <p:nvPicPr>
          <p:cNvPr id="3" name="Imagen 2" descr="Imagen que contiene Gráfico de líneas&#10;&#10;Descripción generada automáticamente">
            <a:extLst>
              <a:ext uri="{FF2B5EF4-FFF2-40B4-BE49-F238E27FC236}">
                <a16:creationId xmlns:a16="http://schemas.microsoft.com/office/drawing/2014/main" id="{91430346-03E4-0841-B9CE-876C88D547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084" y="0"/>
            <a:ext cx="12250168" cy="6858000"/>
          </a:xfrm>
          <a:prstGeom prst="rect">
            <a:avLst/>
          </a:prstGeom>
        </p:spPr>
      </p:pic>
    </p:spTree>
    <p:extLst>
      <p:ext uri="{BB962C8B-B14F-4D97-AF65-F5344CB8AC3E}">
        <p14:creationId xmlns:p14="http://schemas.microsoft.com/office/powerpoint/2010/main" val="3803464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Diseño personalizado">
    <p:spTree>
      <p:nvGrpSpPr>
        <p:cNvPr id="1" name=""/>
        <p:cNvGrpSpPr/>
        <p:nvPr/>
      </p:nvGrpSpPr>
      <p:grpSpPr>
        <a:xfrm>
          <a:off x="0" y="0"/>
          <a:ext cx="0" cy="0"/>
          <a:chOff x="0" y="0"/>
          <a:chExt cx="0" cy="0"/>
        </a:xfrm>
      </p:grpSpPr>
      <p:pic>
        <p:nvPicPr>
          <p:cNvPr id="3" name="Imagen 2" descr="Imagen que contiene Interfaz de usuario gráfica&#10;&#10;Descripción generada automáticamente">
            <a:extLst>
              <a:ext uri="{FF2B5EF4-FFF2-40B4-BE49-F238E27FC236}">
                <a16:creationId xmlns:a16="http://schemas.microsoft.com/office/drawing/2014/main" id="{783FC83D-79C1-104A-AB7A-0137336B08D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084" y="0"/>
            <a:ext cx="12250168" cy="6858000"/>
          </a:xfrm>
          <a:prstGeom prst="rect">
            <a:avLst/>
          </a:prstGeom>
        </p:spPr>
      </p:pic>
    </p:spTree>
    <p:extLst>
      <p:ext uri="{BB962C8B-B14F-4D97-AF65-F5344CB8AC3E}">
        <p14:creationId xmlns:p14="http://schemas.microsoft.com/office/powerpoint/2010/main" val="2043516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2157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6_Título y objetos">
    <p:spTree>
      <p:nvGrpSpPr>
        <p:cNvPr id="1" name=""/>
        <p:cNvGrpSpPr/>
        <p:nvPr/>
      </p:nvGrpSpPr>
      <p:grpSpPr>
        <a:xfrm>
          <a:off x="0" y="0"/>
          <a:ext cx="0" cy="0"/>
          <a:chOff x="0" y="0"/>
          <a:chExt cx="0" cy="0"/>
        </a:xfrm>
      </p:grpSpPr>
      <p:pic>
        <p:nvPicPr>
          <p:cNvPr id="6" name="Imagen 5" descr="Forma&#10;&#10;Descripción generada automáticamente">
            <a:extLst>
              <a:ext uri="{FF2B5EF4-FFF2-40B4-BE49-F238E27FC236}">
                <a16:creationId xmlns:a16="http://schemas.microsoft.com/office/drawing/2014/main" id="{21EE62C8-D1C0-584A-83CF-E72D8255CA0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5615"/>
            <a:ext cx="12192000" cy="6826770"/>
          </a:xfrm>
          <a:prstGeom prst="rect">
            <a:avLst/>
          </a:prstGeom>
        </p:spPr>
      </p:pic>
      <p:sp>
        <p:nvSpPr>
          <p:cNvPr id="2" name="Title 1"/>
          <p:cNvSpPr>
            <a:spLocks noGrp="1"/>
          </p:cNvSpPr>
          <p:nvPr>
            <p:ph type="title"/>
          </p:nvPr>
        </p:nvSpPr>
        <p:spPr>
          <a:xfrm>
            <a:off x="507124" y="467602"/>
            <a:ext cx="8518635" cy="747780"/>
          </a:xfrm>
          <a:prstGeom prst="rect">
            <a:avLst/>
          </a:prstGeom>
        </p:spPr>
        <p:txBody>
          <a:bodyPr/>
          <a:lstStyle>
            <a:lvl1pPr>
              <a:defRPr>
                <a:solidFill>
                  <a:schemeClr val="bg1"/>
                </a:solidFill>
                <a:latin typeface="Ubuntu" panose="020B0504030602030204" pitchFamily="34" charset="0"/>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838200" y="1825625"/>
            <a:ext cx="8353097" cy="4351338"/>
          </a:xfrm>
          <a:prstGeom prst="rect">
            <a:avLst/>
          </a:prstGeom>
        </p:spPr>
        <p:txBody>
          <a:bodyPr/>
          <a:lstStyle>
            <a:lvl1pPr marL="0" indent="0">
              <a:buNone/>
              <a:defRPr>
                <a:latin typeface="Ubuntu" panose="020B0504030602030204" pitchFamily="34" charset="0"/>
              </a:defRPr>
            </a:lvl1pPr>
          </a:lstStyle>
          <a:p>
            <a:pPr lvl="0"/>
            <a:r>
              <a:rPr lang="es-ES"/>
              <a:t>Haga clic para modificar los estilos de texto del patrón</a:t>
            </a:r>
          </a:p>
        </p:txBody>
      </p:sp>
    </p:spTree>
    <p:extLst>
      <p:ext uri="{BB962C8B-B14F-4D97-AF65-F5344CB8AC3E}">
        <p14:creationId xmlns:p14="http://schemas.microsoft.com/office/powerpoint/2010/main" val="3069737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C128B92-081D-4E46-9117-5C5CBD7921D1}" type="datetimeFigureOut">
              <a:rPr lang="es-AR" smtClean="0"/>
              <a:t>26/3/2026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3566563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C128B92-081D-4E46-9117-5C5CBD7921D1}" type="datetimeFigureOut">
              <a:rPr lang="es-AR" smtClean="0"/>
              <a:t>26/3/2026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41817369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C128B92-081D-4E46-9117-5C5CBD7921D1}" type="datetimeFigureOut">
              <a:rPr lang="es-AR" smtClean="0"/>
              <a:t>26/3/2026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22520155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C128B92-081D-4E46-9117-5C5CBD7921D1}" type="datetimeFigureOut">
              <a:rPr lang="es-AR" smtClean="0"/>
              <a:t>26/3/2026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40468107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C128B92-081D-4E46-9117-5C5CBD7921D1}" type="datetimeFigureOut">
              <a:rPr lang="es-AR" smtClean="0"/>
              <a:t>26/3/2026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30025120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C128B92-081D-4E46-9117-5C5CBD7921D1}" type="datetimeFigureOut">
              <a:rPr lang="es-AR" smtClean="0"/>
              <a:t>26/3/2026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15916611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128B92-081D-4E46-9117-5C5CBD7921D1}" type="datetimeFigureOut">
              <a:rPr lang="es-AR" smtClean="0"/>
              <a:t>26/3/2026</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27692220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C128B92-081D-4E46-9117-5C5CBD7921D1}" type="datetimeFigureOut">
              <a:rPr lang="es-AR" smtClean="0"/>
              <a:t>26/3/2026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12213978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C128B92-081D-4E46-9117-5C5CBD7921D1}" type="datetimeFigureOut">
              <a:rPr lang="es-AR" smtClean="0"/>
              <a:t>26/3/2026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15008124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C128B92-081D-4E46-9117-5C5CBD7921D1}" type="datetimeFigureOut">
              <a:rPr lang="es-AR" smtClean="0"/>
              <a:t>26/3/2026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6242045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C128B92-081D-4E46-9117-5C5CBD7921D1}" type="datetimeFigureOut">
              <a:rPr lang="es-AR" smtClean="0"/>
              <a:t>26/3/2026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8AAB3CAF-4838-4752-A64A-D86CFD53E9DF}" type="slidenum">
              <a:rPr lang="es-AR" smtClean="0"/>
              <a:t>‹Nº›</a:t>
            </a:fld>
            <a:endParaRPr lang="es-AR"/>
          </a:p>
        </p:txBody>
      </p:sp>
    </p:spTree>
    <p:extLst>
      <p:ext uri="{BB962C8B-B14F-4D97-AF65-F5344CB8AC3E}">
        <p14:creationId xmlns:p14="http://schemas.microsoft.com/office/powerpoint/2010/main" val="19354936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FA441F7-0A78-4297-9737-0443242114E2}" type="datetimeFigureOut">
              <a:rPr lang="es-AR" smtClean="0"/>
              <a:t>26/3/2026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B26BA32B-691B-46E8-8163-E2FBFCC2E1E7}" type="slidenum">
              <a:rPr lang="es-AR" smtClean="0"/>
              <a:t>‹Nº›</a:t>
            </a:fld>
            <a:endParaRPr lang="es-AR"/>
          </a:p>
        </p:txBody>
      </p:sp>
    </p:spTree>
    <p:extLst>
      <p:ext uri="{BB962C8B-B14F-4D97-AF65-F5344CB8AC3E}">
        <p14:creationId xmlns:p14="http://schemas.microsoft.com/office/powerpoint/2010/main" val="752546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532665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32" r:id="rId3"/>
    <p:sldLayoutId id="2147483733" r:id="rId4"/>
    <p:sldLayoutId id="2147483734" r:id="rId5"/>
    <p:sldLayoutId id="2147483735" r:id="rId6"/>
    <p:sldLayoutId id="2147483736" r:id="rId7"/>
    <p:sldLayoutId id="2147483737" r:id="rId8"/>
    <p:sldLayoutId id="2147483738" r:id="rId9"/>
    <p:sldLayoutId id="2147483715" r:id="rId10"/>
    <p:sldLayoutId id="214748373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128B92-081D-4E46-9117-5C5CBD7921D1}" type="datetimeFigureOut">
              <a:rPr lang="es-AR" smtClean="0"/>
              <a:t>26/3/2026</a:t>
            </a:fld>
            <a:endParaRPr lang="es-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AB3CAF-4838-4752-A64A-D86CFD53E9DF}" type="slidenum">
              <a:rPr lang="es-AR" smtClean="0"/>
              <a:t>‹Nº›</a:t>
            </a:fld>
            <a:endParaRPr lang="es-AR"/>
          </a:p>
        </p:txBody>
      </p:sp>
    </p:spTree>
    <p:extLst>
      <p:ext uri="{BB962C8B-B14F-4D97-AF65-F5344CB8AC3E}">
        <p14:creationId xmlns:p14="http://schemas.microsoft.com/office/powerpoint/2010/main" val="12397585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FA441F7-0A78-4297-9737-0443242114E2}" type="datetimeFigureOut">
              <a:rPr lang="es-AR" smtClean="0"/>
              <a:t>26/3/2026</a:t>
            </a:fld>
            <a:endParaRPr lang="es-A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26BA32B-691B-46E8-8163-E2FBFCC2E1E7}" type="slidenum">
              <a:rPr lang="es-AR" smtClean="0"/>
              <a:t>‹Nº›</a:t>
            </a:fld>
            <a:endParaRPr lang="es-AR"/>
          </a:p>
        </p:txBody>
      </p:sp>
    </p:spTree>
    <p:extLst>
      <p:ext uri="{BB962C8B-B14F-4D97-AF65-F5344CB8AC3E}">
        <p14:creationId xmlns:p14="http://schemas.microsoft.com/office/powerpoint/2010/main" val="586555812"/>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2475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0648473-4FFD-CE1E-214E-D8C7C7EF7807}"/>
              </a:ext>
            </a:extLst>
          </p:cNvPr>
          <p:cNvSpPr txBox="1"/>
          <p:nvPr/>
        </p:nvSpPr>
        <p:spPr>
          <a:xfrm>
            <a:off x="1517797" y="2876920"/>
            <a:ext cx="9156405" cy="1107996"/>
          </a:xfrm>
          <a:prstGeom prst="rect">
            <a:avLst/>
          </a:prstGeom>
          <a:noFill/>
        </p:spPr>
        <p:txBody>
          <a:bodyPr wrap="square" lIns="91440" tIns="45720" rIns="91440" bIns="45720" rtlCol="0" anchor="t">
            <a:spAutoFit/>
          </a:bodyPr>
          <a:lstStyle/>
          <a:p>
            <a:pPr algn="ctr"/>
            <a:r>
              <a:rPr lang="es-AR" sz="6600" b="1" dirty="0">
                <a:solidFill>
                  <a:schemeClr val="bg1"/>
                </a:solidFill>
              </a:rPr>
              <a:t>UADE </a:t>
            </a:r>
            <a:r>
              <a:rPr lang="es-AR" sz="6600" b="1" dirty="0" err="1">
                <a:solidFill>
                  <a:schemeClr val="bg1"/>
                </a:solidFill>
              </a:rPr>
              <a:t>Connect</a:t>
            </a:r>
            <a:endParaRPr lang="es-ES" dirty="0" err="1">
              <a:solidFill>
                <a:schemeClr val="bg1"/>
              </a:solidFill>
            </a:endParaRPr>
          </a:p>
        </p:txBody>
      </p:sp>
    </p:spTree>
    <p:extLst>
      <p:ext uri="{BB962C8B-B14F-4D97-AF65-F5344CB8AC3E}">
        <p14:creationId xmlns:p14="http://schemas.microsoft.com/office/powerpoint/2010/main" val="3316681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2">
            <a:extLst>
              <a:ext uri="{FF2B5EF4-FFF2-40B4-BE49-F238E27FC236}">
                <a16:creationId xmlns:a16="http://schemas.microsoft.com/office/drawing/2014/main" id="{8F01C925-114A-F6F9-FBBC-211C761E04C0}"/>
              </a:ext>
            </a:extLst>
          </p:cNvPr>
          <p:cNvSpPr txBox="1">
            <a:spLocks/>
          </p:cNvSpPr>
          <p:nvPr/>
        </p:nvSpPr>
        <p:spPr>
          <a:xfrm>
            <a:off x="447757" y="664887"/>
            <a:ext cx="6719776" cy="57415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AR" sz="4000" b="1" dirty="0">
                <a:solidFill>
                  <a:schemeClr val="bg1"/>
                </a:solidFill>
              </a:rPr>
              <a:t>Temas a desarrollar</a:t>
            </a:r>
          </a:p>
        </p:txBody>
      </p:sp>
      <p:sp>
        <p:nvSpPr>
          <p:cNvPr id="2" name="CuadroTexto 1">
            <a:extLst>
              <a:ext uri="{FF2B5EF4-FFF2-40B4-BE49-F238E27FC236}">
                <a16:creationId xmlns:a16="http://schemas.microsoft.com/office/drawing/2014/main" id="{22DCF6E0-E765-EB34-0B46-747DB290138B}"/>
              </a:ext>
            </a:extLst>
          </p:cNvPr>
          <p:cNvSpPr txBox="1"/>
          <p:nvPr/>
        </p:nvSpPr>
        <p:spPr>
          <a:xfrm>
            <a:off x="1322656" y="1785810"/>
            <a:ext cx="6738207" cy="400110"/>
          </a:xfrm>
          <a:prstGeom prst="rect">
            <a:avLst/>
          </a:prstGeom>
          <a:noFill/>
        </p:spPr>
        <p:txBody>
          <a:bodyPr wrap="square" lIns="91440" tIns="45720" rIns="91440" bIns="45720" rtlCol="0" anchor="t">
            <a:spAutoFit/>
          </a:bodyPr>
          <a:lstStyle/>
          <a:p>
            <a:r>
              <a:rPr lang="es-AR" sz="2000" b="1" dirty="0">
                <a:solidFill>
                  <a:srgbClr val="7F7F7F"/>
                </a:solidFill>
                <a:ea typeface="+mn-lt"/>
                <a:cs typeface="+mn-lt"/>
              </a:rPr>
              <a:t>Principios SOLID </a:t>
            </a:r>
            <a:endParaRPr lang="es-ES" sz="2000" b="1" dirty="0"/>
          </a:p>
        </p:txBody>
      </p:sp>
      <p:sp>
        <p:nvSpPr>
          <p:cNvPr id="25" name="Elipse 24">
            <a:extLst>
              <a:ext uri="{FF2B5EF4-FFF2-40B4-BE49-F238E27FC236}">
                <a16:creationId xmlns:a16="http://schemas.microsoft.com/office/drawing/2014/main" id="{3C1FE7AD-CB70-1C35-44BF-DF78403ACA9C}"/>
              </a:ext>
            </a:extLst>
          </p:cNvPr>
          <p:cNvSpPr/>
          <p:nvPr/>
        </p:nvSpPr>
        <p:spPr>
          <a:xfrm>
            <a:off x="863949" y="2012883"/>
            <a:ext cx="130628" cy="130628"/>
          </a:xfrm>
          <a:prstGeom prst="ellipse">
            <a:avLst/>
          </a:prstGeom>
          <a:solidFill>
            <a:srgbClr val="A57E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CuadroTexto 2">
            <a:extLst>
              <a:ext uri="{FF2B5EF4-FFF2-40B4-BE49-F238E27FC236}">
                <a16:creationId xmlns:a16="http://schemas.microsoft.com/office/drawing/2014/main" id="{5F86835D-7533-0641-AF2E-252C0F210E2F}"/>
              </a:ext>
            </a:extLst>
          </p:cNvPr>
          <p:cNvSpPr txBox="1"/>
          <p:nvPr/>
        </p:nvSpPr>
        <p:spPr>
          <a:xfrm>
            <a:off x="1322656" y="2459992"/>
            <a:ext cx="9156405" cy="400110"/>
          </a:xfrm>
          <a:prstGeom prst="rect">
            <a:avLst/>
          </a:prstGeom>
          <a:noFill/>
        </p:spPr>
        <p:txBody>
          <a:bodyPr wrap="square" lIns="91440" tIns="45720" rIns="91440" bIns="45720" rtlCol="0" anchor="t">
            <a:spAutoFit/>
          </a:bodyPr>
          <a:lstStyle>
            <a:defPPr>
              <a:defRPr lang="en-US"/>
            </a:defPPr>
            <a:lvl1pPr>
              <a:defRPr sz="3200" b="1">
                <a:solidFill>
                  <a:srgbClr val="7F7F7F"/>
                </a:solidFill>
                <a:ea typeface="+mn-lt"/>
                <a:cs typeface="+mn-lt"/>
              </a:defRPr>
            </a:lvl1pPr>
          </a:lstStyle>
          <a:p>
            <a:r>
              <a:rPr lang="es-AR" sz="2000" i="1" dirty="0"/>
              <a:t>Single </a:t>
            </a:r>
            <a:r>
              <a:rPr lang="es-AR" sz="2000" i="1" dirty="0" err="1"/>
              <a:t>Responsability</a:t>
            </a:r>
            <a:r>
              <a:rPr lang="es-AR" sz="2000" i="1" dirty="0"/>
              <a:t> </a:t>
            </a:r>
            <a:r>
              <a:rPr lang="es-AR" sz="2000" i="1" dirty="0" err="1"/>
              <a:t>Principle</a:t>
            </a:r>
            <a:r>
              <a:rPr lang="es-AR" sz="2000" i="1" dirty="0"/>
              <a:t> (Principio de responsabilidad única) </a:t>
            </a:r>
          </a:p>
        </p:txBody>
      </p:sp>
      <p:sp>
        <p:nvSpPr>
          <p:cNvPr id="5" name="CuadroTexto 4">
            <a:extLst>
              <a:ext uri="{FF2B5EF4-FFF2-40B4-BE49-F238E27FC236}">
                <a16:creationId xmlns:a16="http://schemas.microsoft.com/office/drawing/2014/main" id="{056A0151-BD52-BB7F-3B34-9854258FB965}"/>
              </a:ext>
            </a:extLst>
          </p:cNvPr>
          <p:cNvSpPr txBox="1"/>
          <p:nvPr/>
        </p:nvSpPr>
        <p:spPr>
          <a:xfrm>
            <a:off x="1322656" y="3134174"/>
            <a:ext cx="9156405" cy="400110"/>
          </a:xfrm>
          <a:prstGeom prst="rect">
            <a:avLst/>
          </a:prstGeom>
          <a:noFill/>
        </p:spPr>
        <p:txBody>
          <a:bodyPr wrap="square" lIns="91440" tIns="45720" rIns="91440" bIns="45720" rtlCol="0" anchor="t">
            <a:spAutoFit/>
          </a:bodyPr>
          <a:lstStyle>
            <a:defPPr>
              <a:defRPr lang="en-US"/>
            </a:defPPr>
            <a:lvl1pPr>
              <a:defRPr sz="3200" b="1">
                <a:solidFill>
                  <a:srgbClr val="7F7F7F"/>
                </a:solidFill>
                <a:ea typeface="+mn-lt"/>
                <a:cs typeface="+mn-lt"/>
              </a:defRPr>
            </a:lvl1pPr>
          </a:lstStyle>
          <a:p>
            <a:r>
              <a:rPr lang="es-AR" sz="2000" i="1" dirty="0"/>
              <a:t>Open/</a:t>
            </a:r>
            <a:r>
              <a:rPr lang="es-AR" sz="2000" i="1" dirty="0" err="1"/>
              <a:t>Closed</a:t>
            </a:r>
            <a:r>
              <a:rPr lang="es-AR" sz="2000" i="1" dirty="0"/>
              <a:t> </a:t>
            </a:r>
            <a:r>
              <a:rPr lang="es-AR" sz="2000" i="1" dirty="0" err="1"/>
              <a:t>Principle</a:t>
            </a:r>
            <a:r>
              <a:rPr lang="es-AR" sz="2000" i="1" dirty="0"/>
              <a:t> (Principio Abierto-Cerrado) </a:t>
            </a:r>
            <a:endParaRPr lang="es-ES" sz="2000" i="1" dirty="0"/>
          </a:p>
        </p:txBody>
      </p:sp>
      <p:sp>
        <p:nvSpPr>
          <p:cNvPr id="6" name="CuadroTexto 5">
            <a:extLst>
              <a:ext uri="{FF2B5EF4-FFF2-40B4-BE49-F238E27FC236}">
                <a16:creationId xmlns:a16="http://schemas.microsoft.com/office/drawing/2014/main" id="{46B92090-1511-EA41-9A70-626ED08529D9}"/>
              </a:ext>
            </a:extLst>
          </p:cNvPr>
          <p:cNvSpPr txBox="1"/>
          <p:nvPr/>
        </p:nvSpPr>
        <p:spPr>
          <a:xfrm>
            <a:off x="1322656" y="3808356"/>
            <a:ext cx="9156405" cy="400110"/>
          </a:xfrm>
          <a:prstGeom prst="rect">
            <a:avLst/>
          </a:prstGeom>
          <a:noFill/>
        </p:spPr>
        <p:txBody>
          <a:bodyPr wrap="square" lIns="91440" tIns="45720" rIns="91440" bIns="45720" rtlCol="0" anchor="t">
            <a:spAutoFit/>
          </a:bodyPr>
          <a:lstStyle>
            <a:defPPr>
              <a:defRPr lang="en-US"/>
            </a:defPPr>
            <a:lvl1pPr>
              <a:defRPr sz="3200" b="1">
                <a:solidFill>
                  <a:srgbClr val="7F7F7F"/>
                </a:solidFill>
                <a:ea typeface="+mn-lt"/>
                <a:cs typeface="+mn-lt"/>
              </a:defRPr>
            </a:lvl1pPr>
          </a:lstStyle>
          <a:p>
            <a:r>
              <a:rPr lang="es-AR" sz="2000" i="1" dirty="0" err="1"/>
              <a:t>Liskov</a:t>
            </a:r>
            <a:r>
              <a:rPr lang="es-AR" sz="2000" i="1" dirty="0"/>
              <a:t> </a:t>
            </a:r>
            <a:r>
              <a:rPr lang="es-AR" sz="2000" i="1" dirty="0" err="1"/>
              <a:t>Substitution</a:t>
            </a:r>
            <a:r>
              <a:rPr lang="es-AR" sz="2000" i="1" dirty="0"/>
              <a:t> </a:t>
            </a:r>
            <a:r>
              <a:rPr lang="es-AR" sz="2000" i="1" dirty="0" err="1"/>
              <a:t>Principle</a:t>
            </a:r>
            <a:r>
              <a:rPr lang="es-AR" sz="2000" i="1" dirty="0"/>
              <a:t> (</a:t>
            </a:r>
            <a:r>
              <a:rPr lang="es-ES" sz="2000" i="1" dirty="0"/>
              <a:t>Principio de sustitución de </a:t>
            </a:r>
            <a:r>
              <a:rPr lang="es-ES" sz="2000" i="1" dirty="0" err="1"/>
              <a:t>Liskov</a:t>
            </a:r>
            <a:r>
              <a:rPr lang="es-ES" sz="2000" i="1" dirty="0"/>
              <a:t>)</a:t>
            </a:r>
            <a:r>
              <a:rPr lang="es-AR" sz="2000" i="1" dirty="0"/>
              <a:t> </a:t>
            </a:r>
            <a:endParaRPr lang="es-ES" sz="2000" i="1" dirty="0"/>
          </a:p>
        </p:txBody>
      </p:sp>
      <p:sp>
        <p:nvSpPr>
          <p:cNvPr id="7" name="CuadroTexto 6">
            <a:extLst>
              <a:ext uri="{FF2B5EF4-FFF2-40B4-BE49-F238E27FC236}">
                <a16:creationId xmlns:a16="http://schemas.microsoft.com/office/drawing/2014/main" id="{D220E1BC-2B46-74C9-8C1B-14F3CCC6C638}"/>
              </a:ext>
            </a:extLst>
          </p:cNvPr>
          <p:cNvSpPr txBox="1"/>
          <p:nvPr/>
        </p:nvSpPr>
        <p:spPr>
          <a:xfrm>
            <a:off x="1322656" y="4482538"/>
            <a:ext cx="9156405" cy="400110"/>
          </a:xfrm>
          <a:prstGeom prst="rect">
            <a:avLst/>
          </a:prstGeom>
          <a:noFill/>
        </p:spPr>
        <p:txBody>
          <a:bodyPr wrap="square" lIns="91440" tIns="45720" rIns="91440" bIns="45720" rtlCol="0" anchor="t">
            <a:spAutoFit/>
          </a:bodyPr>
          <a:lstStyle>
            <a:defPPr>
              <a:defRPr lang="en-US"/>
            </a:defPPr>
            <a:lvl1pPr>
              <a:defRPr sz="3200" b="1">
                <a:solidFill>
                  <a:srgbClr val="7F7F7F"/>
                </a:solidFill>
                <a:ea typeface="+mn-lt"/>
                <a:cs typeface="+mn-lt"/>
              </a:defRPr>
            </a:lvl1pPr>
          </a:lstStyle>
          <a:p>
            <a:r>
              <a:rPr lang="es-AR" sz="2000" i="1" dirty="0"/>
              <a:t>Interface </a:t>
            </a:r>
            <a:r>
              <a:rPr lang="es-AR" sz="2000" i="1" dirty="0" err="1"/>
              <a:t>Segregation</a:t>
            </a:r>
            <a:r>
              <a:rPr lang="es-AR" sz="2000" i="1" dirty="0"/>
              <a:t> </a:t>
            </a:r>
            <a:r>
              <a:rPr lang="es-AR" sz="2000" i="1" dirty="0" err="1"/>
              <a:t>Principle</a:t>
            </a:r>
            <a:r>
              <a:rPr lang="es-AR" sz="2000" i="1" dirty="0"/>
              <a:t> (</a:t>
            </a:r>
            <a:r>
              <a:rPr lang="es-ES" sz="2000" i="1" dirty="0"/>
              <a:t>Principio de segregación de interfaz)</a:t>
            </a:r>
            <a:r>
              <a:rPr lang="es-AR" sz="2000" i="1" dirty="0"/>
              <a:t> </a:t>
            </a:r>
            <a:endParaRPr lang="es-ES" sz="2000" i="1" dirty="0"/>
          </a:p>
        </p:txBody>
      </p:sp>
      <p:sp>
        <p:nvSpPr>
          <p:cNvPr id="8" name="CuadroTexto 7">
            <a:extLst>
              <a:ext uri="{FF2B5EF4-FFF2-40B4-BE49-F238E27FC236}">
                <a16:creationId xmlns:a16="http://schemas.microsoft.com/office/drawing/2014/main" id="{53989BD0-96A2-637D-4CB8-A05C7ED03123}"/>
              </a:ext>
            </a:extLst>
          </p:cNvPr>
          <p:cNvSpPr txBox="1"/>
          <p:nvPr/>
        </p:nvSpPr>
        <p:spPr>
          <a:xfrm>
            <a:off x="1322656" y="5156720"/>
            <a:ext cx="9156405" cy="400110"/>
          </a:xfrm>
          <a:prstGeom prst="rect">
            <a:avLst/>
          </a:prstGeom>
          <a:noFill/>
        </p:spPr>
        <p:txBody>
          <a:bodyPr wrap="square" lIns="91440" tIns="45720" rIns="91440" bIns="45720" rtlCol="0" anchor="t">
            <a:spAutoFit/>
          </a:bodyPr>
          <a:lstStyle>
            <a:defPPr>
              <a:defRPr lang="en-US"/>
            </a:defPPr>
            <a:lvl1pPr>
              <a:defRPr sz="3200" b="1">
                <a:solidFill>
                  <a:srgbClr val="7F7F7F"/>
                </a:solidFill>
                <a:ea typeface="+mn-lt"/>
                <a:cs typeface="+mn-lt"/>
              </a:defRPr>
            </a:lvl1pPr>
          </a:lstStyle>
          <a:p>
            <a:r>
              <a:rPr lang="es-AR" sz="2000" i="1" dirty="0" err="1"/>
              <a:t>Dependency</a:t>
            </a:r>
            <a:r>
              <a:rPr lang="es-AR" sz="2000" i="1" dirty="0"/>
              <a:t> </a:t>
            </a:r>
            <a:r>
              <a:rPr lang="es-AR" sz="2000" i="1" dirty="0" err="1"/>
              <a:t>Inversion</a:t>
            </a:r>
            <a:r>
              <a:rPr lang="es-AR" sz="2000" i="1" dirty="0"/>
              <a:t> </a:t>
            </a:r>
            <a:r>
              <a:rPr lang="es-AR" sz="2000" i="1" dirty="0" err="1"/>
              <a:t>Principle</a:t>
            </a:r>
            <a:r>
              <a:rPr lang="es-AR" sz="2000" i="1" dirty="0"/>
              <a:t> (</a:t>
            </a:r>
            <a:r>
              <a:rPr lang="es-ES" sz="2000" i="1" dirty="0"/>
              <a:t>Principio de inversión de dependencia) </a:t>
            </a:r>
          </a:p>
        </p:txBody>
      </p:sp>
      <p:sp>
        <p:nvSpPr>
          <p:cNvPr id="9" name="CuadroTexto 8">
            <a:extLst>
              <a:ext uri="{FF2B5EF4-FFF2-40B4-BE49-F238E27FC236}">
                <a16:creationId xmlns:a16="http://schemas.microsoft.com/office/drawing/2014/main" id="{513089AB-E38C-F2C0-6179-EA1F8C5F169E}"/>
              </a:ext>
            </a:extLst>
          </p:cNvPr>
          <p:cNvSpPr txBox="1"/>
          <p:nvPr/>
        </p:nvSpPr>
        <p:spPr>
          <a:xfrm>
            <a:off x="1322656" y="5830903"/>
            <a:ext cx="9156405" cy="400110"/>
          </a:xfrm>
          <a:prstGeom prst="rect">
            <a:avLst/>
          </a:prstGeom>
          <a:noFill/>
        </p:spPr>
        <p:txBody>
          <a:bodyPr wrap="square" lIns="91440" tIns="45720" rIns="91440" bIns="45720" rtlCol="0" anchor="t">
            <a:spAutoFit/>
          </a:bodyPr>
          <a:lstStyle>
            <a:defPPr>
              <a:defRPr lang="en-US"/>
            </a:defPPr>
            <a:lvl1pPr>
              <a:defRPr sz="3200" b="1">
                <a:solidFill>
                  <a:srgbClr val="7F7F7F"/>
                </a:solidFill>
                <a:ea typeface="+mn-lt"/>
                <a:cs typeface="+mn-lt"/>
              </a:defRPr>
            </a:lvl1pPr>
          </a:lstStyle>
          <a:p>
            <a:r>
              <a:rPr lang="es-AR" sz="2000" dirty="0"/>
              <a:t>Síntesis</a:t>
            </a:r>
            <a:endParaRPr lang="es-ES" sz="2000" dirty="0"/>
          </a:p>
        </p:txBody>
      </p:sp>
      <p:sp>
        <p:nvSpPr>
          <p:cNvPr id="10" name="Elipse 9">
            <a:extLst>
              <a:ext uri="{FF2B5EF4-FFF2-40B4-BE49-F238E27FC236}">
                <a16:creationId xmlns:a16="http://schemas.microsoft.com/office/drawing/2014/main" id="{5F4D4BF3-085C-7419-C011-6EAD531F88F8}"/>
              </a:ext>
            </a:extLst>
          </p:cNvPr>
          <p:cNvSpPr/>
          <p:nvPr/>
        </p:nvSpPr>
        <p:spPr>
          <a:xfrm>
            <a:off x="863949" y="2687065"/>
            <a:ext cx="130628" cy="13062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1" name="Elipse 10">
            <a:extLst>
              <a:ext uri="{FF2B5EF4-FFF2-40B4-BE49-F238E27FC236}">
                <a16:creationId xmlns:a16="http://schemas.microsoft.com/office/drawing/2014/main" id="{3797BD3D-2F67-C8E3-99A1-C7FF86C4D21B}"/>
              </a:ext>
            </a:extLst>
          </p:cNvPr>
          <p:cNvSpPr/>
          <p:nvPr/>
        </p:nvSpPr>
        <p:spPr>
          <a:xfrm>
            <a:off x="863949" y="3361247"/>
            <a:ext cx="130628" cy="13062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2" name="Elipse 11">
            <a:extLst>
              <a:ext uri="{FF2B5EF4-FFF2-40B4-BE49-F238E27FC236}">
                <a16:creationId xmlns:a16="http://schemas.microsoft.com/office/drawing/2014/main" id="{27AF368A-B2C4-2BB4-CBA8-8DA282DE1062}"/>
              </a:ext>
            </a:extLst>
          </p:cNvPr>
          <p:cNvSpPr/>
          <p:nvPr/>
        </p:nvSpPr>
        <p:spPr>
          <a:xfrm>
            <a:off x="863949" y="4040649"/>
            <a:ext cx="130628" cy="13062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3" name="Elipse 12">
            <a:extLst>
              <a:ext uri="{FF2B5EF4-FFF2-40B4-BE49-F238E27FC236}">
                <a16:creationId xmlns:a16="http://schemas.microsoft.com/office/drawing/2014/main" id="{8AC1AA60-FF73-15CD-D5C2-46BAD83A3E6C}"/>
              </a:ext>
            </a:extLst>
          </p:cNvPr>
          <p:cNvSpPr/>
          <p:nvPr/>
        </p:nvSpPr>
        <p:spPr>
          <a:xfrm>
            <a:off x="857040" y="4714490"/>
            <a:ext cx="130628" cy="13062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4" name="Elipse 13">
            <a:extLst>
              <a:ext uri="{FF2B5EF4-FFF2-40B4-BE49-F238E27FC236}">
                <a16:creationId xmlns:a16="http://schemas.microsoft.com/office/drawing/2014/main" id="{2FFCC1C8-6A42-2326-F2DA-223654CB729E}"/>
              </a:ext>
            </a:extLst>
          </p:cNvPr>
          <p:cNvSpPr/>
          <p:nvPr/>
        </p:nvSpPr>
        <p:spPr>
          <a:xfrm>
            <a:off x="863949" y="5383793"/>
            <a:ext cx="130628" cy="13062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5" name="Elipse 14">
            <a:extLst>
              <a:ext uri="{FF2B5EF4-FFF2-40B4-BE49-F238E27FC236}">
                <a16:creationId xmlns:a16="http://schemas.microsoft.com/office/drawing/2014/main" id="{B69FC346-5F40-C097-C5F7-5700B29BBC6C}"/>
              </a:ext>
            </a:extLst>
          </p:cNvPr>
          <p:cNvSpPr/>
          <p:nvPr/>
        </p:nvSpPr>
        <p:spPr>
          <a:xfrm>
            <a:off x="863949" y="6062854"/>
            <a:ext cx="130628" cy="130628"/>
          </a:xfrm>
          <a:prstGeom prst="ellipse">
            <a:avLst/>
          </a:prstGeom>
          <a:solidFill>
            <a:srgbClr val="A57E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394174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0648473-4FFD-CE1E-214E-D8C7C7EF7807}"/>
              </a:ext>
            </a:extLst>
          </p:cNvPr>
          <p:cNvSpPr txBox="1"/>
          <p:nvPr/>
        </p:nvSpPr>
        <p:spPr>
          <a:xfrm>
            <a:off x="1517797" y="2875002"/>
            <a:ext cx="9156405" cy="1107996"/>
          </a:xfrm>
          <a:prstGeom prst="rect">
            <a:avLst/>
          </a:prstGeom>
          <a:noFill/>
        </p:spPr>
        <p:txBody>
          <a:bodyPr wrap="square" lIns="91440" tIns="45720" rIns="91440" bIns="45720" rtlCol="0" anchor="t">
            <a:spAutoFit/>
          </a:bodyPr>
          <a:lstStyle/>
          <a:p>
            <a:pPr algn="ctr">
              <a:defRPr/>
            </a:pPr>
            <a:r>
              <a:rPr lang="es-AR" sz="6600" b="1" dirty="0">
                <a:solidFill>
                  <a:prstClr val="white"/>
                </a:solidFill>
                <a:ea typeface="+mn-lt"/>
                <a:cs typeface="+mn-lt"/>
              </a:rPr>
              <a:t>Principios SOLID</a:t>
            </a:r>
            <a:endParaRPr lang="es-ES" b="1" dirty="0" err="1">
              <a:solidFill>
                <a:prstClr val="white"/>
              </a:solidFill>
              <a:ea typeface="+mn-ea"/>
              <a:cs typeface="+mn-cs"/>
            </a:endParaRPr>
          </a:p>
        </p:txBody>
      </p:sp>
    </p:spTree>
    <p:extLst>
      <p:ext uri="{BB962C8B-B14F-4D97-AF65-F5344CB8AC3E}">
        <p14:creationId xmlns:p14="http://schemas.microsoft.com/office/powerpoint/2010/main" val="1513959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06AA4A8-B315-E095-9C48-18783B9FAA95}"/>
              </a:ext>
            </a:extLst>
          </p:cNvPr>
          <p:cNvSpPr txBox="1"/>
          <p:nvPr/>
        </p:nvSpPr>
        <p:spPr>
          <a:xfrm>
            <a:off x="498763" y="2064788"/>
            <a:ext cx="8585125"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s-ES" sz="2400" dirty="0">
              <a:ea typeface="+mn-lt"/>
              <a:cs typeface="+mn-lt"/>
            </a:endParaRPr>
          </a:p>
          <a:p>
            <a:pPr marL="342900" indent="-342900" algn="just">
              <a:buClr>
                <a:schemeClr val="accent4"/>
              </a:buClr>
              <a:buSzPct val="130000"/>
              <a:buFont typeface="Arial" panose="020B0604020202020204" pitchFamily="34" charset="0"/>
              <a:buChar char="•"/>
            </a:pPr>
            <a:r>
              <a:rPr lang="es-ES" sz="2400" dirty="0" err="1">
                <a:ea typeface="+mn-lt"/>
                <a:cs typeface="+mn-lt"/>
              </a:rPr>
              <a:t>Indentación</a:t>
            </a:r>
            <a:r>
              <a:rPr lang="es-ES" sz="2400" dirty="0">
                <a:ea typeface="+mn-lt"/>
                <a:cs typeface="+mn-lt"/>
              </a:rPr>
              <a:t>.</a:t>
            </a:r>
          </a:p>
          <a:p>
            <a:pPr marL="342900" indent="-342900" algn="just">
              <a:buClr>
                <a:schemeClr val="accent4"/>
              </a:buClr>
              <a:buSzPct val="130000"/>
              <a:buFont typeface="Arial" panose="020B0604020202020204" pitchFamily="34" charset="0"/>
              <a:buChar char="•"/>
            </a:pPr>
            <a:r>
              <a:rPr lang="es-ES" sz="2400" dirty="0">
                <a:ea typeface="+mn-lt"/>
                <a:cs typeface="+mn-lt"/>
              </a:rPr>
              <a:t>Nombres de variables claros y concisos.</a:t>
            </a:r>
          </a:p>
          <a:p>
            <a:pPr marL="342900" indent="-342900" algn="just">
              <a:buClr>
                <a:schemeClr val="accent4"/>
              </a:buClr>
              <a:buSzPct val="130000"/>
              <a:buFont typeface="Arial" panose="020B0604020202020204" pitchFamily="34" charset="0"/>
              <a:buChar char="•"/>
            </a:pPr>
            <a:r>
              <a:rPr lang="es-ES" sz="2400" dirty="0">
                <a:ea typeface="+mn-lt"/>
                <a:cs typeface="+mn-lt"/>
              </a:rPr>
              <a:t>100% cobertura en las pruebas. </a:t>
            </a:r>
          </a:p>
          <a:p>
            <a:pPr marL="342900" indent="-342900" algn="just">
              <a:buClr>
                <a:schemeClr val="accent4"/>
              </a:buClr>
              <a:buSzPct val="130000"/>
              <a:buFont typeface="Arial" panose="020B0604020202020204" pitchFamily="34" charset="0"/>
              <a:buChar char="•"/>
            </a:pPr>
            <a:r>
              <a:rPr lang="es-ES" sz="2400" dirty="0">
                <a:ea typeface="+mn-lt"/>
                <a:cs typeface="+mn-lt"/>
              </a:rPr>
              <a:t>Código mantenible y reusable.</a:t>
            </a:r>
          </a:p>
          <a:p>
            <a:pPr algn="just"/>
            <a:endParaRPr lang="es-ES" sz="2400" dirty="0">
              <a:ea typeface="+mn-lt"/>
              <a:cs typeface="+mn-lt"/>
            </a:endParaRPr>
          </a:p>
          <a:p>
            <a:pPr algn="just"/>
            <a:r>
              <a:rPr lang="es-ES" sz="2400" dirty="0">
                <a:ea typeface="+mn-lt"/>
                <a:cs typeface="+mn-lt"/>
              </a:rPr>
              <a:t>Cualquier código que no sea mantenible y que no pueda adaptarse a los contextos cambiantes con facilidad, es un código que solo espera volverse obsoleto</a:t>
            </a:r>
            <a:endParaRPr lang="es-ES" sz="2400" dirty="0">
              <a:ea typeface="Calibri"/>
              <a:cs typeface="Calibri"/>
            </a:endParaRPr>
          </a:p>
        </p:txBody>
      </p:sp>
      <p:sp>
        <p:nvSpPr>
          <p:cNvPr id="4" name="CuadroTexto 3">
            <a:extLst>
              <a:ext uri="{FF2B5EF4-FFF2-40B4-BE49-F238E27FC236}">
                <a16:creationId xmlns:a16="http://schemas.microsoft.com/office/drawing/2014/main" id="{89705677-B153-3582-64AC-510F2AA8BFA8}"/>
              </a:ext>
            </a:extLst>
          </p:cNvPr>
          <p:cNvSpPr txBox="1"/>
          <p:nvPr/>
        </p:nvSpPr>
        <p:spPr>
          <a:xfrm>
            <a:off x="498763" y="625826"/>
            <a:ext cx="8130899" cy="707886"/>
          </a:xfrm>
          <a:prstGeom prst="rect">
            <a:avLst/>
          </a:prstGeom>
          <a:noFill/>
        </p:spPr>
        <p:txBody>
          <a:bodyPr wrap="square">
            <a:spAutoFit/>
          </a:bodyPr>
          <a:lstStyle/>
          <a:p>
            <a:r>
              <a:rPr lang="es-ES" sz="4000" b="1" dirty="0">
                <a:solidFill>
                  <a:schemeClr val="bg1"/>
                </a:solidFill>
                <a:ea typeface="+mn-lt"/>
                <a:cs typeface="+mn-lt"/>
              </a:rPr>
              <a:t>Una receta para un código excelente: </a:t>
            </a:r>
          </a:p>
        </p:txBody>
      </p:sp>
    </p:spTree>
    <p:extLst>
      <p:ext uri="{BB962C8B-B14F-4D97-AF65-F5344CB8AC3E}">
        <p14:creationId xmlns:p14="http://schemas.microsoft.com/office/powerpoint/2010/main" val="3812920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624B86F-4249-151D-F319-FB022176CFD4}"/>
              </a:ext>
            </a:extLst>
          </p:cNvPr>
          <p:cNvSpPr txBox="1"/>
          <p:nvPr/>
        </p:nvSpPr>
        <p:spPr>
          <a:xfrm>
            <a:off x="683566" y="1951672"/>
            <a:ext cx="7532180" cy="29546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400" dirty="0">
                <a:ea typeface="+mn-lt"/>
                <a:cs typeface="+mn-lt"/>
              </a:rPr>
              <a:t>Obtener un software OO fácil de </a:t>
            </a:r>
            <a:r>
              <a:rPr lang="es-ES" sz="2400" b="1" dirty="0">
                <a:solidFill>
                  <a:schemeClr val="tx2"/>
                </a:solidFill>
                <a:ea typeface="+mn-lt"/>
                <a:cs typeface="+mn-lt"/>
              </a:rPr>
              <a:t>mantener y extender</a:t>
            </a:r>
            <a:r>
              <a:rPr lang="es-ES" sz="2400" dirty="0">
                <a:solidFill>
                  <a:schemeClr val="tx2"/>
                </a:solidFill>
                <a:ea typeface="+mn-lt"/>
                <a:cs typeface="+mn-lt"/>
              </a:rPr>
              <a:t> </a:t>
            </a:r>
            <a:r>
              <a:rPr lang="es-ES" sz="2400" dirty="0">
                <a:ea typeface="+mn-lt"/>
                <a:cs typeface="+mn-lt"/>
              </a:rPr>
              <a:t>en el tiempo. </a:t>
            </a:r>
            <a:br>
              <a:rPr lang="es-ES" sz="2400" dirty="0">
                <a:ea typeface="+mn-lt"/>
                <a:cs typeface="+mn-lt"/>
              </a:rPr>
            </a:br>
            <a:endParaRPr lang="es-ES" dirty="0">
              <a:ea typeface="+mn-lt"/>
              <a:cs typeface="+mn-lt"/>
            </a:endParaRPr>
          </a:p>
          <a:p>
            <a:pPr marL="342900" indent="-342900">
              <a:buClr>
                <a:schemeClr val="tx2"/>
              </a:buClr>
              <a:buFont typeface="Wingdings" panose="05000000000000000000" pitchFamily="2" charset="2"/>
              <a:buChar char="Ø"/>
            </a:pPr>
            <a:r>
              <a:rPr lang="es-ES" sz="2400" b="1" i="1" dirty="0">
                <a:solidFill>
                  <a:schemeClr val="tx2"/>
                </a:solidFill>
                <a:ea typeface="+mn-lt"/>
                <a:cs typeface="+mn-lt"/>
              </a:rPr>
              <a:t>S</a:t>
            </a:r>
            <a:r>
              <a:rPr lang="es-ES" sz="2400" i="1" dirty="0">
                <a:ea typeface="+mn-lt"/>
                <a:cs typeface="+mn-lt"/>
              </a:rPr>
              <a:t>ingle </a:t>
            </a:r>
            <a:r>
              <a:rPr lang="es-ES" sz="2400" i="1" dirty="0" err="1">
                <a:ea typeface="+mn-lt"/>
                <a:cs typeface="+mn-lt"/>
              </a:rPr>
              <a:t>Responsability</a:t>
            </a:r>
            <a:r>
              <a:rPr lang="es-ES" sz="2400" i="1" dirty="0">
                <a:ea typeface="+mn-lt"/>
                <a:cs typeface="+mn-lt"/>
              </a:rPr>
              <a:t> </a:t>
            </a:r>
            <a:r>
              <a:rPr lang="es-ES" sz="2400" i="1" dirty="0" err="1">
                <a:ea typeface="+mn-lt"/>
                <a:cs typeface="+mn-lt"/>
              </a:rPr>
              <a:t>Principle</a:t>
            </a:r>
            <a:r>
              <a:rPr lang="es-ES" sz="2400" i="1" dirty="0">
                <a:ea typeface="+mn-lt"/>
                <a:cs typeface="+mn-lt"/>
              </a:rPr>
              <a:t> </a:t>
            </a:r>
            <a:endParaRPr lang="es-ES" i="1" dirty="0">
              <a:ea typeface="+mn-lt"/>
              <a:cs typeface="+mn-lt"/>
            </a:endParaRPr>
          </a:p>
          <a:p>
            <a:pPr marL="342900" indent="-342900">
              <a:buClr>
                <a:schemeClr val="tx2"/>
              </a:buClr>
              <a:buFont typeface="Wingdings" panose="05000000000000000000" pitchFamily="2" charset="2"/>
              <a:buChar char="Ø"/>
            </a:pPr>
            <a:r>
              <a:rPr lang="es-ES" sz="2400" b="1" i="1" dirty="0">
                <a:solidFill>
                  <a:schemeClr val="tx2"/>
                </a:solidFill>
                <a:ea typeface="+mn-lt"/>
                <a:cs typeface="+mn-lt"/>
              </a:rPr>
              <a:t>O</a:t>
            </a:r>
            <a:r>
              <a:rPr lang="es-ES" sz="2400" i="1" dirty="0">
                <a:ea typeface="+mn-lt"/>
                <a:cs typeface="+mn-lt"/>
              </a:rPr>
              <a:t>pen/</a:t>
            </a:r>
            <a:r>
              <a:rPr lang="es-ES" sz="2400" i="1" dirty="0" err="1">
                <a:ea typeface="+mn-lt"/>
                <a:cs typeface="+mn-lt"/>
              </a:rPr>
              <a:t>Closed</a:t>
            </a:r>
            <a:r>
              <a:rPr lang="es-ES" sz="2400" i="1" dirty="0">
                <a:ea typeface="+mn-lt"/>
                <a:cs typeface="+mn-lt"/>
              </a:rPr>
              <a:t> </a:t>
            </a:r>
            <a:r>
              <a:rPr lang="es-ES" sz="2400" i="1" dirty="0" err="1">
                <a:ea typeface="+mn-lt"/>
                <a:cs typeface="+mn-lt"/>
              </a:rPr>
              <a:t>Principle</a:t>
            </a:r>
            <a:r>
              <a:rPr lang="es-ES" sz="2400" i="1" dirty="0">
                <a:ea typeface="+mn-lt"/>
                <a:cs typeface="+mn-lt"/>
              </a:rPr>
              <a:t> </a:t>
            </a:r>
            <a:endParaRPr lang="es-ES" i="1" dirty="0">
              <a:ea typeface="+mn-lt"/>
              <a:cs typeface="+mn-lt"/>
            </a:endParaRPr>
          </a:p>
          <a:p>
            <a:pPr marL="342900" indent="-342900">
              <a:buClr>
                <a:schemeClr val="tx2"/>
              </a:buClr>
              <a:buFont typeface="Wingdings" panose="05000000000000000000" pitchFamily="2" charset="2"/>
              <a:buChar char="Ø"/>
            </a:pPr>
            <a:r>
              <a:rPr lang="es-ES" sz="2400" b="1" i="1" dirty="0" err="1">
                <a:solidFill>
                  <a:schemeClr val="tx2"/>
                </a:solidFill>
                <a:ea typeface="+mn-lt"/>
                <a:cs typeface="+mn-lt"/>
              </a:rPr>
              <a:t>L</a:t>
            </a:r>
            <a:r>
              <a:rPr lang="es-ES" sz="2400" i="1" dirty="0" err="1">
                <a:ea typeface="+mn-lt"/>
                <a:cs typeface="+mn-lt"/>
              </a:rPr>
              <a:t>iskov</a:t>
            </a:r>
            <a:r>
              <a:rPr lang="es-ES" sz="2400" i="1" dirty="0">
                <a:ea typeface="+mn-lt"/>
                <a:cs typeface="+mn-lt"/>
              </a:rPr>
              <a:t> </a:t>
            </a:r>
            <a:r>
              <a:rPr lang="es-ES" sz="2400" i="1" dirty="0" err="1">
                <a:ea typeface="+mn-lt"/>
                <a:cs typeface="+mn-lt"/>
              </a:rPr>
              <a:t>Substitution</a:t>
            </a:r>
            <a:r>
              <a:rPr lang="es-ES" sz="2400" i="1" dirty="0">
                <a:ea typeface="+mn-lt"/>
                <a:cs typeface="+mn-lt"/>
              </a:rPr>
              <a:t> </a:t>
            </a:r>
            <a:r>
              <a:rPr lang="es-ES" sz="2400" i="1" dirty="0" err="1">
                <a:ea typeface="+mn-lt"/>
                <a:cs typeface="+mn-lt"/>
              </a:rPr>
              <a:t>Principle</a:t>
            </a:r>
            <a:r>
              <a:rPr lang="es-ES" sz="2400" i="1" dirty="0">
                <a:ea typeface="+mn-lt"/>
                <a:cs typeface="+mn-lt"/>
              </a:rPr>
              <a:t> </a:t>
            </a:r>
            <a:endParaRPr lang="es-ES" i="1" dirty="0">
              <a:ea typeface="+mn-lt"/>
              <a:cs typeface="+mn-lt"/>
            </a:endParaRPr>
          </a:p>
          <a:p>
            <a:pPr marL="342900" indent="-342900">
              <a:buClr>
                <a:schemeClr val="tx2"/>
              </a:buClr>
              <a:buFont typeface="Wingdings" panose="05000000000000000000" pitchFamily="2" charset="2"/>
              <a:buChar char="Ø"/>
            </a:pPr>
            <a:r>
              <a:rPr lang="es-ES" sz="2400" b="1" i="1" dirty="0">
                <a:solidFill>
                  <a:schemeClr val="tx2"/>
                </a:solidFill>
                <a:ea typeface="+mn-lt"/>
                <a:cs typeface="+mn-lt"/>
              </a:rPr>
              <a:t>I</a:t>
            </a:r>
            <a:r>
              <a:rPr lang="es-ES" sz="2400" i="1" dirty="0">
                <a:ea typeface="+mn-lt"/>
                <a:cs typeface="+mn-lt"/>
              </a:rPr>
              <a:t>nterface </a:t>
            </a:r>
            <a:r>
              <a:rPr lang="es-ES" sz="2400" i="1" dirty="0" err="1">
                <a:ea typeface="+mn-lt"/>
                <a:cs typeface="+mn-lt"/>
              </a:rPr>
              <a:t>Segregation</a:t>
            </a:r>
            <a:r>
              <a:rPr lang="es-ES" sz="2400" i="1" dirty="0">
                <a:ea typeface="+mn-lt"/>
                <a:cs typeface="+mn-lt"/>
              </a:rPr>
              <a:t> </a:t>
            </a:r>
            <a:r>
              <a:rPr lang="es-ES" sz="2400" i="1" dirty="0" err="1">
                <a:ea typeface="+mn-lt"/>
                <a:cs typeface="+mn-lt"/>
              </a:rPr>
              <a:t>Principle</a:t>
            </a:r>
            <a:r>
              <a:rPr lang="es-ES" sz="2400" i="1" dirty="0">
                <a:ea typeface="+mn-lt"/>
                <a:cs typeface="+mn-lt"/>
              </a:rPr>
              <a:t> </a:t>
            </a:r>
            <a:endParaRPr lang="es-ES" i="1" dirty="0">
              <a:ea typeface="+mn-lt"/>
              <a:cs typeface="+mn-lt"/>
            </a:endParaRPr>
          </a:p>
          <a:p>
            <a:pPr marL="342900" indent="-342900">
              <a:buClr>
                <a:schemeClr val="tx2"/>
              </a:buClr>
              <a:buFont typeface="Wingdings" panose="05000000000000000000" pitchFamily="2" charset="2"/>
              <a:buChar char="Ø"/>
            </a:pPr>
            <a:r>
              <a:rPr lang="es-ES" sz="2400" b="1" i="1" dirty="0" err="1">
                <a:solidFill>
                  <a:schemeClr val="tx2"/>
                </a:solidFill>
                <a:ea typeface="+mn-lt"/>
                <a:cs typeface="+mn-lt"/>
              </a:rPr>
              <a:t>D</a:t>
            </a:r>
            <a:r>
              <a:rPr lang="es-ES" sz="2400" i="1" dirty="0" err="1">
                <a:ea typeface="+mn-lt"/>
                <a:cs typeface="+mn-lt"/>
              </a:rPr>
              <a:t>ependency</a:t>
            </a:r>
            <a:r>
              <a:rPr lang="es-ES" sz="2400" i="1" dirty="0">
                <a:ea typeface="+mn-lt"/>
                <a:cs typeface="+mn-lt"/>
              </a:rPr>
              <a:t> </a:t>
            </a:r>
            <a:r>
              <a:rPr lang="es-ES" sz="2400" i="1" dirty="0" err="1">
                <a:ea typeface="+mn-lt"/>
                <a:cs typeface="+mn-lt"/>
              </a:rPr>
              <a:t>Inversion</a:t>
            </a:r>
            <a:r>
              <a:rPr lang="es-ES" sz="2400" i="1" dirty="0">
                <a:ea typeface="+mn-lt"/>
                <a:cs typeface="+mn-lt"/>
              </a:rPr>
              <a:t> </a:t>
            </a:r>
            <a:r>
              <a:rPr lang="es-ES" sz="2400" i="1" dirty="0" err="1">
                <a:ea typeface="+mn-lt"/>
                <a:cs typeface="+mn-lt"/>
              </a:rPr>
              <a:t>Principle</a:t>
            </a:r>
            <a:r>
              <a:rPr lang="es-ES" sz="2400" i="1" dirty="0">
                <a:ea typeface="+mn-lt"/>
                <a:cs typeface="+mn-lt"/>
              </a:rPr>
              <a:t> </a:t>
            </a:r>
            <a:endParaRPr lang="es-ES" i="1" dirty="0">
              <a:ea typeface="Calibri"/>
              <a:cs typeface="Calibri"/>
            </a:endParaRPr>
          </a:p>
        </p:txBody>
      </p:sp>
      <p:sp>
        <p:nvSpPr>
          <p:cNvPr id="2" name="CuadroTexto 1">
            <a:extLst>
              <a:ext uri="{FF2B5EF4-FFF2-40B4-BE49-F238E27FC236}">
                <a16:creationId xmlns:a16="http://schemas.microsoft.com/office/drawing/2014/main" id="{5B457BF2-89E3-8960-75F6-83C0D402AB1D}"/>
              </a:ext>
            </a:extLst>
          </p:cNvPr>
          <p:cNvSpPr txBox="1"/>
          <p:nvPr/>
        </p:nvSpPr>
        <p:spPr>
          <a:xfrm>
            <a:off x="489601" y="602855"/>
            <a:ext cx="9156405" cy="707886"/>
          </a:xfrm>
          <a:prstGeom prst="rect">
            <a:avLst/>
          </a:prstGeom>
          <a:noFill/>
        </p:spPr>
        <p:txBody>
          <a:bodyPr wrap="square" lIns="91440" tIns="45720" rIns="91440" bIns="45720" rtlCol="0" anchor="t">
            <a:spAutoFit/>
          </a:bodyPr>
          <a:lstStyle/>
          <a:p>
            <a:pPr>
              <a:defRPr/>
            </a:pPr>
            <a:r>
              <a:rPr lang="es-AR" sz="4000" b="1" dirty="0">
                <a:solidFill>
                  <a:prstClr val="white"/>
                </a:solidFill>
                <a:ea typeface="+mn-lt"/>
                <a:cs typeface="+mn-lt"/>
              </a:rPr>
              <a:t>Principios SOLID</a:t>
            </a:r>
            <a:endParaRPr lang="es-ES" sz="1050" b="1" dirty="0" err="1">
              <a:solidFill>
                <a:prstClr val="white"/>
              </a:solidFill>
              <a:ea typeface="+mn-ea"/>
              <a:cs typeface="+mn-cs"/>
            </a:endParaRPr>
          </a:p>
        </p:txBody>
      </p:sp>
      <p:pic>
        <p:nvPicPr>
          <p:cNvPr id="5" name="Imagen 4">
            <a:extLst>
              <a:ext uri="{FF2B5EF4-FFF2-40B4-BE49-F238E27FC236}">
                <a16:creationId xmlns:a16="http://schemas.microsoft.com/office/drawing/2014/main" id="{2EA320D6-E086-384E-1D73-C00860F3A6B3}"/>
              </a:ext>
            </a:extLst>
          </p:cNvPr>
          <p:cNvPicPr>
            <a:picLocks noChangeAspect="1"/>
          </p:cNvPicPr>
          <p:nvPr/>
        </p:nvPicPr>
        <p:blipFill>
          <a:blip r:embed="rId2"/>
          <a:stretch>
            <a:fillRect/>
          </a:stretch>
        </p:blipFill>
        <p:spPr>
          <a:xfrm>
            <a:off x="5169310" y="2874376"/>
            <a:ext cx="3848433" cy="2217612"/>
          </a:xfrm>
          <a:prstGeom prst="rect">
            <a:avLst/>
          </a:prstGeom>
        </p:spPr>
      </p:pic>
      <p:sp>
        <p:nvSpPr>
          <p:cNvPr id="4" name="CuadroTexto 3">
            <a:extLst>
              <a:ext uri="{FF2B5EF4-FFF2-40B4-BE49-F238E27FC236}">
                <a16:creationId xmlns:a16="http://schemas.microsoft.com/office/drawing/2014/main" id="{D07C02F6-08ED-D980-8A58-44BD205619C2}"/>
              </a:ext>
            </a:extLst>
          </p:cNvPr>
          <p:cNvSpPr txBox="1"/>
          <p:nvPr/>
        </p:nvSpPr>
        <p:spPr>
          <a:xfrm>
            <a:off x="822961" y="5269633"/>
            <a:ext cx="7965440" cy="1200329"/>
          </a:xfrm>
          <a:prstGeom prst="rect">
            <a:avLst/>
          </a:prstGeom>
          <a:solidFill>
            <a:schemeClr val="bg1">
              <a:lumMod val="85000"/>
            </a:schemeClr>
          </a:solidFill>
        </p:spPr>
        <p:txBody>
          <a:bodyPr wrap="square" rtlCol="0">
            <a:spAutoFit/>
          </a:bodyPr>
          <a:lstStyle/>
          <a:p>
            <a:r>
              <a:rPr lang="es-ES" dirty="0"/>
              <a:t>Los principios SOLID fueron introducidos por primera vez por el famoso científico informático Robert J. Martin (también conocido como el tío Bob) en uno de sus artículos en 2000. Pero el acrónimo SOLID fue introducido más tarde por Michael </a:t>
            </a:r>
            <a:r>
              <a:rPr lang="es-ES" dirty="0" err="1"/>
              <a:t>Feathers</a:t>
            </a:r>
            <a:r>
              <a:rPr lang="es-ES" dirty="0"/>
              <a:t>.</a:t>
            </a:r>
            <a:endParaRPr lang="es-AR" dirty="0"/>
          </a:p>
        </p:txBody>
      </p:sp>
    </p:spTree>
    <p:extLst>
      <p:ext uri="{BB962C8B-B14F-4D97-AF65-F5344CB8AC3E}">
        <p14:creationId xmlns:p14="http://schemas.microsoft.com/office/powerpoint/2010/main" val="850022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ABF6A-8A54-8BB8-446F-AFB59EB4705A}"/>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4D514D60-0510-59C7-F8E5-F89A2C21AEF4}"/>
              </a:ext>
            </a:extLst>
          </p:cNvPr>
          <p:cNvSpPr txBox="1"/>
          <p:nvPr/>
        </p:nvSpPr>
        <p:spPr>
          <a:xfrm>
            <a:off x="132080" y="2367171"/>
            <a:ext cx="11775439" cy="2123658"/>
          </a:xfrm>
          <a:prstGeom prst="rect">
            <a:avLst/>
          </a:prstGeom>
          <a:noFill/>
        </p:spPr>
        <p:txBody>
          <a:bodyPr wrap="square" lIns="91440" tIns="45720" rIns="91440" bIns="45720" rtlCol="0" anchor="t">
            <a:spAutoFit/>
          </a:bodyPr>
          <a:lstStyle/>
          <a:p>
            <a:pPr algn="ctr">
              <a:defRPr/>
            </a:pPr>
            <a:r>
              <a:rPr lang="es-AR" sz="6600" b="1" i="1" dirty="0">
                <a:solidFill>
                  <a:prstClr val="white"/>
                </a:solidFill>
                <a:ea typeface="+mn-lt"/>
                <a:cs typeface="+mn-lt"/>
              </a:rPr>
              <a:t>Single </a:t>
            </a:r>
            <a:r>
              <a:rPr lang="es-AR" sz="6600" b="1" i="1" dirty="0" err="1">
                <a:solidFill>
                  <a:prstClr val="white"/>
                </a:solidFill>
                <a:ea typeface="+mn-lt"/>
                <a:cs typeface="+mn-lt"/>
              </a:rPr>
              <a:t>Responsability</a:t>
            </a:r>
            <a:endParaRPr lang="es-ES" b="1" i="1" dirty="0">
              <a:solidFill>
                <a:prstClr val="white"/>
              </a:solidFill>
            </a:endParaRPr>
          </a:p>
          <a:p>
            <a:pPr algn="ctr">
              <a:defRPr/>
            </a:pPr>
            <a:r>
              <a:rPr lang="es-AR" sz="6600" b="1" i="1" dirty="0" err="1">
                <a:solidFill>
                  <a:prstClr val="white"/>
                </a:solidFill>
                <a:ea typeface="+mn-lt"/>
                <a:cs typeface="+mn-lt"/>
              </a:rPr>
              <a:t>Principle</a:t>
            </a:r>
            <a:r>
              <a:rPr lang="es-AR" sz="6600" b="1" i="1" dirty="0">
                <a:solidFill>
                  <a:prstClr val="white"/>
                </a:solidFill>
                <a:ea typeface="+mn-lt"/>
                <a:cs typeface="+mn-lt"/>
              </a:rPr>
              <a:t> </a:t>
            </a:r>
            <a:r>
              <a:rPr lang="es-AR" sz="6600" i="1" dirty="0"/>
              <a:t> </a:t>
            </a:r>
            <a:r>
              <a:rPr lang="es-AR" sz="3200" i="1" dirty="0">
                <a:solidFill>
                  <a:schemeClr val="bg1"/>
                </a:solidFill>
              </a:rPr>
              <a:t>Principio de responsabilidad única</a:t>
            </a:r>
            <a:endParaRPr lang="es-AR" sz="3200" b="1" i="1" dirty="0">
              <a:solidFill>
                <a:schemeClr val="bg1"/>
              </a:solidFill>
              <a:ea typeface="Calibri"/>
              <a:cs typeface="Calibri"/>
            </a:endParaRPr>
          </a:p>
        </p:txBody>
      </p:sp>
    </p:spTree>
    <p:extLst>
      <p:ext uri="{BB962C8B-B14F-4D97-AF65-F5344CB8AC3E}">
        <p14:creationId xmlns:p14="http://schemas.microsoft.com/office/powerpoint/2010/main" val="3535780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99618F39-AD6F-A24F-9830-00AD488DB81F}"/>
              </a:ext>
            </a:extLst>
          </p:cNvPr>
          <p:cNvSpPr txBox="1"/>
          <p:nvPr/>
        </p:nvSpPr>
        <p:spPr>
          <a:xfrm>
            <a:off x="533400" y="618142"/>
            <a:ext cx="880508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4000" b="1" i="1" dirty="0">
                <a:solidFill>
                  <a:schemeClr val="bg1"/>
                </a:solidFill>
                <a:ea typeface="+mn-lt"/>
                <a:cs typeface="+mn-lt"/>
              </a:rPr>
              <a:t>Single </a:t>
            </a:r>
            <a:r>
              <a:rPr lang="es-ES" sz="4000" b="1" i="1" dirty="0" err="1">
                <a:solidFill>
                  <a:schemeClr val="bg1"/>
                </a:solidFill>
                <a:ea typeface="+mn-lt"/>
                <a:cs typeface="+mn-lt"/>
              </a:rPr>
              <a:t>Responsability</a:t>
            </a:r>
            <a:r>
              <a:rPr lang="es-ES" sz="4000" b="1" i="1" dirty="0">
                <a:solidFill>
                  <a:schemeClr val="bg1"/>
                </a:solidFill>
                <a:ea typeface="+mn-lt"/>
                <a:cs typeface="+mn-lt"/>
              </a:rPr>
              <a:t> </a:t>
            </a:r>
            <a:r>
              <a:rPr lang="es-ES" sz="4000" b="1" i="1" dirty="0" err="1">
                <a:solidFill>
                  <a:schemeClr val="bg1"/>
                </a:solidFill>
                <a:ea typeface="+mn-lt"/>
                <a:cs typeface="+mn-lt"/>
              </a:rPr>
              <a:t>Principle</a:t>
            </a:r>
            <a:r>
              <a:rPr lang="es-ES" sz="4000" b="1" i="1" dirty="0">
                <a:solidFill>
                  <a:schemeClr val="bg1"/>
                </a:solidFill>
                <a:ea typeface="+mn-lt"/>
                <a:cs typeface="+mn-lt"/>
              </a:rPr>
              <a:t> </a:t>
            </a:r>
            <a:endParaRPr lang="es-ES" sz="3200" b="1" i="1" dirty="0">
              <a:solidFill>
                <a:schemeClr val="bg1"/>
              </a:solidFill>
              <a:ea typeface="+mn-lt"/>
              <a:cs typeface="+mn-lt"/>
            </a:endParaRPr>
          </a:p>
        </p:txBody>
      </p:sp>
      <p:pic>
        <p:nvPicPr>
          <p:cNvPr id="4" name="Imagen 3">
            <a:extLst>
              <a:ext uri="{FF2B5EF4-FFF2-40B4-BE49-F238E27FC236}">
                <a16:creationId xmlns:a16="http://schemas.microsoft.com/office/drawing/2014/main" id="{CED1E6B5-4C29-EE78-4B78-09DBC8BFE5AE}"/>
              </a:ext>
            </a:extLst>
          </p:cNvPr>
          <p:cNvPicPr>
            <a:picLocks noChangeAspect="1"/>
          </p:cNvPicPr>
          <p:nvPr/>
        </p:nvPicPr>
        <p:blipFill>
          <a:blip r:embed="rId2"/>
          <a:stretch>
            <a:fillRect/>
          </a:stretch>
        </p:blipFill>
        <p:spPr>
          <a:xfrm>
            <a:off x="2052992" y="1702540"/>
            <a:ext cx="5765895" cy="473705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CuadroTexto 1">
            <a:extLst>
              <a:ext uri="{FF2B5EF4-FFF2-40B4-BE49-F238E27FC236}">
                <a16:creationId xmlns:a16="http://schemas.microsoft.com/office/drawing/2014/main" id="{B01DFBAA-7AA5-26A2-0C1A-45EE9EC1808C}"/>
              </a:ext>
            </a:extLst>
          </p:cNvPr>
          <p:cNvSpPr txBox="1"/>
          <p:nvPr/>
        </p:nvSpPr>
        <p:spPr>
          <a:xfrm>
            <a:off x="7975600" y="3139440"/>
            <a:ext cx="1676400" cy="1200329"/>
          </a:xfrm>
          <a:prstGeom prst="rect">
            <a:avLst/>
          </a:prstGeom>
          <a:solidFill>
            <a:schemeClr val="bg1">
              <a:lumMod val="85000"/>
            </a:schemeClr>
          </a:solidFill>
        </p:spPr>
        <p:txBody>
          <a:bodyPr wrap="square" rtlCol="0">
            <a:spAutoFit/>
          </a:bodyPr>
          <a:lstStyle/>
          <a:p>
            <a:r>
              <a:rPr lang="es-ES"/>
              <a:t>Solo porque puedes, no significa que debas hacerlo</a:t>
            </a:r>
            <a:endParaRPr lang="es-AR" dirty="0"/>
          </a:p>
        </p:txBody>
      </p:sp>
    </p:spTree>
    <p:extLst>
      <p:ext uri="{BB962C8B-B14F-4D97-AF65-F5344CB8AC3E}">
        <p14:creationId xmlns:p14="http://schemas.microsoft.com/office/powerpoint/2010/main" val="2783067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649C865-906C-F1B5-3D08-5D9863144025}"/>
              </a:ext>
            </a:extLst>
          </p:cNvPr>
          <p:cNvSpPr txBox="1"/>
          <p:nvPr/>
        </p:nvSpPr>
        <p:spPr>
          <a:xfrm>
            <a:off x="533400" y="1704570"/>
            <a:ext cx="8141780"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Clr>
                <a:schemeClr val="accent2"/>
              </a:buClr>
              <a:buSzPct val="130000"/>
              <a:buFont typeface="Arial" panose="020B0604020202020204" pitchFamily="34" charset="0"/>
              <a:buChar char="•"/>
            </a:pPr>
            <a:endParaRPr lang="es-ES" sz="2400" dirty="0">
              <a:ea typeface="+mn-lt"/>
              <a:cs typeface="+mn-lt"/>
            </a:endParaRPr>
          </a:p>
          <a:p>
            <a:pPr marL="342900" indent="-342900" algn="just">
              <a:buClr>
                <a:schemeClr val="accent2"/>
              </a:buClr>
              <a:buSzPct val="130000"/>
              <a:buFont typeface="Arial" panose="020B0604020202020204" pitchFamily="34" charset="0"/>
              <a:buChar char="•"/>
            </a:pPr>
            <a:r>
              <a:rPr lang="es-ES" sz="2400" dirty="0">
                <a:ea typeface="+mn-lt"/>
                <a:cs typeface="+mn-lt"/>
              </a:rPr>
              <a:t>Una clase debe tener solo una razón para cambiar </a:t>
            </a:r>
            <a:r>
              <a:rPr lang="es-ES" sz="2400" b="1" dirty="0">
                <a:solidFill>
                  <a:schemeClr val="accent2"/>
                </a:solidFill>
                <a:ea typeface="+mn-lt"/>
                <a:cs typeface="+mn-lt"/>
              </a:rPr>
              <a:t>(responsabilidad)</a:t>
            </a:r>
            <a:r>
              <a:rPr lang="es-ES" sz="2400" dirty="0">
                <a:solidFill>
                  <a:schemeClr val="accent2"/>
                </a:solidFill>
                <a:ea typeface="+mn-lt"/>
                <a:cs typeface="+mn-lt"/>
              </a:rPr>
              <a:t>. </a:t>
            </a:r>
            <a:endParaRPr lang="es-ES" dirty="0">
              <a:solidFill>
                <a:schemeClr val="accent2"/>
              </a:solidFill>
              <a:ea typeface="+mn-lt"/>
              <a:cs typeface="+mn-lt"/>
            </a:endParaRPr>
          </a:p>
          <a:p>
            <a:pPr marL="342900" indent="-342900" algn="just">
              <a:buClr>
                <a:schemeClr val="accent2"/>
              </a:buClr>
              <a:buSzPct val="130000"/>
              <a:buFont typeface="Arial" panose="020B0604020202020204" pitchFamily="34" charset="0"/>
              <a:buChar char="•"/>
            </a:pPr>
            <a:r>
              <a:rPr lang="es-ES" sz="2400" dirty="0">
                <a:ea typeface="+mn-lt"/>
                <a:cs typeface="+mn-lt"/>
              </a:rPr>
              <a:t>Una responsabilidad tiene que ver con: </a:t>
            </a:r>
            <a:endParaRPr lang="es-ES" dirty="0">
              <a:ea typeface="+mn-lt"/>
              <a:cs typeface="+mn-lt"/>
            </a:endParaRPr>
          </a:p>
          <a:p>
            <a:pPr marL="800100" lvl="1" indent="-342900" algn="just">
              <a:buClr>
                <a:schemeClr val="accent2"/>
              </a:buClr>
              <a:buSzPct val="130000"/>
              <a:buFont typeface="Arial" panose="020B0604020202020204" pitchFamily="34" charset="0"/>
              <a:buChar char="•"/>
            </a:pPr>
            <a:r>
              <a:rPr lang="es-ES" sz="2400" dirty="0">
                <a:ea typeface="+mn-lt"/>
                <a:cs typeface="+mn-lt"/>
              </a:rPr>
              <a:t>¿Qué hace? </a:t>
            </a:r>
            <a:endParaRPr lang="es-ES" dirty="0">
              <a:ea typeface="+mn-lt"/>
              <a:cs typeface="+mn-lt"/>
            </a:endParaRPr>
          </a:p>
          <a:p>
            <a:pPr marL="800100" lvl="1" indent="-342900" algn="just">
              <a:buClr>
                <a:schemeClr val="accent2"/>
              </a:buClr>
              <a:buSzPct val="130000"/>
              <a:buFont typeface="Arial" panose="020B0604020202020204" pitchFamily="34" charset="0"/>
              <a:buChar char="•"/>
            </a:pPr>
            <a:r>
              <a:rPr lang="es-ES" sz="2400" dirty="0">
                <a:ea typeface="+mn-lt"/>
                <a:cs typeface="+mn-lt"/>
              </a:rPr>
              <a:t>¿A quién conoce? </a:t>
            </a:r>
            <a:endParaRPr lang="es-ES" dirty="0">
              <a:ea typeface="+mn-lt"/>
              <a:cs typeface="+mn-lt"/>
            </a:endParaRPr>
          </a:p>
          <a:p>
            <a:pPr marL="342900" indent="-342900" algn="just">
              <a:buClr>
                <a:schemeClr val="accent2"/>
              </a:buClr>
              <a:buSzPct val="130000"/>
              <a:buFont typeface="Arial" panose="020B0604020202020204" pitchFamily="34" charset="0"/>
              <a:buChar char="•"/>
            </a:pPr>
            <a:r>
              <a:rPr lang="es-ES" sz="2400" dirty="0">
                <a:ea typeface="+mn-lt"/>
                <a:cs typeface="+mn-lt"/>
              </a:rPr>
              <a:t>Se centra en mantener alta la </a:t>
            </a:r>
            <a:r>
              <a:rPr lang="es-ES" sz="2400" b="1" dirty="0">
                <a:solidFill>
                  <a:schemeClr val="accent2"/>
                </a:solidFill>
                <a:ea typeface="+mn-lt"/>
                <a:cs typeface="+mn-lt"/>
              </a:rPr>
              <a:t>cohesión</a:t>
            </a:r>
            <a:r>
              <a:rPr lang="es-ES" sz="2400" b="1" dirty="0">
                <a:ea typeface="+mn-lt"/>
                <a:cs typeface="+mn-lt"/>
              </a:rPr>
              <a:t>. </a:t>
            </a:r>
            <a:endParaRPr lang="es-ES" b="1" dirty="0">
              <a:ea typeface="+mn-lt"/>
              <a:cs typeface="+mn-lt"/>
            </a:endParaRPr>
          </a:p>
          <a:p>
            <a:pPr marL="342900" indent="-342900" algn="just">
              <a:buClr>
                <a:schemeClr val="accent2"/>
              </a:buClr>
              <a:buSzPct val="130000"/>
              <a:buFont typeface="Arial" panose="020B0604020202020204" pitchFamily="34" charset="0"/>
              <a:buChar char="•"/>
            </a:pPr>
            <a:r>
              <a:rPr lang="es-ES" sz="2400" dirty="0">
                <a:ea typeface="+mn-lt"/>
                <a:cs typeface="+mn-lt"/>
              </a:rPr>
              <a:t>Cada clase debe tener responsabilidad sobre una sola parte de la funcionalidad proporcionada por el software, y esa responsabilidad debe estar completamente encapsulada por la clase. </a:t>
            </a:r>
            <a:endParaRPr lang="es-ES" dirty="0">
              <a:ea typeface="+mn-lt"/>
              <a:cs typeface="+mn-lt"/>
            </a:endParaRPr>
          </a:p>
        </p:txBody>
      </p:sp>
      <p:sp>
        <p:nvSpPr>
          <p:cNvPr id="2" name="CuadroTexto 1">
            <a:extLst>
              <a:ext uri="{FF2B5EF4-FFF2-40B4-BE49-F238E27FC236}">
                <a16:creationId xmlns:a16="http://schemas.microsoft.com/office/drawing/2014/main" id="{2963957C-E616-DA76-D81E-0AC3AB2F5E56}"/>
              </a:ext>
            </a:extLst>
          </p:cNvPr>
          <p:cNvSpPr txBox="1"/>
          <p:nvPr/>
        </p:nvSpPr>
        <p:spPr>
          <a:xfrm>
            <a:off x="533400" y="618142"/>
            <a:ext cx="880508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4000" b="1" i="1" dirty="0">
                <a:solidFill>
                  <a:schemeClr val="bg1"/>
                </a:solidFill>
                <a:ea typeface="+mn-lt"/>
                <a:cs typeface="+mn-lt"/>
              </a:rPr>
              <a:t>Single </a:t>
            </a:r>
            <a:r>
              <a:rPr lang="es-ES" sz="4000" b="1" i="1" dirty="0" err="1">
                <a:solidFill>
                  <a:schemeClr val="bg1"/>
                </a:solidFill>
                <a:ea typeface="+mn-lt"/>
                <a:cs typeface="+mn-lt"/>
              </a:rPr>
              <a:t>Responsability</a:t>
            </a:r>
            <a:r>
              <a:rPr lang="es-ES" sz="4000" b="1" i="1" dirty="0">
                <a:solidFill>
                  <a:schemeClr val="bg1"/>
                </a:solidFill>
                <a:ea typeface="+mn-lt"/>
                <a:cs typeface="+mn-lt"/>
              </a:rPr>
              <a:t> </a:t>
            </a:r>
            <a:r>
              <a:rPr lang="es-ES" sz="4000" b="1" i="1" dirty="0" err="1">
                <a:solidFill>
                  <a:schemeClr val="bg1"/>
                </a:solidFill>
                <a:ea typeface="+mn-lt"/>
                <a:cs typeface="+mn-lt"/>
              </a:rPr>
              <a:t>Principle</a:t>
            </a:r>
            <a:r>
              <a:rPr lang="es-ES" sz="4000" b="1" i="1" dirty="0">
                <a:solidFill>
                  <a:schemeClr val="bg1"/>
                </a:solidFill>
                <a:ea typeface="+mn-lt"/>
                <a:cs typeface="+mn-lt"/>
              </a:rPr>
              <a:t> </a:t>
            </a:r>
            <a:endParaRPr lang="es-ES" sz="3200" b="1" i="1" dirty="0">
              <a:solidFill>
                <a:schemeClr val="bg1"/>
              </a:solidFill>
              <a:ea typeface="+mn-lt"/>
              <a:cs typeface="+mn-lt"/>
            </a:endParaRPr>
          </a:p>
        </p:txBody>
      </p:sp>
    </p:spTree>
    <p:extLst>
      <p:ext uri="{BB962C8B-B14F-4D97-AF65-F5344CB8AC3E}">
        <p14:creationId xmlns:p14="http://schemas.microsoft.com/office/powerpoint/2010/main" val="4036460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nterfaz de usuario gráfica, Aplicación&#10;&#10;El contenido generado por IA puede ser incorrecto.">
            <a:extLst>
              <a:ext uri="{FF2B5EF4-FFF2-40B4-BE49-F238E27FC236}">
                <a16:creationId xmlns:a16="http://schemas.microsoft.com/office/drawing/2014/main" id="{239C51F6-D1B6-1161-63C9-9DAB244D143C}"/>
              </a:ext>
            </a:extLst>
          </p:cNvPr>
          <p:cNvPicPr>
            <a:picLocks noChangeAspect="1"/>
          </p:cNvPicPr>
          <p:nvPr/>
        </p:nvPicPr>
        <p:blipFill>
          <a:blip r:embed="rId2"/>
          <a:stretch>
            <a:fillRect/>
          </a:stretch>
        </p:blipFill>
        <p:spPr>
          <a:xfrm>
            <a:off x="359462" y="2643865"/>
            <a:ext cx="8704382" cy="2482316"/>
          </a:xfrm>
          <a:prstGeom prst="rect">
            <a:avLst/>
          </a:prstGeom>
        </p:spPr>
      </p:pic>
      <p:sp>
        <p:nvSpPr>
          <p:cNvPr id="2" name="CuadroTexto 1">
            <a:extLst>
              <a:ext uri="{FF2B5EF4-FFF2-40B4-BE49-F238E27FC236}">
                <a16:creationId xmlns:a16="http://schemas.microsoft.com/office/drawing/2014/main" id="{37437399-BD30-2146-923C-59F73291BBF6}"/>
              </a:ext>
            </a:extLst>
          </p:cNvPr>
          <p:cNvSpPr txBox="1"/>
          <p:nvPr/>
        </p:nvSpPr>
        <p:spPr>
          <a:xfrm>
            <a:off x="359462" y="307154"/>
            <a:ext cx="880508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4000" b="1" dirty="0">
                <a:solidFill>
                  <a:schemeClr val="bg1"/>
                </a:solidFill>
                <a:ea typeface="+mn-lt"/>
                <a:cs typeface="+mn-lt"/>
              </a:rPr>
              <a:t>Ejemplo de </a:t>
            </a:r>
            <a:r>
              <a:rPr lang="es-ES" sz="4000" b="1" i="1" dirty="0">
                <a:solidFill>
                  <a:schemeClr val="bg1"/>
                </a:solidFill>
                <a:ea typeface="+mn-lt"/>
                <a:cs typeface="+mn-lt"/>
              </a:rPr>
              <a:t>Single </a:t>
            </a:r>
            <a:r>
              <a:rPr lang="es-ES" sz="4000" b="1" i="1" dirty="0" err="1">
                <a:solidFill>
                  <a:schemeClr val="bg1"/>
                </a:solidFill>
                <a:ea typeface="+mn-lt"/>
                <a:cs typeface="+mn-lt"/>
              </a:rPr>
              <a:t>Responsability</a:t>
            </a:r>
            <a:r>
              <a:rPr lang="es-ES" sz="4000" b="1" i="1" dirty="0">
                <a:solidFill>
                  <a:schemeClr val="bg1"/>
                </a:solidFill>
                <a:ea typeface="+mn-lt"/>
                <a:cs typeface="+mn-lt"/>
              </a:rPr>
              <a:t> </a:t>
            </a:r>
            <a:r>
              <a:rPr lang="es-ES" sz="4000" b="1" i="1" dirty="0" err="1">
                <a:solidFill>
                  <a:schemeClr val="bg1"/>
                </a:solidFill>
                <a:ea typeface="+mn-lt"/>
                <a:cs typeface="+mn-lt"/>
              </a:rPr>
              <a:t>Principle</a:t>
            </a:r>
            <a:r>
              <a:rPr lang="es-ES" sz="4000" b="1" i="1" dirty="0">
                <a:solidFill>
                  <a:schemeClr val="bg1"/>
                </a:solidFill>
                <a:ea typeface="+mn-lt"/>
                <a:cs typeface="+mn-lt"/>
              </a:rPr>
              <a:t> </a:t>
            </a:r>
            <a:endParaRPr lang="es-ES" sz="3200" b="1" i="1" dirty="0">
              <a:solidFill>
                <a:schemeClr val="bg1"/>
              </a:solidFill>
              <a:ea typeface="+mn-lt"/>
              <a:cs typeface="+mn-lt"/>
            </a:endParaRPr>
          </a:p>
        </p:txBody>
      </p:sp>
    </p:spTree>
    <p:extLst>
      <p:ext uri="{BB962C8B-B14F-4D97-AF65-F5344CB8AC3E}">
        <p14:creationId xmlns:p14="http://schemas.microsoft.com/office/powerpoint/2010/main" val="1223036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DCF1881-BE03-A431-01AE-E3466E6A0F72}"/>
              </a:ext>
            </a:extLst>
          </p:cNvPr>
          <p:cNvSpPr txBox="1"/>
          <p:nvPr/>
        </p:nvSpPr>
        <p:spPr>
          <a:xfrm>
            <a:off x="359462" y="307154"/>
            <a:ext cx="880508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4000" b="1" dirty="0">
                <a:solidFill>
                  <a:schemeClr val="bg1"/>
                </a:solidFill>
                <a:ea typeface="+mn-lt"/>
                <a:cs typeface="+mn-lt"/>
              </a:rPr>
              <a:t>Ejemplo de </a:t>
            </a:r>
            <a:r>
              <a:rPr lang="es-ES" sz="4000" b="1" i="1" dirty="0">
                <a:solidFill>
                  <a:schemeClr val="bg1"/>
                </a:solidFill>
                <a:ea typeface="+mn-lt"/>
                <a:cs typeface="+mn-lt"/>
              </a:rPr>
              <a:t>Single </a:t>
            </a:r>
            <a:r>
              <a:rPr lang="es-ES" sz="4000" b="1" i="1" dirty="0" err="1">
                <a:solidFill>
                  <a:schemeClr val="bg1"/>
                </a:solidFill>
                <a:ea typeface="+mn-lt"/>
                <a:cs typeface="+mn-lt"/>
              </a:rPr>
              <a:t>Responsability</a:t>
            </a:r>
            <a:r>
              <a:rPr lang="es-ES" sz="4000" b="1" i="1" dirty="0">
                <a:solidFill>
                  <a:schemeClr val="bg1"/>
                </a:solidFill>
                <a:ea typeface="+mn-lt"/>
                <a:cs typeface="+mn-lt"/>
              </a:rPr>
              <a:t> </a:t>
            </a:r>
            <a:r>
              <a:rPr lang="es-ES" sz="4000" b="1" i="1" dirty="0" err="1">
                <a:solidFill>
                  <a:schemeClr val="bg1"/>
                </a:solidFill>
                <a:ea typeface="+mn-lt"/>
                <a:cs typeface="+mn-lt"/>
              </a:rPr>
              <a:t>Principle</a:t>
            </a:r>
            <a:r>
              <a:rPr lang="es-ES" sz="4000" b="1" i="1" dirty="0">
                <a:solidFill>
                  <a:schemeClr val="bg1"/>
                </a:solidFill>
                <a:ea typeface="+mn-lt"/>
                <a:cs typeface="+mn-lt"/>
              </a:rPr>
              <a:t> </a:t>
            </a:r>
            <a:endParaRPr lang="es-ES" sz="3200" b="1" i="1" dirty="0">
              <a:solidFill>
                <a:schemeClr val="bg1"/>
              </a:solidFill>
              <a:ea typeface="+mn-lt"/>
              <a:cs typeface="+mn-lt"/>
            </a:endParaRPr>
          </a:p>
        </p:txBody>
      </p:sp>
      <p:pic>
        <p:nvPicPr>
          <p:cNvPr id="5" name="Imagen 4">
            <a:extLst>
              <a:ext uri="{FF2B5EF4-FFF2-40B4-BE49-F238E27FC236}">
                <a16:creationId xmlns:a16="http://schemas.microsoft.com/office/drawing/2014/main" id="{E4D44B41-49FB-10A5-29D9-7827FD21A099}"/>
              </a:ext>
            </a:extLst>
          </p:cNvPr>
          <p:cNvPicPr>
            <a:picLocks noChangeAspect="1"/>
          </p:cNvPicPr>
          <p:nvPr/>
        </p:nvPicPr>
        <p:blipFill>
          <a:blip r:embed="rId2"/>
          <a:stretch>
            <a:fillRect/>
          </a:stretch>
        </p:blipFill>
        <p:spPr>
          <a:xfrm>
            <a:off x="495934" y="1975188"/>
            <a:ext cx="9107171" cy="4248743"/>
          </a:xfrm>
          <a:prstGeom prst="rect">
            <a:avLst/>
          </a:prstGeom>
        </p:spPr>
      </p:pic>
    </p:spTree>
    <p:extLst>
      <p:ext uri="{BB962C8B-B14F-4D97-AF65-F5344CB8AC3E}">
        <p14:creationId xmlns:p14="http://schemas.microsoft.com/office/powerpoint/2010/main" val="2260096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5BBA0-B303-92C8-0B08-6928B88D0181}"/>
            </a:ext>
          </a:extLst>
        </p:cNvPr>
        <p:cNvGrpSpPr/>
        <p:nvPr/>
      </p:nvGrpSpPr>
      <p:grpSpPr>
        <a:xfrm>
          <a:off x="0" y="0"/>
          <a:ext cx="0" cy="0"/>
          <a:chOff x="0" y="0"/>
          <a:chExt cx="0" cy="0"/>
        </a:xfrm>
      </p:grpSpPr>
      <p:pic>
        <p:nvPicPr>
          <p:cNvPr id="2" name="Imagen 1" descr="Diagrama&#10;&#10;El contenido generado por IA puede ser incorrecto.">
            <a:extLst>
              <a:ext uri="{FF2B5EF4-FFF2-40B4-BE49-F238E27FC236}">
                <a16:creationId xmlns:a16="http://schemas.microsoft.com/office/drawing/2014/main" id="{AB28A864-A54F-E5B5-6A54-1753630BE456}"/>
              </a:ext>
            </a:extLst>
          </p:cNvPr>
          <p:cNvPicPr>
            <a:picLocks noChangeAspect="1"/>
          </p:cNvPicPr>
          <p:nvPr/>
        </p:nvPicPr>
        <p:blipFill>
          <a:blip r:embed="rId2"/>
          <a:stretch>
            <a:fillRect/>
          </a:stretch>
        </p:blipFill>
        <p:spPr>
          <a:xfrm>
            <a:off x="209833" y="1967088"/>
            <a:ext cx="9104337" cy="3811138"/>
          </a:xfrm>
          <a:prstGeom prst="rect">
            <a:avLst/>
          </a:prstGeom>
        </p:spPr>
      </p:pic>
      <p:sp>
        <p:nvSpPr>
          <p:cNvPr id="4" name="CuadroTexto 3">
            <a:extLst>
              <a:ext uri="{FF2B5EF4-FFF2-40B4-BE49-F238E27FC236}">
                <a16:creationId xmlns:a16="http://schemas.microsoft.com/office/drawing/2014/main" id="{043991F1-5BED-770E-0124-6D5BF5E43F51}"/>
              </a:ext>
            </a:extLst>
          </p:cNvPr>
          <p:cNvSpPr txBox="1"/>
          <p:nvPr/>
        </p:nvSpPr>
        <p:spPr>
          <a:xfrm>
            <a:off x="359462" y="307154"/>
            <a:ext cx="880508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4000" b="1" dirty="0">
                <a:solidFill>
                  <a:schemeClr val="bg1"/>
                </a:solidFill>
                <a:ea typeface="+mn-lt"/>
                <a:cs typeface="+mn-lt"/>
              </a:rPr>
              <a:t>Ejemplo de </a:t>
            </a:r>
            <a:r>
              <a:rPr lang="es-ES" sz="4000" b="1" i="1" dirty="0">
                <a:solidFill>
                  <a:schemeClr val="bg1"/>
                </a:solidFill>
                <a:ea typeface="+mn-lt"/>
                <a:cs typeface="+mn-lt"/>
              </a:rPr>
              <a:t>Single </a:t>
            </a:r>
            <a:r>
              <a:rPr lang="es-ES" sz="4000" b="1" i="1" dirty="0" err="1">
                <a:solidFill>
                  <a:schemeClr val="bg1"/>
                </a:solidFill>
                <a:ea typeface="+mn-lt"/>
                <a:cs typeface="+mn-lt"/>
              </a:rPr>
              <a:t>Responsability</a:t>
            </a:r>
            <a:r>
              <a:rPr lang="es-ES" sz="4000" b="1" i="1" dirty="0">
                <a:solidFill>
                  <a:schemeClr val="bg1"/>
                </a:solidFill>
                <a:ea typeface="+mn-lt"/>
                <a:cs typeface="+mn-lt"/>
              </a:rPr>
              <a:t> </a:t>
            </a:r>
            <a:r>
              <a:rPr lang="es-ES" sz="4000" b="1" i="1" dirty="0" err="1">
                <a:solidFill>
                  <a:schemeClr val="bg1"/>
                </a:solidFill>
                <a:ea typeface="+mn-lt"/>
                <a:cs typeface="+mn-lt"/>
              </a:rPr>
              <a:t>Principle</a:t>
            </a:r>
            <a:r>
              <a:rPr lang="es-ES" sz="4000" b="1" i="1" dirty="0">
                <a:solidFill>
                  <a:schemeClr val="bg1"/>
                </a:solidFill>
                <a:ea typeface="+mn-lt"/>
                <a:cs typeface="+mn-lt"/>
              </a:rPr>
              <a:t> </a:t>
            </a:r>
            <a:endParaRPr lang="es-ES" sz="3200" b="1" i="1" dirty="0">
              <a:solidFill>
                <a:schemeClr val="bg1"/>
              </a:solidFill>
              <a:ea typeface="+mn-lt"/>
              <a:cs typeface="+mn-lt"/>
            </a:endParaRPr>
          </a:p>
        </p:txBody>
      </p:sp>
    </p:spTree>
    <p:extLst>
      <p:ext uri="{BB962C8B-B14F-4D97-AF65-F5344CB8AC3E}">
        <p14:creationId xmlns:p14="http://schemas.microsoft.com/office/powerpoint/2010/main" val="1861965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6CDC0-AB47-2531-79A8-6CFF92A5CBAF}"/>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56CA08C0-E595-D33A-33DB-C4B3E2746E39}"/>
              </a:ext>
            </a:extLst>
          </p:cNvPr>
          <p:cNvSpPr txBox="1"/>
          <p:nvPr/>
        </p:nvSpPr>
        <p:spPr>
          <a:xfrm>
            <a:off x="1517797" y="2875002"/>
            <a:ext cx="9156405" cy="1600438"/>
          </a:xfrm>
          <a:prstGeom prst="rect">
            <a:avLst/>
          </a:prstGeom>
          <a:noFill/>
        </p:spPr>
        <p:txBody>
          <a:bodyPr wrap="square" lIns="91440" tIns="45720" rIns="91440" bIns="45720" rtlCol="0" anchor="t">
            <a:spAutoFit/>
          </a:bodyPr>
          <a:lstStyle/>
          <a:p>
            <a:pPr algn="ctr">
              <a:defRPr/>
            </a:pPr>
            <a:r>
              <a:rPr lang="es-AR" sz="6600" b="1" i="1" dirty="0">
                <a:solidFill>
                  <a:prstClr val="white"/>
                </a:solidFill>
                <a:ea typeface="+mn-lt"/>
                <a:cs typeface="+mn-lt"/>
              </a:rPr>
              <a:t>Open/</a:t>
            </a:r>
            <a:r>
              <a:rPr lang="es-AR" sz="6600" b="1" i="1" dirty="0" err="1">
                <a:solidFill>
                  <a:prstClr val="white"/>
                </a:solidFill>
                <a:ea typeface="+mn-lt"/>
                <a:cs typeface="+mn-lt"/>
              </a:rPr>
              <a:t>Closed</a:t>
            </a:r>
            <a:r>
              <a:rPr lang="es-AR" sz="6600" b="1" i="1" dirty="0">
                <a:solidFill>
                  <a:prstClr val="white"/>
                </a:solidFill>
                <a:ea typeface="+mn-lt"/>
                <a:cs typeface="+mn-lt"/>
              </a:rPr>
              <a:t> </a:t>
            </a:r>
            <a:r>
              <a:rPr lang="es-AR" sz="6600" b="1" i="1" dirty="0" err="1">
                <a:solidFill>
                  <a:prstClr val="white"/>
                </a:solidFill>
                <a:ea typeface="+mn-lt"/>
                <a:cs typeface="+mn-lt"/>
              </a:rPr>
              <a:t>Principle</a:t>
            </a:r>
            <a:r>
              <a:rPr lang="es-AR" sz="6600" b="1" i="1" dirty="0">
                <a:solidFill>
                  <a:prstClr val="white"/>
                </a:solidFill>
                <a:ea typeface="+mn-lt"/>
                <a:cs typeface="+mn-lt"/>
              </a:rPr>
              <a:t> </a:t>
            </a:r>
            <a:r>
              <a:rPr lang="es-AR" sz="3200" i="1" dirty="0">
                <a:solidFill>
                  <a:schemeClr val="bg1"/>
                </a:solidFill>
              </a:rPr>
              <a:t>Principio Abierto-Cerrado</a:t>
            </a:r>
            <a:r>
              <a:rPr lang="es-AR" sz="3200" b="1" i="1" dirty="0">
                <a:solidFill>
                  <a:schemeClr val="bg1"/>
                </a:solidFill>
                <a:ea typeface="+mn-lt"/>
                <a:cs typeface="+mn-lt"/>
              </a:rPr>
              <a:t> </a:t>
            </a:r>
            <a:endParaRPr lang="es-ES" sz="3200" b="1" i="1" dirty="0">
              <a:solidFill>
                <a:schemeClr val="bg1"/>
              </a:solidFill>
              <a:ea typeface="+mn-ea"/>
              <a:cs typeface="+mn-cs"/>
            </a:endParaRPr>
          </a:p>
        </p:txBody>
      </p:sp>
    </p:spTree>
    <p:extLst>
      <p:ext uri="{BB962C8B-B14F-4D97-AF65-F5344CB8AC3E}">
        <p14:creationId xmlns:p14="http://schemas.microsoft.com/office/powerpoint/2010/main" val="370038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C23A4-CA3C-222B-8BC5-BC5C622CDBE7}"/>
            </a:ext>
          </a:extLst>
        </p:cNvPr>
        <p:cNvGrpSpPr/>
        <p:nvPr/>
      </p:nvGrpSpPr>
      <p:grpSpPr>
        <a:xfrm>
          <a:off x="0" y="0"/>
          <a:ext cx="0" cy="0"/>
          <a:chOff x="0" y="0"/>
          <a:chExt cx="0" cy="0"/>
        </a:xfrm>
      </p:grpSpPr>
      <p:pic>
        <p:nvPicPr>
          <p:cNvPr id="4" name="Imagen 3" descr="Interfaz de usuario gráfica&#10;&#10;El contenido generado por IA puede ser incorrecto.">
            <a:extLst>
              <a:ext uri="{FF2B5EF4-FFF2-40B4-BE49-F238E27FC236}">
                <a16:creationId xmlns:a16="http://schemas.microsoft.com/office/drawing/2014/main" id="{78791098-FB87-582E-585F-12B94D9F24A0}"/>
              </a:ext>
            </a:extLst>
          </p:cNvPr>
          <p:cNvPicPr>
            <a:picLocks noChangeAspect="1"/>
          </p:cNvPicPr>
          <p:nvPr/>
        </p:nvPicPr>
        <p:blipFill>
          <a:blip r:embed="rId2"/>
          <a:stretch>
            <a:fillRect/>
          </a:stretch>
        </p:blipFill>
        <p:spPr>
          <a:xfrm>
            <a:off x="1637784" y="1692645"/>
            <a:ext cx="5930058" cy="483958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CuadroTexto 1">
            <a:extLst>
              <a:ext uri="{FF2B5EF4-FFF2-40B4-BE49-F238E27FC236}">
                <a16:creationId xmlns:a16="http://schemas.microsoft.com/office/drawing/2014/main" id="{E2168663-7B85-5F2D-B0C5-416258711B0D}"/>
              </a:ext>
            </a:extLst>
          </p:cNvPr>
          <p:cNvSpPr txBox="1"/>
          <p:nvPr/>
        </p:nvSpPr>
        <p:spPr>
          <a:xfrm>
            <a:off x="464851" y="547439"/>
            <a:ext cx="9156405" cy="707886"/>
          </a:xfrm>
          <a:prstGeom prst="rect">
            <a:avLst/>
          </a:prstGeom>
          <a:noFill/>
        </p:spPr>
        <p:txBody>
          <a:bodyPr wrap="square" lIns="91440" tIns="45720" rIns="91440" bIns="45720" rtlCol="0" anchor="t">
            <a:spAutoFit/>
          </a:bodyPr>
          <a:lstStyle/>
          <a:p>
            <a:pPr>
              <a:defRPr/>
            </a:pPr>
            <a:r>
              <a:rPr lang="es-AR" sz="4000" b="1" i="1" dirty="0">
                <a:solidFill>
                  <a:prstClr val="white"/>
                </a:solidFill>
                <a:ea typeface="+mn-lt"/>
                <a:cs typeface="+mn-lt"/>
              </a:rPr>
              <a:t>Open/</a:t>
            </a:r>
            <a:r>
              <a:rPr lang="es-AR" sz="4000" b="1" i="1" dirty="0" err="1">
                <a:solidFill>
                  <a:prstClr val="white"/>
                </a:solidFill>
                <a:ea typeface="+mn-lt"/>
                <a:cs typeface="+mn-lt"/>
              </a:rPr>
              <a:t>Closed</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1050" b="1" i="1" dirty="0">
              <a:solidFill>
                <a:prstClr val="white"/>
              </a:solidFill>
              <a:ea typeface="+mn-ea"/>
              <a:cs typeface="+mn-cs"/>
            </a:endParaRPr>
          </a:p>
        </p:txBody>
      </p:sp>
      <p:sp>
        <p:nvSpPr>
          <p:cNvPr id="3" name="CuadroTexto 2">
            <a:extLst>
              <a:ext uri="{FF2B5EF4-FFF2-40B4-BE49-F238E27FC236}">
                <a16:creationId xmlns:a16="http://schemas.microsoft.com/office/drawing/2014/main" id="{1D5ECB80-160D-CA1B-4055-16F8C13BBDAB}"/>
              </a:ext>
            </a:extLst>
          </p:cNvPr>
          <p:cNvSpPr txBox="1"/>
          <p:nvPr/>
        </p:nvSpPr>
        <p:spPr>
          <a:xfrm>
            <a:off x="8402321" y="2428240"/>
            <a:ext cx="1218936" cy="2397760"/>
          </a:xfrm>
          <a:prstGeom prst="rect">
            <a:avLst/>
          </a:prstGeom>
          <a:noFill/>
        </p:spPr>
        <p:txBody>
          <a:bodyPr wrap="square" rtlCol="0">
            <a:spAutoFit/>
          </a:bodyPr>
          <a:lstStyle/>
          <a:p>
            <a:r>
              <a:rPr lang="es-ES"/>
              <a:t>No es necesaria una cirugía a corazón abierto para ponerse un abrigo</a:t>
            </a:r>
            <a:endParaRPr lang="es-AR" dirty="0"/>
          </a:p>
        </p:txBody>
      </p:sp>
    </p:spTree>
    <p:extLst>
      <p:ext uri="{BB962C8B-B14F-4D97-AF65-F5344CB8AC3E}">
        <p14:creationId xmlns:p14="http://schemas.microsoft.com/office/powerpoint/2010/main" val="1643842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0A545-56FF-3FFB-6154-8EE116CF1C63}"/>
            </a:ext>
          </a:extLst>
        </p:cNvPr>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11A4F9CF-A745-B4AD-A4DF-F031C782846E}"/>
              </a:ext>
            </a:extLst>
          </p:cNvPr>
          <p:cNvGraphicFramePr/>
          <p:nvPr>
            <p:extLst>
              <p:ext uri="{D42A27DB-BD31-4B8C-83A1-F6EECF244321}">
                <p14:modId xmlns:p14="http://schemas.microsoft.com/office/powerpoint/2010/main" val="2966869854"/>
              </p:ext>
            </p:extLst>
          </p:nvPr>
        </p:nvGraphicFramePr>
        <p:xfrm>
          <a:off x="464851" y="2083606"/>
          <a:ext cx="8501998" cy="33058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CuadroTexto 1">
            <a:extLst>
              <a:ext uri="{FF2B5EF4-FFF2-40B4-BE49-F238E27FC236}">
                <a16:creationId xmlns:a16="http://schemas.microsoft.com/office/drawing/2014/main" id="{37B997C7-8EB3-261A-DFD9-F3C8B152862D}"/>
              </a:ext>
            </a:extLst>
          </p:cNvPr>
          <p:cNvSpPr txBox="1"/>
          <p:nvPr/>
        </p:nvSpPr>
        <p:spPr>
          <a:xfrm>
            <a:off x="464851" y="547439"/>
            <a:ext cx="9156405" cy="707886"/>
          </a:xfrm>
          <a:prstGeom prst="rect">
            <a:avLst/>
          </a:prstGeom>
          <a:noFill/>
        </p:spPr>
        <p:txBody>
          <a:bodyPr wrap="square" lIns="91440" tIns="45720" rIns="91440" bIns="45720" rtlCol="0" anchor="t">
            <a:spAutoFit/>
          </a:bodyPr>
          <a:lstStyle/>
          <a:p>
            <a:pPr>
              <a:defRPr/>
            </a:pPr>
            <a:r>
              <a:rPr lang="es-AR" sz="4000" b="1" i="1" dirty="0">
                <a:solidFill>
                  <a:prstClr val="white"/>
                </a:solidFill>
                <a:ea typeface="+mn-lt"/>
                <a:cs typeface="+mn-lt"/>
              </a:rPr>
              <a:t>Open/</a:t>
            </a:r>
            <a:r>
              <a:rPr lang="es-AR" sz="4000" b="1" i="1" dirty="0" err="1">
                <a:solidFill>
                  <a:prstClr val="white"/>
                </a:solidFill>
                <a:ea typeface="+mn-lt"/>
                <a:cs typeface="+mn-lt"/>
              </a:rPr>
              <a:t>Closed</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1050" b="1" i="1" dirty="0">
              <a:solidFill>
                <a:prstClr val="white"/>
              </a:solidFill>
              <a:ea typeface="+mn-ea"/>
              <a:cs typeface="+mn-cs"/>
            </a:endParaRPr>
          </a:p>
        </p:txBody>
      </p:sp>
    </p:spTree>
    <p:extLst>
      <p:ext uri="{BB962C8B-B14F-4D97-AF65-F5344CB8AC3E}">
        <p14:creationId xmlns:p14="http://schemas.microsoft.com/office/powerpoint/2010/main" val="2820850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F03DE-AC78-8FFE-0360-5388487210F1}"/>
            </a:ext>
          </a:extLst>
        </p:cNvPr>
        <p:cNvGrpSpPr/>
        <p:nvPr/>
      </p:nvGrpSpPr>
      <p:grpSpPr>
        <a:xfrm>
          <a:off x="0" y="0"/>
          <a:ext cx="0" cy="0"/>
          <a:chOff x="0" y="0"/>
          <a:chExt cx="0" cy="0"/>
        </a:xfrm>
      </p:grpSpPr>
      <p:pic>
        <p:nvPicPr>
          <p:cNvPr id="2" name="Imagen 1" descr="Interfaz de usuario gráfica, Texto, Aplicación, Carta&#10;&#10;El contenido generado por IA puede ser incorrecto.">
            <a:extLst>
              <a:ext uri="{FF2B5EF4-FFF2-40B4-BE49-F238E27FC236}">
                <a16:creationId xmlns:a16="http://schemas.microsoft.com/office/drawing/2014/main" id="{05199D1C-C6F7-7953-5BD0-97EBF55D45E8}"/>
              </a:ext>
            </a:extLst>
          </p:cNvPr>
          <p:cNvPicPr>
            <a:picLocks noChangeAspect="1"/>
          </p:cNvPicPr>
          <p:nvPr/>
        </p:nvPicPr>
        <p:blipFill>
          <a:blip r:embed="rId2"/>
          <a:stretch>
            <a:fillRect/>
          </a:stretch>
        </p:blipFill>
        <p:spPr>
          <a:xfrm>
            <a:off x="361524" y="2451124"/>
            <a:ext cx="9376297" cy="2876977"/>
          </a:xfrm>
          <a:prstGeom prst="rect">
            <a:avLst/>
          </a:prstGeom>
        </p:spPr>
      </p:pic>
      <p:sp>
        <p:nvSpPr>
          <p:cNvPr id="4" name="CuadroTexto 3">
            <a:extLst>
              <a:ext uri="{FF2B5EF4-FFF2-40B4-BE49-F238E27FC236}">
                <a16:creationId xmlns:a16="http://schemas.microsoft.com/office/drawing/2014/main" id="{74B35269-6CFB-11B2-3DC1-23167516D977}"/>
              </a:ext>
            </a:extLst>
          </p:cNvPr>
          <p:cNvSpPr txBox="1"/>
          <p:nvPr/>
        </p:nvSpPr>
        <p:spPr>
          <a:xfrm>
            <a:off x="464851" y="547439"/>
            <a:ext cx="9156405" cy="707886"/>
          </a:xfrm>
          <a:prstGeom prst="rect">
            <a:avLst/>
          </a:prstGeom>
          <a:noFill/>
        </p:spPr>
        <p:txBody>
          <a:bodyPr wrap="square" lIns="91440" tIns="45720" rIns="91440" bIns="45720" rtlCol="0" anchor="t">
            <a:spAutoFit/>
          </a:bodyPr>
          <a:lstStyle/>
          <a:p>
            <a:pPr>
              <a:defRPr/>
            </a:pPr>
            <a:r>
              <a:rPr lang="es-AR" sz="4000" b="1" dirty="0">
                <a:solidFill>
                  <a:prstClr val="white"/>
                </a:solidFill>
                <a:ea typeface="+mn-lt"/>
                <a:cs typeface="+mn-lt"/>
              </a:rPr>
              <a:t>Ejemplo de </a:t>
            </a:r>
            <a:r>
              <a:rPr lang="es-AR" sz="4000" b="1" i="1" dirty="0">
                <a:solidFill>
                  <a:prstClr val="white"/>
                </a:solidFill>
                <a:ea typeface="+mn-lt"/>
                <a:cs typeface="+mn-lt"/>
              </a:rPr>
              <a:t>Open/</a:t>
            </a:r>
            <a:r>
              <a:rPr lang="es-AR" sz="4000" b="1" i="1" dirty="0" err="1">
                <a:solidFill>
                  <a:prstClr val="white"/>
                </a:solidFill>
                <a:ea typeface="+mn-lt"/>
                <a:cs typeface="+mn-lt"/>
              </a:rPr>
              <a:t>Closed</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1050" b="1" i="1" dirty="0">
              <a:solidFill>
                <a:prstClr val="white"/>
              </a:solidFill>
              <a:ea typeface="+mn-ea"/>
              <a:cs typeface="+mn-cs"/>
            </a:endParaRPr>
          </a:p>
        </p:txBody>
      </p:sp>
    </p:spTree>
    <p:extLst>
      <p:ext uri="{BB962C8B-B14F-4D97-AF65-F5344CB8AC3E}">
        <p14:creationId xmlns:p14="http://schemas.microsoft.com/office/powerpoint/2010/main" val="19380360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F8A3-44AC-1588-6BB2-ECFEE5A9F702}"/>
            </a:ext>
          </a:extLst>
        </p:cNvPr>
        <p:cNvGrpSpPr/>
        <p:nvPr/>
      </p:nvGrpSpPr>
      <p:grpSpPr>
        <a:xfrm>
          <a:off x="0" y="0"/>
          <a:ext cx="0" cy="0"/>
          <a:chOff x="0" y="0"/>
          <a:chExt cx="0" cy="0"/>
        </a:xfrm>
      </p:grpSpPr>
      <p:pic>
        <p:nvPicPr>
          <p:cNvPr id="4" name="Imagen 3" descr="Imagen que contiene Diagrama&#10;&#10;El contenido generado por IA puede ser incorrecto.">
            <a:extLst>
              <a:ext uri="{FF2B5EF4-FFF2-40B4-BE49-F238E27FC236}">
                <a16:creationId xmlns:a16="http://schemas.microsoft.com/office/drawing/2014/main" id="{9874251E-65A2-6B27-04E6-38EAE77F2D29}"/>
              </a:ext>
            </a:extLst>
          </p:cNvPr>
          <p:cNvPicPr>
            <a:picLocks noChangeAspect="1"/>
          </p:cNvPicPr>
          <p:nvPr/>
        </p:nvPicPr>
        <p:blipFill>
          <a:blip r:embed="rId2"/>
          <a:stretch>
            <a:fillRect/>
          </a:stretch>
        </p:blipFill>
        <p:spPr>
          <a:xfrm>
            <a:off x="136478" y="2655203"/>
            <a:ext cx="9587553" cy="2650789"/>
          </a:xfrm>
          <a:prstGeom prst="rect">
            <a:avLst/>
          </a:prstGeom>
        </p:spPr>
      </p:pic>
      <p:sp>
        <p:nvSpPr>
          <p:cNvPr id="2" name="CuadroTexto 1">
            <a:extLst>
              <a:ext uri="{FF2B5EF4-FFF2-40B4-BE49-F238E27FC236}">
                <a16:creationId xmlns:a16="http://schemas.microsoft.com/office/drawing/2014/main" id="{44190BC2-3EC5-EDE5-6DAB-B9F5B9ABF5F7}"/>
              </a:ext>
            </a:extLst>
          </p:cNvPr>
          <p:cNvSpPr txBox="1"/>
          <p:nvPr/>
        </p:nvSpPr>
        <p:spPr>
          <a:xfrm>
            <a:off x="464851" y="547439"/>
            <a:ext cx="9156405" cy="707886"/>
          </a:xfrm>
          <a:prstGeom prst="rect">
            <a:avLst/>
          </a:prstGeom>
          <a:noFill/>
        </p:spPr>
        <p:txBody>
          <a:bodyPr wrap="square" lIns="91440" tIns="45720" rIns="91440" bIns="45720" rtlCol="0" anchor="t">
            <a:spAutoFit/>
          </a:bodyPr>
          <a:lstStyle/>
          <a:p>
            <a:pPr>
              <a:defRPr/>
            </a:pPr>
            <a:r>
              <a:rPr lang="es-AR" sz="4000" b="1" dirty="0">
                <a:solidFill>
                  <a:prstClr val="white"/>
                </a:solidFill>
                <a:ea typeface="+mn-lt"/>
                <a:cs typeface="+mn-lt"/>
              </a:rPr>
              <a:t>Ejemplo de </a:t>
            </a:r>
            <a:r>
              <a:rPr lang="es-AR" sz="4000" b="1" i="1" dirty="0">
                <a:solidFill>
                  <a:prstClr val="white"/>
                </a:solidFill>
                <a:ea typeface="+mn-lt"/>
                <a:cs typeface="+mn-lt"/>
              </a:rPr>
              <a:t>Open/</a:t>
            </a:r>
            <a:r>
              <a:rPr lang="es-AR" sz="4000" b="1" i="1" dirty="0" err="1">
                <a:solidFill>
                  <a:prstClr val="white"/>
                </a:solidFill>
                <a:ea typeface="+mn-lt"/>
                <a:cs typeface="+mn-lt"/>
              </a:rPr>
              <a:t>Closed</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1050" b="1" i="1" dirty="0">
              <a:solidFill>
                <a:prstClr val="white"/>
              </a:solidFill>
              <a:ea typeface="+mn-ea"/>
              <a:cs typeface="+mn-cs"/>
            </a:endParaRPr>
          </a:p>
        </p:txBody>
      </p:sp>
    </p:spTree>
    <p:extLst>
      <p:ext uri="{BB962C8B-B14F-4D97-AF65-F5344CB8AC3E}">
        <p14:creationId xmlns:p14="http://schemas.microsoft.com/office/powerpoint/2010/main" val="3796809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B0691-6A01-4665-8F44-BEB25A92B538}"/>
            </a:ext>
          </a:extLst>
        </p:cNvPr>
        <p:cNvGrpSpPr/>
        <p:nvPr/>
      </p:nvGrpSpPr>
      <p:grpSpPr>
        <a:xfrm>
          <a:off x="0" y="0"/>
          <a:ext cx="0" cy="0"/>
          <a:chOff x="0" y="0"/>
          <a:chExt cx="0" cy="0"/>
        </a:xfrm>
      </p:grpSpPr>
      <p:pic>
        <p:nvPicPr>
          <p:cNvPr id="2" name="Imagen 1" descr="Diagrama&#10;&#10;El contenido generado por IA puede ser incorrecto.">
            <a:extLst>
              <a:ext uri="{FF2B5EF4-FFF2-40B4-BE49-F238E27FC236}">
                <a16:creationId xmlns:a16="http://schemas.microsoft.com/office/drawing/2014/main" id="{CF8E2472-C8D0-BC8A-7E98-B727AC91BAD5}"/>
              </a:ext>
            </a:extLst>
          </p:cNvPr>
          <p:cNvPicPr>
            <a:picLocks noChangeAspect="1"/>
          </p:cNvPicPr>
          <p:nvPr/>
        </p:nvPicPr>
        <p:blipFill>
          <a:blip r:embed="rId2"/>
          <a:stretch>
            <a:fillRect/>
          </a:stretch>
        </p:blipFill>
        <p:spPr>
          <a:xfrm>
            <a:off x="164840" y="2549217"/>
            <a:ext cx="9485337" cy="2794522"/>
          </a:xfrm>
          <a:prstGeom prst="rect">
            <a:avLst/>
          </a:prstGeom>
        </p:spPr>
      </p:pic>
      <p:sp>
        <p:nvSpPr>
          <p:cNvPr id="4" name="CuadroTexto 3">
            <a:extLst>
              <a:ext uri="{FF2B5EF4-FFF2-40B4-BE49-F238E27FC236}">
                <a16:creationId xmlns:a16="http://schemas.microsoft.com/office/drawing/2014/main" id="{09E2E788-CEF9-4372-E97C-E830DB742A78}"/>
              </a:ext>
            </a:extLst>
          </p:cNvPr>
          <p:cNvSpPr txBox="1"/>
          <p:nvPr/>
        </p:nvSpPr>
        <p:spPr>
          <a:xfrm>
            <a:off x="464851" y="547439"/>
            <a:ext cx="9156405" cy="707886"/>
          </a:xfrm>
          <a:prstGeom prst="rect">
            <a:avLst/>
          </a:prstGeom>
          <a:noFill/>
        </p:spPr>
        <p:txBody>
          <a:bodyPr wrap="square" lIns="91440" tIns="45720" rIns="91440" bIns="45720" rtlCol="0" anchor="t">
            <a:spAutoFit/>
          </a:bodyPr>
          <a:lstStyle/>
          <a:p>
            <a:pPr>
              <a:defRPr/>
            </a:pPr>
            <a:r>
              <a:rPr lang="es-AR" sz="4000" b="1" dirty="0">
                <a:solidFill>
                  <a:prstClr val="white"/>
                </a:solidFill>
                <a:ea typeface="+mn-lt"/>
                <a:cs typeface="+mn-lt"/>
              </a:rPr>
              <a:t>Ejemplo de </a:t>
            </a:r>
            <a:r>
              <a:rPr lang="es-AR" sz="4000" b="1" i="1" dirty="0">
                <a:solidFill>
                  <a:prstClr val="white"/>
                </a:solidFill>
                <a:ea typeface="+mn-lt"/>
                <a:cs typeface="+mn-lt"/>
              </a:rPr>
              <a:t>Open/</a:t>
            </a:r>
            <a:r>
              <a:rPr lang="es-AR" sz="4000" b="1" i="1" dirty="0" err="1">
                <a:solidFill>
                  <a:prstClr val="white"/>
                </a:solidFill>
                <a:ea typeface="+mn-lt"/>
                <a:cs typeface="+mn-lt"/>
              </a:rPr>
              <a:t>Closed</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1050" b="1" i="1" dirty="0">
              <a:solidFill>
                <a:prstClr val="white"/>
              </a:solidFill>
              <a:ea typeface="+mn-ea"/>
              <a:cs typeface="+mn-cs"/>
            </a:endParaRPr>
          </a:p>
        </p:txBody>
      </p:sp>
    </p:spTree>
    <p:extLst>
      <p:ext uri="{BB962C8B-B14F-4D97-AF65-F5344CB8AC3E}">
        <p14:creationId xmlns:p14="http://schemas.microsoft.com/office/powerpoint/2010/main" val="3970349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D587D-9E08-89AD-248E-0B1CCC19B793}"/>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F54D342F-790A-566A-9D95-D2863E43B25D}"/>
              </a:ext>
            </a:extLst>
          </p:cNvPr>
          <p:cNvSpPr txBox="1"/>
          <p:nvPr/>
        </p:nvSpPr>
        <p:spPr>
          <a:xfrm>
            <a:off x="1375424" y="2367002"/>
            <a:ext cx="9156405" cy="2123658"/>
          </a:xfrm>
          <a:prstGeom prst="rect">
            <a:avLst/>
          </a:prstGeom>
          <a:noFill/>
        </p:spPr>
        <p:txBody>
          <a:bodyPr wrap="square" lIns="91440" tIns="45720" rIns="91440" bIns="45720" rtlCol="0" anchor="t">
            <a:spAutoFit/>
          </a:bodyPr>
          <a:lstStyle/>
          <a:p>
            <a:pPr algn="ctr">
              <a:defRPr/>
            </a:pPr>
            <a:r>
              <a:rPr lang="es-AR" sz="6600" b="1" i="1" dirty="0" err="1">
                <a:solidFill>
                  <a:prstClr val="white"/>
                </a:solidFill>
                <a:ea typeface="+mn-lt"/>
                <a:cs typeface="+mn-lt"/>
              </a:rPr>
              <a:t>Liskov</a:t>
            </a:r>
            <a:r>
              <a:rPr lang="es-AR" sz="6600" b="1" i="1" dirty="0">
                <a:solidFill>
                  <a:prstClr val="white"/>
                </a:solidFill>
                <a:ea typeface="+mn-lt"/>
                <a:cs typeface="+mn-lt"/>
              </a:rPr>
              <a:t> </a:t>
            </a:r>
            <a:r>
              <a:rPr lang="es-AR" sz="6600" b="1" i="1" dirty="0" err="1">
                <a:solidFill>
                  <a:prstClr val="white"/>
                </a:solidFill>
                <a:ea typeface="+mn-lt"/>
                <a:cs typeface="+mn-lt"/>
              </a:rPr>
              <a:t>Substitution</a:t>
            </a:r>
            <a:r>
              <a:rPr lang="es-AR" sz="6600" b="1" i="1" dirty="0">
                <a:solidFill>
                  <a:prstClr val="white"/>
                </a:solidFill>
                <a:ea typeface="+mn-lt"/>
                <a:cs typeface="+mn-lt"/>
              </a:rPr>
              <a:t> </a:t>
            </a:r>
            <a:r>
              <a:rPr lang="es-AR" sz="6600" b="1" i="1" dirty="0" err="1">
                <a:solidFill>
                  <a:prstClr val="white"/>
                </a:solidFill>
                <a:ea typeface="+mn-lt"/>
                <a:cs typeface="+mn-lt"/>
              </a:rPr>
              <a:t>Principle</a:t>
            </a:r>
            <a:r>
              <a:rPr lang="es-AR" sz="6600" b="1" i="1" dirty="0">
                <a:solidFill>
                  <a:prstClr val="white"/>
                </a:solidFill>
                <a:ea typeface="+mn-lt"/>
                <a:cs typeface="+mn-lt"/>
              </a:rPr>
              <a:t> </a:t>
            </a:r>
            <a:r>
              <a:rPr lang="es-ES" sz="3200" i="1" dirty="0">
                <a:solidFill>
                  <a:schemeClr val="bg1"/>
                </a:solidFill>
              </a:rPr>
              <a:t>Principio de sustitución de </a:t>
            </a:r>
            <a:r>
              <a:rPr lang="es-ES" sz="3200" i="1" dirty="0" err="1">
                <a:solidFill>
                  <a:schemeClr val="bg1"/>
                </a:solidFill>
              </a:rPr>
              <a:t>Liskov</a:t>
            </a:r>
            <a:endParaRPr lang="es-ES" sz="3200" b="1" i="1" dirty="0">
              <a:solidFill>
                <a:schemeClr val="bg1"/>
              </a:solidFill>
              <a:ea typeface="+mn-lt"/>
              <a:cs typeface="+mn-lt"/>
            </a:endParaRPr>
          </a:p>
        </p:txBody>
      </p:sp>
    </p:spTree>
    <p:extLst>
      <p:ext uri="{BB962C8B-B14F-4D97-AF65-F5344CB8AC3E}">
        <p14:creationId xmlns:p14="http://schemas.microsoft.com/office/powerpoint/2010/main" val="2211598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EE5CE-AFA2-4028-F88B-A5F422543B2C}"/>
            </a:ext>
          </a:extLst>
        </p:cNvPr>
        <p:cNvGrpSpPr/>
        <p:nvPr/>
      </p:nvGrpSpPr>
      <p:grpSpPr>
        <a:xfrm>
          <a:off x="0" y="0"/>
          <a:ext cx="0" cy="0"/>
          <a:chOff x="0" y="0"/>
          <a:chExt cx="0" cy="0"/>
        </a:xfrm>
      </p:grpSpPr>
      <p:pic>
        <p:nvPicPr>
          <p:cNvPr id="2" name="Imagen 1" descr="Imagen que contiene Interfaz de usuario gráfica&#10;&#10;El contenido generado por IA puede ser incorrecto.">
            <a:extLst>
              <a:ext uri="{FF2B5EF4-FFF2-40B4-BE49-F238E27FC236}">
                <a16:creationId xmlns:a16="http://schemas.microsoft.com/office/drawing/2014/main" id="{3380B1AE-52CB-05E9-6E59-22849362EFFC}"/>
              </a:ext>
            </a:extLst>
          </p:cNvPr>
          <p:cNvPicPr>
            <a:picLocks noChangeAspect="1"/>
          </p:cNvPicPr>
          <p:nvPr/>
        </p:nvPicPr>
        <p:blipFill>
          <a:blip r:embed="rId2"/>
          <a:stretch>
            <a:fillRect/>
          </a:stretch>
        </p:blipFill>
        <p:spPr>
          <a:xfrm>
            <a:off x="1753311" y="1716419"/>
            <a:ext cx="6137797" cy="489229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CuadroTexto 3">
            <a:extLst>
              <a:ext uri="{FF2B5EF4-FFF2-40B4-BE49-F238E27FC236}">
                <a16:creationId xmlns:a16="http://schemas.microsoft.com/office/drawing/2014/main" id="{4CD5445D-FCAF-C940-C0C8-EF68CCC5591F}"/>
              </a:ext>
            </a:extLst>
          </p:cNvPr>
          <p:cNvSpPr txBox="1"/>
          <p:nvPr/>
        </p:nvSpPr>
        <p:spPr>
          <a:xfrm>
            <a:off x="408709" y="611970"/>
            <a:ext cx="6109854" cy="707886"/>
          </a:xfrm>
          <a:prstGeom prst="rect">
            <a:avLst/>
          </a:prstGeom>
          <a:noFill/>
        </p:spPr>
        <p:txBody>
          <a:bodyPr wrap="square">
            <a:spAutoFit/>
          </a:bodyPr>
          <a:lstStyle/>
          <a:p>
            <a:pPr>
              <a:defRPr/>
            </a:pPr>
            <a:r>
              <a:rPr lang="es-AR" sz="4000" b="1" i="1" dirty="0" err="1">
                <a:solidFill>
                  <a:prstClr val="white"/>
                </a:solidFill>
                <a:ea typeface="+mn-lt"/>
                <a:cs typeface="+mn-lt"/>
              </a:rPr>
              <a:t>Liskov</a:t>
            </a:r>
            <a:r>
              <a:rPr lang="es-AR" sz="4000" b="1" i="1" dirty="0">
                <a:solidFill>
                  <a:prstClr val="white"/>
                </a:solidFill>
                <a:ea typeface="+mn-lt"/>
                <a:cs typeface="+mn-lt"/>
              </a:rPr>
              <a:t> </a:t>
            </a:r>
            <a:r>
              <a:rPr lang="es-AR" sz="4000" b="1" i="1" dirty="0" err="1">
                <a:solidFill>
                  <a:prstClr val="white"/>
                </a:solidFill>
                <a:ea typeface="+mn-lt"/>
                <a:cs typeface="+mn-lt"/>
              </a:rPr>
              <a:t>Substitution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
        <p:nvSpPr>
          <p:cNvPr id="3" name="CuadroTexto 2">
            <a:extLst>
              <a:ext uri="{FF2B5EF4-FFF2-40B4-BE49-F238E27FC236}">
                <a16:creationId xmlns:a16="http://schemas.microsoft.com/office/drawing/2014/main" id="{9DF36179-DDFB-DF66-C6EB-A84BCB02FD6C}"/>
              </a:ext>
            </a:extLst>
          </p:cNvPr>
          <p:cNvSpPr txBox="1"/>
          <p:nvPr/>
        </p:nvSpPr>
        <p:spPr>
          <a:xfrm>
            <a:off x="8148321" y="2428239"/>
            <a:ext cx="1747519" cy="2308324"/>
          </a:xfrm>
          <a:prstGeom prst="rect">
            <a:avLst/>
          </a:prstGeom>
          <a:noFill/>
        </p:spPr>
        <p:txBody>
          <a:bodyPr wrap="square" rtlCol="0">
            <a:spAutoFit/>
          </a:bodyPr>
          <a:lstStyle/>
          <a:p>
            <a:r>
              <a:rPr lang="es-ES"/>
              <a:t>Si parece un pato, grazna como un pato, pero necesita pilas, probablemente tengas una idea equivocada.</a:t>
            </a:r>
            <a:endParaRPr lang="es-AR" dirty="0"/>
          </a:p>
        </p:txBody>
      </p:sp>
    </p:spTree>
    <p:extLst>
      <p:ext uri="{BB962C8B-B14F-4D97-AF65-F5344CB8AC3E}">
        <p14:creationId xmlns:p14="http://schemas.microsoft.com/office/powerpoint/2010/main" val="1803080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43D31-6E60-52F4-C1E1-5FAE7281ABEE}"/>
            </a:ext>
          </a:extLst>
        </p:cNvPr>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A9245711-1D3E-E5AE-690C-18A80819FBA8}"/>
              </a:ext>
            </a:extLst>
          </p:cNvPr>
          <p:cNvGraphicFramePr/>
          <p:nvPr>
            <p:extLst>
              <p:ext uri="{D42A27DB-BD31-4B8C-83A1-F6EECF244321}">
                <p14:modId xmlns:p14="http://schemas.microsoft.com/office/powerpoint/2010/main" val="197302768"/>
              </p:ext>
            </p:extLst>
          </p:nvPr>
        </p:nvGraphicFramePr>
        <p:xfrm>
          <a:off x="602673" y="1679454"/>
          <a:ext cx="8391162" cy="45665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CuadroTexto 1">
            <a:extLst>
              <a:ext uri="{FF2B5EF4-FFF2-40B4-BE49-F238E27FC236}">
                <a16:creationId xmlns:a16="http://schemas.microsoft.com/office/drawing/2014/main" id="{A8739A91-CFC4-0646-2902-10735304D4B6}"/>
              </a:ext>
            </a:extLst>
          </p:cNvPr>
          <p:cNvSpPr txBox="1"/>
          <p:nvPr/>
        </p:nvSpPr>
        <p:spPr>
          <a:xfrm>
            <a:off x="408709" y="611970"/>
            <a:ext cx="6109854" cy="707886"/>
          </a:xfrm>
          <a:prstGeom prst="rect">
            <a:avLst/>
          </a:prstGeom>
          <a:noFill/>
        </p:spPr>
        <p:txBody>
          <a:bodyPr wrap="square">
            <a:spAutoFit/>
          </a:bodyPr>
          <a:lstStyle/>
          <a:p>
            <a:pPr>
              <a:defRPr/>
            </a:pPr>
            <a:r>
              <a:rPr lang="es-AR" sz="4000" b="1" i="1" dirty="0" err="1">
                <a:solidFill>
                  <a:prstClr val="white"/>
                </a:solidFill>
                <a:ea typeface="+mn-lt"/>
                <a:cs typeface="+mn-lt"/>
              </a:rPr>
              <a:t>Liskov</a:t>
            </a:r>
            <a:r>
              <a:rPr lang="es-AR" sz="4000" b="1" i="1" dirty="0">
                <a:solidFill>
                  <a:prstClr val="white"/>
                </a:solidFill>
                <a:ea typeface="+mn-lt"/>
                <a:cs typeface="+mn-lt"/>
              </a:rPr>
              <a:t> </a:t>
            </a:r>
            <a:r>
              <a:rPr lang="es-AR" sz="4000" b="1" i="1" dirty="0" err="1">
                <a:solidFill>
                  <a:prstClr val="white"/>
                </a:solidFill>
                <a:ea typeface="+mn-lt"/>
                <a:cs typeface="+mn-lt"/>
              </a:rPr>
              <a:t>Substitution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Tree>
    <p:extLst>
      <p:ext uri="{BB962C8B-B14F-4D97-AF65-F5344CB8AC3E}">
        <p14:creationId xmlns:p14="http://schemas.microsoft.com/office/powerpoint/2010/main" val="668848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BD24C-BAF6-8468-B743-DB44F80D16DE}"/>
            </a:ext>
          </a:extLst>
        </p:cNvPr>
        <p:cNvGrpSpPr/>
        <p:nvPr/>
      </p:nvGrpSpPr>
      <p:grpSpPr>
        <a:xfrm>
          <a:off x="0" y="0"/>
          <a:ext cx="0" cy="0"/>
          <a:chOff x="0" y="0"/>
          <a:chExt cx="0" cy="0"/>
        </a:xfrm>
      </p:grpSpPr>
      <p:pic>
        <p:nvPicPr>
          <p:cNvPr id="2" name="Imagen 1" descr="Diagrama&#10;&#10;El contenido generado por IA puede ser incorrecto.">
            <a:extLst>
              <a:ext uri="{FF2B5EF4-FFF2-40B4-BE49-F238E27FC236}">
                <a16:creationId xmlns:a16="http://schemas.microsoft.com/office/drawing/2014/main" id="{4BDB487D-2ED7-E6AF-91D4-C944DF632D6E}"/>
              </a:ext>
            </a:extLst>
          </p:cNvPr>
          <p:cNvPicPr>
            <a:picLocks noChangeAspect="1"/>
          </p:cNvPicPr>
          <p:nvPr/>
        </p:nvPicPr>
        <p:blipFill>
          <a:blip r:embed="rId2"/>
          <a:stretch>
            <a:fillRect/>
          </a:stretch>
        </p:blipFill>
        <p:spPr>
          <a:xfrm>
            <a:off x="1152880" y="2388856"/>
            <a:ext cx="7839075" cy="3990975"/>
          </a:xfrm>
          <a:prstGeom prst="rect">
            <a:avLst/>
          </a:prstGeom>
        </p:spPr>
      </p:pic>
      <p:sp>
        <p:nvSpPr>
          <p:cNvPr id="4" name="CuadroTexto 3">
            <a:extLst>
              <a:ext uri="{FF2B5EF4-FFF2-40B4-BE49-F238E27FC236}">
                <a16:creationId xmlns:a16="http://schemas.microsoft.com/office/drawing/2014/main" id="{398F239D-B732-3B87-9AD5-2CDA61AE0464}"/>
              </a:ext>
            </a:extLst>
          </p:cNvPr>
          <p:cNvSpPr txBox="1"/>
          <p:nvPr/>
        </p:nvSpPr>
        <p:spPr>
          <a:xfrm>
            <a:off x="408708" y="611970"/>
            <a:ext cx="9177251" cy="707886"/>
          </a:xfrm>
          <a:prstGeom prst="rect">
            <a:avLst/>
          </a:prstGeom>
          <a:noFill/>
        </p:spPr>
        <p:txBody>
          <a:bodyPr wrap="square">
            <a:spAutoFit/>
          </a:bodyPr>
          <a:lstStyle/>
          <a:p>
            <a:pPr>
              <a:defRPr/>
            </a:pPr>
            <a:r>
              <a:rPr lang="es-AR" sz="4000" b="1" dirty="0">
                <a:solidFill>
                  <a:prstClr val="white"/>
                </a:solidFill>
                <a:ea typeface="+mn-lt"/>
                <a:cs typeface="+mn-lt"/>
              </a:rPr>
              <a:t>Ejemplo de </a:t>
            </a:r>
            <a:r>
              <a:rPr lang="es-AR" sz="4000" b="1" i="1" dirty="0" err="1">
                <a:solidFill>
                  <a:prstClr val="white"/>
                </a:solidFill>
                <a:ea typeface="+mn-lt"/>
                <a:cs typeface="+mn-lt"/>
              </a:rPr>
              <a:t>Liskov</a:t>
            </a:r>
            <a:r>
              <a:rPr lang="es-AR" sz="4000" b="1" i="1" dirty="0">
                <a:solidFill>
                  <a:prstClr val="white"/>
                </a:solidFill>
                <a:ea typeface="+mn-lt"/>
                <a:cs typeface="+mn-lt"/>
              </a:rPr>
              <a:t> </a:t>
            </a:r>
            <a:r>
              <a:rPr lang="es-AR" sz="4000" b="1" i="1" dirty="0" err="1">
                <a:solidFill>
                  <a:prstClr val="white"/>
                </a:solidFill>
                <a:ea typeface="+mn-lt"/>
                <a:cs typeface="+mn-lt"/>
              </a:rPr>
              <a:t>Substitution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Tree>
    <p:extLst>
      <p:ext uri="{BB962C8B-B14F-4D97-AF65-F5344CB8AC3E}">
        <p14:creationId xmlns:p14="http://schemas.microsoft.com/office/powerpoint/2010/main" val="36362149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65596-5786-6F83-EA1B-509645465127}"/>
            </a:ext>
          </a:extLst>
        </p:cNvPr>
        <p:cNvGrpSpPr/>
        <p:nvPr/>
      </p:nvGrpSpPr>
      <p:grpSpPr>
        <a:xfrm>
          <a:off x="0" y="0"/>
          <a:ext cx="0" cy="0"/>
          <a:chOff x="0" y="0"/>
          <a:chExt cx="0" cy="0"/>
        </a:xfrm>
      </p:grpSpPr>
      <p:pic>
        <p:nvPicPr>
          <p:cNvPr id="4" name="Imagen 3" descr="Imagen que contiene Forma&#10;&#10;El contenido generado por IA puede ser incorrecto.">
            <a:extLst>
              <a:ext uri="{FF2B5EF4-FFF2-40B4-BE49-F238E27FC236}">
                <a16:creationId xmlns:a16="http://schemas.microsoft.com/office/drawing/2014/main" id="{B534C36E-5190-D5BD-6415-B60750DC9361}"/>
              </a:ext>
            </a:extLst>
          </p:cNvPr>
          <p:cNvPicPr>
            <a:picLocks noChangeAspect="1"/>
          </p:cNvPicPr>
          <p:nvPr/>
        </p:nvPicPr>
        <p:blipFill>
          <a:blip r:embed="rId2"/>
          <a:stretch>
            <a:fillRect/>
          </a:stretch>
        </p:blipFill>
        <p:spPr>
          <a:xfrm>
            <a:off x="-3625" y="2686050"/>
            <a:ext cx="9685788" cy="2486736"/>
          </a:xfrm>
          <a:prstGeom prst="rect">
            <a:avLst/>
          </a:prstGeom>
        </p:spPr>
      </p:pic>
      <p:sp>
        <p:nvSpPr>
          <p:cNvPr id="2" name="CuadroTexto 1">
            <a:extLst>
              <a:ext uri="{FF2B5EF4-FFF2-40B4-BE49-F238E27FC236}">
                <a16:creationId xmlns:a16="http://schemas.microsoft.com/office/drawing/2014/main" id="{04775A44-F390-0491-C905-FF613C82362E}"/>
              </a:ext>
            </a:extLst>
          </p:cNvPr>
          <p:cNvSpPr txBox="1"/>
          <p:nvPr/>
        </p:nvSpPr>
        <p:spPr>
          <a:xfrm>
            <a:off x="408708" y="611970"/>
            <a:ext cx="8857211" cy="707886"/>
          </a:xfrm>
          <a:prstGeom prst="rect">
            <a:avLst/>
          </a:prstGeom>
          <a:noFill/>
        </p:spPr>
        <p:txBody>
          <a:bodyPr wrap="square">
            <a:spAutoFit/>
          </a:bodyPr>
          <a:lstStyle/>
          <a:p>
            <a:pPr>
              <a:defRPr/>
            </a:pPr>
            <a:r>
              <a:rPr lang="es-AR" sz="4000" b="1" dirty="0">
                <a:solidFill>
                  <a:prstClr val="white"/>
                </a:solidFill>
                <a:ea typeface="+mn-lt"/>
                <a:cs typeface="+mn-lt"/>
              </a:rPr>
              <a:t>Ejemplo de </a:t>
            </a:r>
            <a:r>
              <a:rPr lang="es-AR" sz="4000" b="1" i="1" dirty="0" err="1">
                <a:solidFill>
                  <a:prstClr val="white"/>
                </a:solidFill>
                <a:ea typeface="+mn-lt"/>
                <a:cs typeface="+mn-lt"/>
              </a:rPr>
              <a:t>Liskov</a:t>
            </a:r>
            <a:r>
              <a:rPr lang="es-AR" sz="4000" b="1" i="1" dirty="0">
                <a:solidFill>
                  <a:prstClr val="white"/>
                </a:solidFill>
                <a:ea typeface="+mn-lt"/>
                <a:cs typeface="+mn-lt"/>
              </a:rPr>
              <a:t> </a:t>
            </a:r>
            <a:r>
              <a:rPr lang="es-AR" sz="4000" b="1" i="1" dirty="0" err="1">
                <a:solidFill>
                  <a:prstClr val="white"/>
                </a:solidFill>
                <a:ea typeface="+mn-lt"/>
                <a:cs typeface="+mn-lt"/>
              </a:rPr>
              <a:t>Substitution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Tree>
    <p:extLst>
      <p:ext uri="{BB962C8B-B14F-4D97-AF65-F5344CB8AC3E}">
        <p14:creationId xmlns:p14="http://schemas.microsoft.com/office/powerpoint/2010/main" val="35200791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25446-2613-F523-4CA2-88177FC89B87}"/>
            </a:ext>
          </a:extLst>
        </p:cNvPr>
        <p:cNvGrpSpPr/>
        <p:nvPr/>
      </p:nvGrpSpPr>
      <p:grpSpPr>
        <a:xfrm>
          <a:off x="0" y="0"/>
          <a:ext cx="0" cy="0"/>
          <a:chOff x="0" y="0"/>
          <a:chExt cx="0" cy="0"/>
        </a:xfrm>
      </p:grpSpPr>
      <p:pic>
        <p:nvPicPr>
          <p:cNvPr id="2" name="Imagen 1" descr="Diagrama&#10;&#10;El contenido generado por IA puede ser incorrecto.">
            <a:extLst>
              <a:ext uri="{FF2B5EF4-FFF2-40B4-BE49-F238E27FC236}">
                <a16:creationId xmlns:a16="http://schemas.microsoft.com/office/drawing/2014/main" id="{C17CFF5A-0A5A-92B1-449F-B7873FA60598}"/>
              </a:ext>
            </a:extLst>
          </p:cNvPr>
          <p:cNvPicPr>
            <a:picLocks noChangeAspect="1"/>
          </p:cNvPicPr>
          <p:nvPr/>
        </p:nvPicPr>
        <p:blipFill>
          <a:blip r:embed="rId2"/>
          <a:stretch>
            <a:fillRect/>
          </a:stretch>
        </p:blipFill>
        <p:spPr>
          <a:xfrm>
            <a:off x="161143" y="2445082"/>
            <a:ext cx="9447237" cy="3707927"/>
          </a:xfrm>
          <a:prstGeom prst="rect">
            <a:avLst/>
          </a:prstGeom>
        </p:spPr>
      </p:pic>
      <p:sp>
        <p:nvSpPr>
          <p:cNvPr id="4" name="CuadroTexto 3">
            <a:extLst>
              <a:ext uri="{FF2B5EF4-FFF2-40B4-BE49-F238E27FC236}">
                <a16:creationId xmlns:a16="http://schemas.microsoft.com/office/drawing/2014/main" id="{ECD645E4-2E1A-E5D5-2242-9185A7617CA3}"/>
              </a:ext>
            </a:extLst>
          </p:cNvPr>
          <p:cNvSpPr txBox="1"/>
          <p:nvPr/>
        </p:nvSpPr>
        <p:spPr>
          <a:xfrm>
            <a:off x="408708" y="611970"/>
            <a:ext cx="8805079" cy="707886"/>
          </a:xfrm>
          <a:prstGeom prst="rect">
            <a:avLst/>
          </a:prstGeom>
          <a:noFill/>
        </p:spPr>
        <p:txBody>
          <a:bodyPr wrap="square">
            <a:spAutoFit/>
          </a:bodyPr>
          <a:lstStyle/>
          <a:p>
            <a:pPr>
              <a:defRPr/>
            </a:pPr>
            <a:r>
              <a:rPr lang="es-AR" sz="4000" b="1" dirty="0">
                <a:solidFill>
                  <a:prstClr val="white"/>
                </a:solidFill>
                <a:ea typeface="+mn-lt"/>
                <a:cs typeface="+mn-lt"/>
              </a:rPr>
              <a:t>Ejemplo de </a:t>
            </a:r>
            <a:r>
              <a:rPr lang="es-AR" sz="4000" b="1" i="1" dirty="0" err="1">
                <a:solidFill>
                  <a:prstClr val="white"/>
                </a:solidFill>
                <a:ea typeface="+mn-lt"/>
                <a:cs typeface="+mn-lt"/>
              </a:rPr>
              <a:t>Liskov</a:t>
            </a:r>
            <a:r>
              <a:rPr lang="es-AR" sz="4000" b="1" i="1" dirty="0">
                <a:solidFill>
                  <a:prstClr val="white"/>
                </a:solidFill>
                <a:ea typeface="+mn-lt"/>
                <a:cs typeface="+mn-lt"/>
              </a:rPr>
              <a:t> </a:t>
            </a:r>
            <a:r>
              <a:rPr lang="es-AR" sz="4000" b="1" i="1" dirty="0" err="1">
                <a:solidFill>
                  <a:prstClr val="white"/>
                </a:solidFill>
                <a:ea typeface="+mn-lt"/>
                <a:cs typeface="+mn-lt"/>
              </a:rPr>
              <a:t>Substitution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Tree>
    <p:extLst>
      <p:ext uri="{BB962C8B-B14F-4D97-AF65-F5344CB8AC3E}">
        <p14:creationId xmlns:p14="http://schemas.microsoft.com/office/powerpoint/2010/main" val="2390950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B91F6-C729-DDB2-5BB5-13407C25A370}"/>
            </a:ext>
          </a:extLst>
        </p:cNvPr>
        <p:cNvGrpSpPr/>
        <p:nvPr/>
      </p:nvGrpSpPr>
      <p:grpSpPr>
        <a:xfrm>
          <a:off x="0" y="0"/>
          <a:ext cx="0" cy="0"/>
          <a:chOff x="0" y="0"/>
          <a:chExt cx="0" cy="0"/>
        </a:xfrm>
      </p:grpSpPr>
      <p:pic>
        <p:nvPicPr>
          <p:cNvPr id="4" name="Imagen 3" descr="Diagrama&#10;&#10;El contenido generado por IA puede ser incorrecto.">
            <a:extLst>
              <a:ext uri="{FF2B5EF4-FFF2-40B4-BE49-F238E27FC236}">
                <a16:creationId xmlns:a16="http://schemas.microsoft.com/office/drawing/2014/main" id="{3B7E58D4-1760-96D6-6E51-5B43C08C5453}"/>
              </a:ext>
            </a:extLst>
          </p:cNvPr>
          <p:cNvPicPr>
            <a:picLocks noChangeAspect="1"/>
          </p:cNvPicPr>
          <p:nvPr/>
        </p:nvPicPr>
        <p:blipFill>
          <a:blip r:embed="rId2"/>
          <a:stretch>
            <a:fillRect/>
          </a:stretch>
        </p:blipFill>
        <p:spPr>
          <a:xfrm>
            <a:off x="155314" y="2649443"/>
            <a:ext cx="9220058" cy="2753295"/>
          </a:xfrm>
          <a:prstGeom prst="rect">
            <a:avLst/>
          </a:prstGeom>
        </p:spPr>
      </p:pic>
      <p:sp>
        <p:nvSpPr>
          <p:cNvPr id="2" name="CuadroTexto 1">
            <a:extLst>
              <a:ext uri="{FF2B5EF4-FFF2-40B4-BE49-F238E27FC236}">
                <a16:creationId xmlns:a16="http://schemas.microsoft.com/office/drawing/2014/main" id="{95A1111A-A395-7730-813C-C28E0FDB21D5}"/>
              </a:ext>
            </a:extLst>
          </p:cNvPr>
          <p:cNvSpPr txBox="1"/>
          <p:nvPr/>
        </p:nvSpPr>
        <p:spPr>
          <a:xfrm>
            <a:off x="408708" y="611970"/>
            <a:ext cx="8966663" cy="707886"/>
          </a:xfrm>
          <a:prstGeom prst="rect">
            <a:avLst/>
          </a:prstGeom>
          <a:noFill/>
        </p:spPr>
        <p:txBody>
          <a:bodyPr wrap="square">
            <a:spAutoFit/>
          </a:bodyPr>
          <a:lstStyle/>
          <a:p>
            <a:pPr>
              <a:defRPr/>
            </a:pPr>
            <a:r>
              <a:rPr lang="es-AR" sz="4000" b="1" dirty="0">
                <a:solidFill>
                  <a:prstClr val="white"/>
                </a:solidFill>
                <a:ea typeface="+mn-lt"/>
                <a:cs typeface="+mn-lt"/>
              </a:rPr>
              <a:t>Ejemplo de </a:t>
            </a:r>
            <a:r>
              <a:rPr lang="es-AR" sz="4000" b="1" i="1" dirty="0" err="1">
                <a:solidFill>
                  <a:prstClr val="white"/>
                </a:solidFill>
                <a:ea typeface="+mn-lt"/>
                <a:cs typeface="+mn-lt"/>
              </a:rPr>
              <a:t>Liskov</a:t>
            </a:r>
            <a:r>
              <a:rPr lang="es-AR" sz="4000" b="1" i="1" dirty="0">
                <a:solidFill>
                  <a:prstClr val="white"/>
                </a:solidFill>
                <a:ea typeface="+mn-lt"/>
                <a:cs typeface="+mn-lt"/>
              </a:rPr>
              <a:t> </a:t>
            </a:r>
            <a:r>
              <a:rPr lang="es-AR" sz="4000" b="1" i="1" dirty="0" err="1">
                <a:solidFill>
                  <a:prstClr val="white"/>
                </a:solidFill>
                <a:ea typeface="+mn-lt"/>
                <a:cs typeface="+mn-lt"/>
              </a:rPr>
              <a:t>Substitution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Tree>
    <p:extLst>
      <p:ext uri="{BB962C8B-B14F-4D97-AF65-F5344CB8AC3E}">
        <p14:creationId xmlns:p14="http://schemas.microsoft.com/office/powerpoint/2010/main" val="1721380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B88A5-0403-DEBF-E159-2C1D9DF75DD8}"/>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755D13B4-9A2D-9B5F-76D9-D30F8A7CBED4}"/>
              </a:ext>
            </a:extLst>
          </p:cNvPr>
          <p:cNvSpPr txBox="1"/>
          <p:nvPr/>
        </p:nvSpPr>
        <p:spPr>
          <a:xfrm>
            <a:off x="1375424" y="2367002"/>
            <a:ext cx="9770096" cy="2123658"/>
          </a:xfrm>
          <a:prstGeom prst="rect">
            <a:avLst/>
          </a:prstGeom>
          <a:noFill/>
        </p:spPr>
        <p:txBody>
          <a:bodyPr wrap="square" lIns="91440" tIns="45720" rIns="91440" bIns="45720" rtlCol="0" anchor="t">
            <a:spAutoFit/>
          </a:bodyPr>
          <a:lstStyle/>
          <a:p>
            <a:pPr algn="ctr">
              <a:defRPr/>
            </a:pPr>
            <a:r>
              <a:rPr lang="es-AR" sz="6600" b="1" i="1" dirty="0">
                <a:solidFill>
                  <a:prstClr val="white"/>
                </a:solidFill>
                <a:ea typeface="+mn-lt"/>
                <a:cs typeface="+mn-lt"/>
              </a:rPr>
              <a:t>Interface </a:t>
            </a:r>
            <a:r>
              <a:rPr lang="es-AR" sz="6600" b="1" i="1" dirty="0" err="1">
                <a:solidFill>
                  <a:prstClr val="white"/>
                </a:solidFill>
                <a:ea typeface="+mn-lt"/>
                <a:cs typeface="+mn-lt"/>
              </a:rPr>
              <a:t>Segregation</a:t>
            </a:r>
            <a:r>
              <a:rPr lang="es-AR" sz="6600" b="1" i="1" dirty="0">
                <a:solidFill>
                  <a:prstClr val="white"/>
                </a:solidFill>
                <a:ea typeface="+mn-lt"/>
                <a:cs typeface="+mn-lt"/>
              </a:rPr>
              <a:t> </a:t>
            </a:r>
            <a:r>
              <a:rPr lang="es-AR" sz="6600" b="1" i="1" dirty="0" err="1">
                <a:solidFill>
                  <a:prstClr val="white"/>
                </a:solidFill>
                <a:ea typeface="+mn-lt"/>
                <a:cs typeface="+mn-lt"/>
              </a:rPr>
              <a:t>Principle</a:t>
            </a:r>
            <a:r>
              <a:rPr lang="es-AR" sz="6600" b="1" i="1" dirty="0">
                <a:solidFill>
                  <a:prstClr val="white"/>
                </a:solidFill>
                <a:ea typeface="+mn-lt"/>
                <a:cs typeface="+mn-lt"/>
              </a:rPr>
              <a:t> </a:t>
            </a:r>
            <a:r>
              <a:rPr lang="es-ES" sz="3200" i="1" dirty="0">
                <a:solidFill>
                  <a:schemeClr val="bg1"/>
                </a:solidFill>
              </a:rPr>
              <a:t>Principio de segregación de interfaz</a:t>
            </a:r>
            <a:endParaRPr lang="es-ES" sz="3200" b="1" i="1" dirty="0">
              <a:solidFill>
                <a:schemeClr val="bg1"/>
              </a:solidFill>
              <a:ea typeface="+mn-lt"/>
              <a:cs typeface="+mn-lt"/>
            </a:endParaRPr>
          </a:p>
        </p:txBody>
      </p:sp>
    </p:spTree>
    <p:extLst>
      <p:ext uri="{BB962C8B-B14F-4D97-AF65-F5344CB8AC3E}">
        <p14:creationId xmlns:p14="http://schemas.microsoft.com/office/powerpoint/2010/main" val="23329128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60B4F-AC14-51E3-9932-7E4F3DD6FD1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F42B32D-3556-47CC-7349-7E04199609BA}"/>
              </a:ext>
            </a:extLst>
          </p:cNvPr>
          <p:cNvSpPr txBox="1"/>
          <p:nvPr/>
        </p:nvSpPr>
        <p:spPr>
          <a:xfrm>
            <a:off x="364911" y="1718425"/>
            <a:ext cx="880508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s-ES" sz="2400" dirty="0">
              <a:ea typeface="+mn-lt"/>
              <a:cs typeface="+mn-lt"/>
            </a:endParaRPr>
          </a:p>
        </p:txBody>
      </p:sp>
      <p:pic>
        <p:nvPicPr>
          <p:cNvPr id="6" name="Imagen 5">
            <a:extLst>
              <a:ext uri="{FF2B5EF4-FFF2-40B4-BE49-F238E27FC236}">
                <a16:creationId xmlns:a16="http://schemas.microsoft.com/office/drawing/2014/main" id="{5464A944-E383-A87B-9D83-BF42175BD048}"/>
              </a:ext>
            </a:extLst>
          </p:cNvPr>
          <p:cNvPicPr>
            <a:picLocks noChangeAspect="1"/>
          </p:cNvPicPr>
          <p:nvPr/>
        </p:nvPicPr>
        <p:blipFill>
          <a:blip r:embed="rId2"/>
          <a:stretch>
            <a:fillRect/>
          </a:stretch>
        </p:blipFill>
        <p:spPr>
          <a:xfrm>
            <a:off x="2110641" y="1718425"/>
            <a:ext cx="5821197" cy="47167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CuadroTexto 4">
            <a:extLst>
              <a:ext uri="{FF2B5EF4-FFF2-40B4-BE49-F238E27FC236}">
                <a16:creationId xmlns:a16="http://schemas.microsoft.com/office/drawing/2014/main" id="{DB1FE134-7E6C-CB70-4430-81FADDDE5394}"/>
              </a:ext>
            </a:extLst>
          </p:cNvPr>
          <p:cNvSpPr txBox="1"/>
          <p:nvPr/>
        </p:nvSpPr>
        <p:spPr>
          <a:xfrm>
            <a:off x="364911" y="609187"/>
            <a:ext cx="8805080" cy="707886"/>
          </a:xfrm>
          <a:prstGeom prst="rect">
            <a:avLst/>
          </a:prstGeom>
          <a:noFill/>
        </p:spPr>
        <p:txBody>
          <a:bodyPr wrap="square">
            <a:spAutoFit/>
          </a:bodyPr>
          <a:lstStyle/>
          <a:p>
            <a:pPr>
              <a:defRPr/>
            </a:pPr>
            <a:r>
              <a:rPr lang="es-AR" sz="4000" b="1" i="1" dirty="0">
                <a:solidFill>
                  <a:prstClr val="white"/>
                </a:solidFill>
                <a:ea typeface="+mn-lt"/>
                <a:cs typeface="+mn-lt"/>
              </a:rPr>
              <a:t>Interface </a:t>
            </a:r>
            <a:r>
              <a:rPr lang="es-AR" sz="4000" b="1" i="1" dirty="0" err="1">
                <a:solidFill>
                  <a:prstClr val="white"/>
                </a:solidFill>
                <a:ea typeface="+mn-lt"/>
                <a:cs typeface="+mn-lt"/>
              </a:rPr>
              <a:t>Segregation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
        <p:nvSpPr>
          <p:cNvPr id="2" name="CuadroTexto 1">
            <a:extLst>
              <a:ext uri="{FF2B5EF4-FFF2-40B4-BE49-F238E27FC236}">
                <a16:creationId xmlns:a16="http://schemas.microsoft.com/office/drawing/2014/main" id="{90D58E56-0E55-45C0-BDE2-A4637DDFB442}"/>
              </a:ext>
            </a:extLst>
          </p:cNvPr>
          <p:cNvSpPr txBox="1"/>
          <p:nvPr/>
        </p:nvSpPr>
        <p:spPr>
          <a:xfrm>
            <a:off x="8178800" y="2708254"/>
            <a:ext cx="1422400" cy="1200329"/>
          </a:xfrm>
          <a:prstGeom prst="rect">
            <a:avLst/>
          </a:prstGeom>
          <a:noFill/>
        </p:spPr>
        <p:txBody>
          <a:bodyPr wrap="square" rtlCol="0">
            <a:spAutoFit/>
          </a:bodyPr>
          <a:lstStyle/>
          <a:p>
            <a:r>
              <a:rPr lang="es-ES" dirty="0"/>
              <a:t>¿Quieres que registre esto? ¿Dónde?</a:t>
            </a:r>
            <a:endParaRPr lang="es-AR" dirty="0"/>
          </a:p>
        </p:txBody>
      </p:sp>
    </p:spTree>
    <p:extLst>
      <p:ext uri="{BB962C8B-B14F-4D97-AF65-F5344CB8AC3E}">
        <p14:creationId xmlns:p14="http://schemas.microsoft.com/office/powerpoint/2010/main" val="41101777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9352A-2DC6-9D7D-15D1-CBA46C457D93}"/>
            </a:ext>
          </a:extLst>
        </p:cNvPr>
        <p:cNvGrpSpPr/>
        <p:nvPr/>
      </p:nvGrpSpPr>
      <p:grpSpPr>
        <a:xfrm>
          <a:off x="0" y="0"/>
          <a:ext cx="0" cy="0"/>
          <a:chOff x="0" y="0"/>
          <a:chExt cx="0" cy="0"/>
        </a:xfrm>
      </p:grpSpPr>
      <p:graphicFrame>
        <p:nvGraphicFramePr>
          <p:cNvPr id="4" name="Diagrama 3">
            <a:extLst>
              <a:ext uri="{FF2B5EF4-FFF2-40B4-BE49-F238E27FC236}">
                <a16:creationId xmlns:a16="http://schemas.microsoft.com/office/drawing/2014/main" id="{08C914D9-C724-6901-AABA-F931F4EAC0D6}"/>
              </a:ext>
            </a:extLst>
          </p:cNvPr>
          <p:cNvGraphicFramePr/>
          <p:nvPr>
            <p:extLst>
              <p:ext uri="{D42A27DB-BD31-4B8C-83A1-F6EECF244321}">
                <p14:modId xmlns:p14="http://schemas.microsoft.com/office/powerpoint/2010/main" val="4111105698"/>
              </p:ext>
            </p:extLst>
          </p:nvPr>
        </p:nvGraphicFramePr>
        <p:xfrm>
          <a:off x="517312" y="1875788"/>
          <a:ext cx="8391162" cy="40123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CuadroTexto 1">
            <a:extLst>
              <a:ext uri="{FF2B5EF4-FFF2-40B4-BE49-F238E27FC236}">
                <a16:creationId xmlns:a16="http://schemas.microsoft.com/office/drawing/2014/main" id="{19541D36-554C-3EB3-0A14-DE116E681EFA}"/>
              </a:ext>
            </a:extLst>
          </p:cNvPr>
          <p:cNvSpPr txBox="1"/>
          <p:nvPr/>
        </p:nvSpPr>
        <p:spPr>
          <a:xfrm>
            <a:off x="364911" y="609187"/>
            <a:ext cx="8805080" cy="707886"/>
          </a:xfrm>
          <a:prstGeom prst="rect">
            <a:avLst/>
          </a:prstGeom>
          <a:noFill/>
        </p:spPr>
        <p:txBody>
          <a:bodyPr wrap="square">
            <a:spAutoFit/>
          </a:bodyPr>
          <a:lstStyle/>
          <a:p>
            <a:pPr>
              <a:defRPr/>
            </a:pPr>
            <a:r>
              <a:rPr lang="es-AR" sz="4000" b="1" i="1" dirty="0">
                <a:solidFill>
                  <a:prstClr val="white"/>
                </a:solidFill>
                <a:ea typeface="+mn-lt"/>
                <a:cs typeface="+mn-lt"/>
              </a:rPr>
              <a:t>Interface </a:t>
            </a:r>
            <a:r>
              <a:rPr lang="es-AR" sz="4000" b="1" i="1" dirty="0" err="1">
                <a:solidFill>
                  <a:prstClr val="white"/>
                </a:solidFill>
                <a:ea typeface="+mn-lt"/>
                <a:cs typeface="+mn-lt"/>
              </a:rPr>
              <a:t>Segregation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Tree>
    <p:extLst>
      <p:ext uri="{BB962C8B-B14F-4D97-AF65-F5344CB8AC3E}">
        <p14:creationId xmlns:p14="http://schemas.microsoft.com/office/powerpoint/2010/main" val="1225251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E249B-363B-2776-2363-435AC4527654}"/>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36BE891D-06F3-13F2-695F-7CAB407F2F1D}"/>
              </a:ext>
            </a:extLst>
          </p:cNvPr>
          <p:cNvSpPr txBox="1"/>
          <p:nvPr/>
        </p:nvSpPr>
        <p:spPr>
          <a:xfrm>
            <a:off x="5414583" y="2349102"/>
            <a:ext cx="3546538"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s-ES" sz="2000" dirty="0">
                <a:ea typeface="+mn-lt"/>
                <a:cs typeface="+mn-lt"/>
              </a:rPr>
              <a:t>Una empresa tiene, históricamente, procesos que efectúan los operarios. Al llegar a la mañana inician el proceso, al medio día lo suspenden para almorzar y luego lo reanudan para finalizarlo al final de la jornada laboral. Años después deciden adquirir un robot para automatizar algunos procesos</a:t>
            </a:r>
            <a:endParaRPr lang="es-ES" sz="1600" dirty="0"/>
          </a:p>
        </p:txBody>
      </p:sp>
      <p:pic>
        <p:nvPicPr>
          <p:cNvPr id="2" name="Imagen 1" descr="Diagrama&#10;&#10;El contenido generado por IA puede ser incorrecto.">
            <a:extLst>
              <a:ext uri="{FF2B5EF4-FFF2-40B4-BE49-F238E27FC236}">
                <a16:creationId xmlns:a16="http://schemas.microsoft.com/office/drawing/2014/main" id="{1EE44753-ED5D-E0D5-0C28-28874CA153BA}"/>
              </a:ext>
            </a:extLst>
          </p:cNvPr>
          <p:cNvPicPr>
            <a:picLocks noChangeAspect="1"/>
          </p:cNvPicPr>
          <p:nvPr/>
        </p:nvPicPr>
        <p:blipFill>
          <a:blip r:embed="rId2"/>
          <a:stretch>
            <a:fillRect/>
          </a:stretch>
        </p:blipFill>
        <p:spPr>
          <a:xfrm>
            <a:off x="540679" y="2349102"/>
            <a:ext cx="4703115" cy="2862435"/>
          </a:xfrm>
          <a:prstGeom prst="rect">
            <a:avLst/>
          </a:prstGeom>
        </p:spPr>
      </p:pic>
      <p:sp>
        <p:nvSpPr>
          <p:cNvPr id="4" name="CuadroTexto 3">
            <a:extLst>
              <a:ext uri="{FF2B5EF4-FFF2-40B4-BE49-F238E27FC236}">
                <a16:creationId xmlns:a16="http://schemas.microsoft.com/office/drawing/2014/main" id="{AD26E033-462A-C5A2-88B2-F26B865E8560}"/>
              </a:ext>
            </a:extLst>
          </p:cNvPr>
          <p:cNvSpPr txBox="1"/>
          <p:nvPr/>
        </p:nvSpPr>
        <p:spPr>
          <a:xfrm>
            <a:off x="364911" y="273907"/>
            <a:ext cx="8805080" cy="1323439"/>
          </a:xfrm>
          <a:prstGeom prst="rect">
            <a:avLst/>
          </a:prstGeom>
          <a:noFill/>
        </p:spPr>
        <p:txBody>
          <a:bodyPr wrap="square">
            <a:spAutoFit/>
          </a:bodyPr>
          <a:lstStyle/>
          <a:p>
            <a:pPr>
              <a:defRPr/>
            </a:pPr>
            <a:r>
              <a:rPr lang="es-AR" sz="4000" b="1" dirty="0">
                <a:solidFill>
                  <a:prstClr val="white"/>
                </a:solidFill>
                <a:ea typeface="+mn-lt"/>
                <a:cs typeface="+mn-lt"/>
              </a:rPr>
              <a:t>Ejemplo de </a:t>
            </a:r>
            <a:r>
              <a:rPr lang="es-AR" sz="4000" b="1" i="1" dirty="0">
                <a:solidFill>
                  <a:prstClr val="white"/>
                </a:solidFill>
                <a:ea typeface="+mn-lt"/>
                <a:cs typeface="+mn-lt"/>
              </a:rPr>
              <a:t>Interface </a:t>
            </a:r>
            <a:r>
              <a:rPr lang="es-AR" sz="4000" b="1" i="1" dirty="0" err="1">
                <a:solidFill>
                  <a:prstClr val="white"/>
                </a:solidFill>
                <a:ea typeface="+mn-lt"/>
                <a:cs typeface="+mn-lt"/>
              </a:rPr>
              <a:t>Segregation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
        <p:nvSpPr>
          <p:cNvPr id="3" name="CuadroTexto 2">
            <a:extLst>
              <a:ext uri="{FF2B5EF4-FFF2-40B4-BE49-F238E27FC236}">
                <a16:creationId xmlns:a16="http://schemas.microsoft.com/office/drawing/2014/main" id="{E73DB541-B2FE-980C-B2AE-1FFA465BF262}"/>
              </a:ext>
            </a:extLst>
          </p:cNvPr>
          <p:cNvSpPr txBox="1"/>
          <p:nvPr/>
        </p:nvSpPr>
        <p:spPr>
          <a:xfrm>
            <a:off x="799381" y="5716438"/>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solidFill>
                  <a:srgbClr val="333333"/>
                </a:solidFill>
                <a:latin typeface="Segoe UI"/>
                <a:cs typeface="Segoe UI"/>
              </a:rPr>
              <a:t>Fuente: </a:t>
            </a:r>
            <a:r>
              <a:rPr lang="en-US" sz="1200" dirty="0" err="1">
                <a:solidFill>
                  <a:srgbClr val="333333"/>
                </a:solidFill>
                <a:latin typeface="Segoe UI"/>
                <a:cs typeface="Segoe UI"/>
              </a:rPr>
              <a:t>starUML</a:t>
            </a:r>
            <a:r>
              <a:rPr lang="en-US" sz="1200" dirty="0">
                <a:solidFill>
                  <a:srgbClr val="333333"/>
                </a:solidFill>
                <a:latin typeface="Segoe UI"/>
                <a:cs typeface="Segoe UI"/>
              </a:rPr>
              <a:t> </a:t>
            </a:r>
            <a:endParaRPr lang="en-US" sz="1200" dirty="0"/>
          </a:p>
        </p:txBody>
      </p:sp>
    </p:spTree>
    <p:extLst>
      <p:ext uri="{BB962C8B-B14F-4D97-AF65-F5344CB8AC3E}">
        <p14:creationId xmlns:p14="http://schemas.microsoft.com/office/powerpoint/2010/main" val="41323705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4F5BE-7882-9FFA-EDDC-1DF319C094CA}"/>
            </a:ext>
          </a:extLst>
        </p:cNvPr>
        <p:cNvGrpSpPr/>
        <p:nvPr/>
      </p:nvGrpSpPr>
      <p:grpSpPr>
        <a:xfrm>
          <a:off x="0" y="0"/>
          <a:ext cx="0" cy="0"/>
          <a:chOff x="0" y="0"/>
          <a:chExt cx="0" cy="0"/>
        </a:xfrm>
      </p:grpSpPr>
      <p:pic>
        <p:nvPicPr>
          <p:cNvPr id="4" name="Imagen 3" descr="Diagrama, Escala de tiempo&#10;&#10;El contenido generado por IA puede ser incorrecto.">
            <a:extLst>
              <a:ext uri="{FF2B5EF4-FFF2-40B4-BE49-F238E27FC236}">
                <a16:creationId xmlns:a16="http://schemas.microsoft.com/office/drawing/2014/main" id="{D9D3BD47-4DFE-1DC9-AF0A-8337A020CFE8}"/>
              </a:ext>
            </a:extLst>
          </p:cNvPr>
          <p:cNvPicPr>
            <a:picLocks noChangeAspect="1"/>
          </p:cNvPicPr>
          <p:nvPr/>
        </p:nvPicPr>
        <p:blipFill>
          <a:blip r:embed="rId2"/>
          <a:stretch>
            <a:fillRect/>
          </a:stretch>
        </p:blipFill>
        <p:spPr>
          <a:xfrm>
            <a:off x="0" y="2029874"/>
            <a:ext cx="9544050" cy="3800475"/>
          </a:xfrm>
          <a:prstGeom prst="rect">
            <a:avLst/>
          </a:prstGeom>
        </p:spPr>
      </p:pic>
      <p:sp>
        <p:nvSpPr>
          <p:cNvPr id="2" name="CuadroTexto 1">
            <a:extLst>
              <a:ext uri="{FF2B5EF4-FFF2-40B4-BE49-F238E27FC236}">
                <a16:creationId xmlns:a16="http://schemas.microsoft.com/office/drawing/2014/main" id="{B77756AE-07FE-E611-CAC5-76C13804164B}"/>
              </a:ext>
            </a:extLst>
          </p:cNvPr>
          <p:cNvSpPr txBox="1"/>
          <p:nvPr/>
        </p:nvSpPr>
        <p:spPr>
          <a:xfrm>
            <a:off x="364911" y="273907"/>
            <a:ext cx="8805080" cy="1323439"/>
          </a:xfrm>
          <a:prstGeom prst="rect">
            <a:avLst/>
          </a:prstGeom>
          <a:noFill/>
        </p:spPr>
        <p:txBody>
          <a:bodyPr wrap="square">
            <a:spAutoFit/>
          </a:bodyPr>
          <a:lstStyle/>
          <a:p>
            <a:pPr>
              <a:defRPr/>
            </a:pPr>
            <a:r>
              <a:rPr lang="es-AR" sz="4000" b="1" dirty="0">
                <a:solidFill>
                  <a:prstClr val="white"/>
                </a:solidFill>
                <a:ea typeface="+mn-lt"/>
                <a:cs typeface="+mn-lt"/>
              </a:rPr>
              <a:t>Ejemplo de </a:t>
            </a:r>
            <a:r>
              <a:rPr lang="es-AR" sz="4000" b="1" i="1" dirty="0">
                <a:solidFill>
                  <a:prstClr val="white"/>
                </a:solidFill>
                <a:ea typeface="+mn-lt"/>
                <a:cs typeface="+mn-lt"/>
              </a:rPr>
              <a:t>Interface </a:t>
            </a:r>
            <a:r>
              <a:rPr lang="es-AR" sz="4000" b="1" i="1" dirty="0" err="1">
                <a:solidFill>
                  <a:prstClr val="white"/>
                </a:solidFill>
                <a:ea typeface="+mn-lt"/>
                <a:cs typeface="+mn-lt"/>
              </a:rPr>
              <a:t>Segregation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Tree>
    <p:extLst>
      <p:ext uri="{BB962C8B-B14F-4D97-AF65-F5344CB8AC3E}">
        <p14:creationId xmlns:p14="http://schemas.microsoft.com/office/powerpoint/2010/main" val="38845664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C3536-DAD3-6D46-E63D-80A49B6E3097}"/>
            </a:ext>
          </a:extLst>
        </p:cNvPr>
        <p:cNvGrpSpPr/>
        <p:nvPr/>
      </p:nvGrpSpPr>
      <p:grpSpPr>
        <a:xfrm>
          <a:off x="0" y="0"/>
          <a:ext cx="0" cy="0"/>
          <a:chOff x="0" y="0"/>
          <a:chExt cx="0" cy="0"/>
        </a:xfrm>
      </p:grpSpPr>
      <p:pic>
        <p:nvPicPr>
          <p:cNvPr id="2" name="Imagen 1" descr="Imagen que contiene Diagrama&#10;&#10;El contenido generado por IA puede ser incorrecto.">
            <a:extLst>
              <a:ext uri="{FF2B5EF4-FFF2-40B4-BE49-F238E27FC236}">
                <a16:creationId xmlns:a16="http://schemas.microsoft.com/office/drawing/2014/main" id="{B90C4EA9-7267-58B9-C7C0-1901E4701729}"/>
              </a:ext>
            </a:extLst>
          </p:cNvPr>
          <p:cNvPicPr>
            <a:picLocks noChangeAspect="1"/>
          </p:cNvPicPr>
          <p:nvPr/>
        </p:nvPicPr>
        <p:blipFill>
          <a:blip r:embed="rId2"/>
          <a:stretch>
            <a:fillRect/>
          </a:stretch>
        </p:blipFill>
        <p:spPr>
          <a:xfrm>
            <a:off x="224268" y="1849577"/>
            <a:ext cx="9086366" cy="4206014"/>
          </a:xfrm>
          <a:prstGeom prst="rect">
            <a:avLst/>
          </a:prstGeom>
        </p:spPr>
      </p:pic>
      <p:sp>
        <p:nvSpPr>
          <p:cNvPr id="4" name="CuadroTexto 3">
            <a:extLst>
              <a:ext uri="{FF2B5EF4-FFF2-40B4-BE49-F238E27FC236}">
                <a16:creationId xmlns:a16="http://schemas.microsoft.com/office/drawing/2014/main" id="{FE6DFEF4-DF99-913E-5C3B-1611399A1420}"/>
              </a:ext>
            </a:extLst>
          </p:cNvPr>
          <p:cNvSpPr txBox="1"/>
          <p:nvPr/>
        </p:nvSpPr>
        <p:spPr>
          <a:xfrm>
            <a:off x="364911" y="273907"/>
            <a:ext cx="8805080" cy="1323439"/>
          </a:xfrm>
          <a:prstGeom prst="rect">
            <a:avLst/>
          </a:prstGeom>
          <a:noFill/>
        </p:spPr>
        <p:txBody>
          <a:bodyPr wrap="square">
            <a:spAutoFit/>
          </a:bodyPr>
          <a:lstStyle/>
          <a:p>
            <a:pPr>
              <a:defRPr/>
            </a:pPr>
            <a:r>
              <a:rPr lang="es-AR" sz="4000" b="1" dirty="0">
                <a:solidFill>
                  <a:prstClr val="white"/>
                </a:solidFill>
                <a:ea typeface="+mn-lt"/>
                <a:cs typeface="+mn-lt"/>
              </a:rPr>
              <a:t>Ejemplo de </a:t>
            </a:r>
            <a:r>
              <a:rPr lang="es-AR" sz="4000" b="1" i="1" dirty="0">
                <a:solidFill>
                  <a:prstClr val="white"/>
                </a:solidFill>
                <a:ea typeface="+mn-lt"/>
                <a:cs typeface="+mn-lt"/>
              </a:rPr>
              <a:t>Interface </a:t>
            </a:r>
            <a:r>
              <a:rPr lang="es-AR" sz="4000" b="1" i="1" dirty="0" err="1">
                <a:solidFill>
                  <a:prstClr val="white"/>
                </a:solidFill>
                <a:ea typeface="+mn-lt"/>
                <a:cs typeface="+mn-lt"/>
              </a:rPr>
              <a:t>Segregation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Tree>
    <p:extLst>
      <p:ext uri="{BB962C8B-B14F-4D97-AF65-F5344CB8AC3E}">
        <p14:creationId xmlns:p14="http://schemas.microsoft.com/office/powerpoint/2010/main" val="3203978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2E9ED-5ABF-060F-A9B3-93B3E370300D}"/>
            </a:ext>
          </a:extLst>
        </p:cNvPr>
        <p:cNvGrpSpPr/>
        <p:nvPr/>
      </p:nvGrpSpPr>
      <p:grpSpPr>
        <a:xfrm>
          <a:off x="0" y="0"/>
          <a:ext cx="0" cy="0"/>
          <a:chOff x="0" y="0"/>
          <a:chExt cx="0" cy="0"/>
        </a:xfrm>
      </p:grpSpPr>
      <p:pic>
        <p:nvPicPr>
          <p:cNvPr id="4" name="Imagen 3" descr="Diagrama&#10;&#10;El contenido generado por IA puede ser incorrecto.">
            <a:extLst>
              <a:ext uri="{FF2B5EF4-FFF2-40B4-BE49-F238E27FC236}">
                <a16:creationId xmlns:a16="http://schemas.microsoft.com/office/drawing/2014/main" id="{44776EDD-DE82-1DC0-8B6D-3B8F6BBC297C}"/>
              </a:ext>
            </a:extLst>
          </p:cNvPr>
          <p:cNvPicPr>
            <a:picLocks noChangeAspect="1"/>
          </p:cNvPicPr>
          <p:nvPr/>
        </p:nvPicPr>
        <p:blipFill>
          <a:blip r:embed="rId2"/>
          <a:stretch>
            <a:fillRect/>
          </a:stretch>
        </p:blipFill>
        <p:spPr>
          <a:xfrm>
            <a:off x="189622" y="2031498"/>
            <a:ext cx="9155658" cy="3553820"/>
          </a:xfrm>
          <a:prstGeom prst="rect">
            <a:avLst/>
          </a:prstGeom>
        </p:spPr>
      </p:pic>
      <p:sp>
        <p:nvSpPr>
          <p:cNvPr id="2" name="CuadroTexto 1">
            <a:extLst>
              <a:ext uri="{FF2B5EF4-FFF2-40B4-BE49-F238E27FC236}">
                <a16:creationId xmlns:a16="http://schemas.microsoft.com/office/drawing/2014/main" id="{F367C7BB-3311-0331-7F96-4255E2BF10BC}"/>
              </a:ext>
            </a:extLst>
          </p:cNvPr>
          <p:cNvSpPr txBox="1"/>
          <p:nvPr/>
        </p:nvSpPr>
        <p:spPr>
          <a:xfrm>
            <a:off x="364911" y="273907"/>
            <a:ext cx="8805080" cy="1323439"/>
          </a:xfrm>
          <a:prstGeom prst="rect">
            <a:avLst/>
          </a:prstGeom>
          <a:noFill/>
        </p:spPr>
        <p:txBody>
          <a:bodyPr wrap="square">
            <a:spAutoFit/>
          </a:bodyPr>
          <a:lstStyle/>
          <a:p>
            <a:pPr>
              <a:defRPr/>
            </a:pPr>
            <a:r>
              <a:rPr lang="es-AR" sz="4000" b="1" dirty="0">
                <a:solidFill>
                  <a:prstClr val="white"/>
                </a:solidFill>
                <a:ea typeface="+mn-lt"/>
                <a:cs typeface="+mn-lt"/>
              </a:rPr>
              <a:t>Ejemplo de </a:t>
            </a:r>
            <a:r>
              <a:rPr lang="es-AR" sz="4000" b="1" i="1" dirty="0">
                <a:solidFill>
                  <a:prstClr val="white"/>
                </a:solidFill>
                <a:ea typeface="+mn-lt"/>
                <a:cs typeface="+mn-lt"/>
              </a:rPr>
              <a:t>Interface </a:t>
            </a:r>
            <a:r>
              <a:rPr lang="es-AR" sz="4000" b="1" i="1" dirty="0" err="1">
                <a:solidFill>
                  <a:prstClr val="white"/>
                </a:solidFill>
                <a:ea typeface="+mn-lt"/>
                <a:cs typeface="+mn-lt"/>
              </a:rPr>
              <a:t>Segregation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Tree>
    <p:extLst>
      <p:ext uri="{BB962C8B-B14F-4D97-AF65-F5344CB8AC3E}">
        <p14:creationId xmlns:p14="http://schemas.microsoft.com/office/powerpoint/2010/main" val="8176147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19748-84A0-E110-9107-295FFD1BAAD0}"/>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AD29C341-DD03-9CD4-6579-E6A2C9B1B92D}"/>
              </a:ext>
            </a:extLst>
          </p:cNvPr>
          <p:cNvSpPr txBox="1"/>
          <p:nvPr/>
        </p:nvSpPr>
        <p:spPr>
          <a:xfrm>
            <a:off x="701040" y="2367002"/>
            <a:ext cx="9830789" cy="2123658"/>
          </a:xfrm>
          <a:prstGeom prst="rect">
            <a:avLst/>
          </a:prstGeom>
          <a:noFill/>
        </p:spPr>
        <p:txBody>
          <a:bodyPr wrap="square" lIns="91440" tIns="45720" rIns="91440" bIns="45720" rtlCol="0" anchor="t">
            <a:spAutoFit/>
          </a:bodyPr>
          <a:lstStyle/>
          <a:p>
            <a:pPr algn="ctr">
              <a:defRPr/>
            </a:pPr>
            <a:r>
              <a:rPr lang="es-AR" sz="6600" b="1" i="1" dirty="0" err="1">
                <a:solidFill>
                  <a:prstClr val="white"/>
                </a:solidFill>
                <a:ea typeface="+mn-lt"/>
                <a:cs typeface="+mn-lt"/>
              </a:rPr>
              <a:t>Dependency</a:t>
            </a:r>
            <a:r>
              <a:rPr lang="es-AR" sz="6600" b="1" i="1" dirty="0">
                <a:solidFill>
                  <a:prstClr val="white"/>
                </a:solidFill>
                <a:ea typeface="+mn-lt"/>
                <a:cs typeface="+mn-lt"/>
              </a:rPr>
              <a:t> </a:t>
            </a:r>
            <a:r>
              <a:rPr lang="es-AR" sz="6600" b="1" i="1" dirty="0" err="1">
                <a:solidFill>
                  <a:prstClr val="white"/>
                </a:solidFill>
                <a:ea typeface="+mn-lt"/>
                <a:cs typeface="+mn-lt"/>
              </a:rPr>
              <a:t>Inversion</a:t>
            </a:r>
            <a:r>
              <a:rPr lang="es-AR" sz="6600" b="1" i="1" dirty="0">
                <a:solidFill>
                  <a:prstClr val="white"/>
                </a:solidFill>
                <a:ea typeface="+mn-lt"/>
                <a:cs typeface="+mn-lt"/>
              </a:rPr>
              <a:t> </a:t>
            </a:r>
            <a:r>
              <a:rPr lang="es-AR" sz="6600" b="1" i="1" dirty="0" err="1">
                <a:solidFill>
                  <a:prstClr val="white"/>
                </a:solidFill>
                <a:ea typeface="+mn-lt"/>
                <a:cs typeface="+mn-lt"/>
              </a:rPr>
              <a:t>Principle</a:t>
            </a:r>
            <a:r>
              <a:rPr lang="es-AR" sz="6600" b="1" i="1" dirty="0">
                <a:solidFill>
                  <a:prstClr val="white"/>
                </a:solidFill>
                <a:ea typeface="+mn-lt"/>
                <a:cs typeface="+mn-lt"/>
              </a:rPr>
              <a:t> </a:t>
            </a:r>
            <a:r>
              <a:rPr lang="es-ES" sz="3200" i="1" dirty="0">
                <a:solidFill>
                  <a:schemeClr val="bg1"/>
                </a:solidFill>
              </a:rPr>
              <a:t>Principio de inversión de dependencia</a:t>
            </a:r>
            <a:endParaRPr lang="es-ES" sz="3200" b="1" i="1" dirty="0">
              <a:solidFill>
                <a:schemeClr val="bg1"/>
              </a:solidFill>
              <a:ea typeface="+mn-lt"/>
              <a:cs typeface="+mn-lt"/>
            </a:endParaRPr>
          </a:p>
        </p:txBody>
      </p:sp>
    </p:spTree>
    <p:extLst>
      <p:ext uri="{BB962C8B-B14F-4D97-AF65-F5344CB8AC3E}">
        <p14:creationId xmlns:p14="http://schemas.microsoft.com/office/powerpoint/2010/main" val="7456303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8F010-9446-D2BC-7AE7-E5D688F72470}"/>
            </a:ext>
          </a:extLst>
        </p:cNvPr>
        <p:cNvGrpSpPr/>
        <p:nvPr/>
      </p:nvGrpSpPr>
      <p:grpSpPr>
        <a:xfrm>
          <a:off x="0" y="0"/>
          <a:ext cx="0" cy="0"/>
          <a:chOff x="0" y="0"/>
          <a:chExt cx="0" cy="0"/>
        </a:xfrm>
      </p:grpSpPr>
      <p:pic>
        <p:nvPicPr>
          <p:cNvPr id="2" name="Imagen 1" descr="Diagrama, Esquemático&#10;&#10;El contenido generado por IA puede ser incorrecto.">
            <a:extLst>
              <a:ext uri="{FF2B5EF4-FFF2-40B4-BE49-F238E27FC236}">
                <a16:creationId xmlns:a16="http://schemas.microsoft.com/office/drawing/2014/main" id="{D75774BC-7DA2-3669-5C87-A079AC3DE694}"/>
              </a:ext>
            </a:extLst>
          </p:cNvPr>
          <p:cNvPicPr>
            <a:picLocks noChangeAspect="1"/>
          </p:cNvPicPr>
          <p:nvPr/>
        </p:nvPicPr>
        <p:blipFill>
          <a:blip r:embed="rId2"/>
          <a:stretch>
            <a:fillRect/>
          </a:stretch>
        </p:blipFill>
        <p:spPr>
          <a:xfrm>
            <a:off x="1774209" y="1614662"/>
            <a:ext cx="6178300" cy="495008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CuadroTexto 3">
            <a:extLst>
              <a:ext uri="{FF2B5EF4-FFF2-40B4-BE49-F238E27FC236}">
                <a16:creationId xmlns:a16="http://schemas.microsoft.com/office/drawing/2014/main" id="{A6EC4111-B3DB-057B-C99F-D563B702F314}"/>
              </a:ext>
            </a:extLst>
          </p:cNvPr>
          <p:cNvSpPr txBox="1"/>
          <p:nvPr/>
        </p:nvSpPr>
        <p:spPr>
          <a:xfrm>
            <a:off x="477982" y="556553"/>
            <a:ext cx="8056418" cy="707886"/>
          </a:xfrm>
          <a:prstGeom prst="rect">
            <a:avLst/>
          </a:prstGeom>
          <a:noFill/>
        </p:spPr>
        <p:txBody>
          <a:bodyPr wrap="square">
            <a:spAutoFit/>
          </a:bodyPr>
          <a:lstStyle/>
          <a:p>
            <a:pPr>
              <a:defRPr/>
            </a:pPr>
            <a:r>
              <a:rPr lang="es-AR" sz="4000" b="1" i="1" dirty="0" err="1">
                <a:solidFill>
                  <a:prstClr val="white"/>
                </a:solidFill>
                <a:ea typeface="+mn-lt"/>
                <a:cs typeface="+mn-lt"/>
              </a:rPr>
              <a:t>Dependency</a:t>
            </a:r>
            <a:r>
              <a:rPr lang="es-AR" sz="4000" b="1" i="1" dirty="0">
                <a:solidFill>
                  <a:prstClr val="white"/>
                </a:solidFill>
                <a:ea typeface="+mn-lt"/>
                <a:cs typeface="+mn-lt"/>
              </a:rPr>
              <a:t> </a:t>
            </a:r>
            <a:r>
              <a:rPr lang="es-AR" sz="4000" b="1" i="1" dirty="0" err="1">
                <a:solidFill>
                  <a:prstClr val="white"/>
                </a:solidFill>
                <a:ea typeface="+mn-lt"/>
                <a:cs typeface="+mn-lt"/>
              </a:rPr>
              <a:t>Inversion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
        <p:nvSpPr>
          <p:cNvPr id="3" name="CuadroTexto 2">
            <a:extLst>
              <a:ext uri="{FF2B5EF4-FFF2-40B4-BE49-F238E27FC236}">
                <a16:creationId xmlns:a16="http://schemas.microsoft.com/office/drawing/2014/main" id="{A828CE26-6D31-9477-B681-12F022E08BB4}"/>
              </a:ext>
            </a:extLst>
          </p:cNvPr>
          <p:cNvSpPr txBox="1"/>
          <p:nvPr/>
        </p:nvSpPr>
        <p:spPr>
          <a:xfrm>
            <a:off x="8294063" y="2479039"/>
            <a:ext cx="1501577" cy="1754326"/>
          </a:xfrm>
          <a:prstGeom prst="rect">
            <a:avLst/>
          </a:prstGeom>
          <a:noFill/>
        </p:spPr>
        <p:txBody>
          <a:bodyPr wrap="square" rtlCol="0">
            <a:spAutoFit/>
          </a:bodyPr>
          <a:lstStyle/>
          <a:p>
            <a:r>
              <a:rPr lang="es-ES" dirty="0"/>
              <a:t>¿Soldarías una lámpara directamente al cableado eléctrico de una pared?</a:t>
            </a:r>
            <a:endParaRPr lang="es-AR" dirty="0"/>
          </a:p>
        </p:txBody>
      </p:sp>
    </p:spTree>
    <p:extLst>
      <p:ext uri="{BB962C8B-B14F-4D97-AF65-F5344CB8AC3E}">
        <p14:creationId xmlns:p14="http://schemas.microsoft.com/office/powerpoint/2010/main" val="40691251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4619D-269C-2BCA-B333-41703C863541}"/>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27BCC4C5-CAFD-6B62-C60A-9224872E193F}"/>
              </a:ext>
            </a:extLst>
          </p:cNvPr>
          <p:cNvSpPr txBox="1"/>
          <p:nvPr/>
        </p:nvSpPr>
        <p:spPr>
          <a:xfrm>
            <a:off x="586585" y="2152879"/>
            <a:ext cx="8405016"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Clr>
                <a:schemeClr val="accent5"/>
              </a:buClr>
              <a:buSzPct val="130000"/>
              <a:buFont typeface="Arial" panose="020B0604020202020204" pitchFamily="34" charset="0"/>
              <a:buChar char="•"/>
            </a:pPr>
            <a:r>
              <a:rPr lang="es-ES" sz="2400" dirty="0">
                <a:ea typeface="+mn-lt"/>
                <a:cs typeface="+mn-lt"/>
              </a:rPr>
              <a:t>Se utiliza para desacoplar módulos de software. </a:t>
            </a:r>
            <a:endParaRPr lang="es-ES" dirty="0">
              <a:ea typeface="+mn-lt"/>
              <a:cs typeface="+mn-lt"/>
            </a:endParaRPr>
          </a:p>
          <a:p>
            <a:pPr marL="342900" indent="-342900" algn="just">
              <a:buClr>
                <a:schemeClr val="accent5"/>
              </a:buClr>
              <a:buSzPct val="130000"/>
              <a:buFont typeface="Arial" panose="020B0604020202020204" pitchFamily="34" charset="0"/>
              <a:buChar char="•"/>
            </a:pPr>
            <a:r>
              <a:rPr lang="es-ES" sz="2400" dirty="0">
                <a:ea typeface="+mn-lt"/>
                <a:cs typeface="+mn-lt"/>
              </a:rPr>
              <a:t>Las clases de alto nivel no deberían depender de las clases de bajo nivel. Ambas deberían depender de las abstracciones. </a:t>
            </a:r>
            <a:endParaRPr lang="es-ES" dirty="0">
              <a:ea typeface="+mn-lt"/>
              <a:cs typeface="+mn-lt"/>
            </a:endParaRPr>
          </a:p>
          <a:p>
            <a:pPr marL="342900" indent="-342900" algn="just">
              <a:buClr>
                <a:schemeClr val="accent5"/>
              </a:buClr>
              <a:buSzPct val="130000"/>
              <a:buFont typeface="Arial" panose="020B0604020202020204" pitchFamily="34" charset="0"/>
              <a:buChar char="•"/>
            </a:pPr>
            <a:r>
              <a:rPr lang="es-ES" sz="2400" dirty="0">
                <a:ea typeface="+mn-lt"/>
                <a:cs typeface="+mn-lt"/>
              </a:rPr>
              <a:t>Las abstracciones no deberían depender de los detalles. Los detalles deberían depender de las abstracciones. </a:t>
            </a:r>
            <a:endParaRPr lang="es-ES" dirty="0">
              <a:ea typeface="+mn-lt"/>
              <a:cs typeface="+mn-lt"/>
            </a:endParaRPr>
          </a:p>
          <a:p>
            <a:pPr marL="342900" indent="-342900" algn="just">
              <a:buClr>
                <a:schemeClr val="accent5"/>
              </a:buClr>
              <a:buSzPct val="130000"/>
              <a:buFont typeface="Arial" panose="020B0604020202020204" pitchFamily="34" charset="0"/>
              <a:buChar char="•"/>
            </a:pPr>
            <a:r>
              <a:rPr lang="es-ES" sz="2400" dirty="0">
                <a:ea typeface="+mn-lt"/>
                <a:cs typeface="+mn-lt"/>
              </a:rPr>
              <a:t>Al diseñar la interacción entre un módulo de alto nivel y uno de bajo nivel, la interacción debe considerarse como una interacción abstracta entre ellos. </a:t>
            </a:r>
            <a:endParaRPr lang="es-ES" dirty="0">
              <a:ea typeface="+mn-lt"/>
              <a:cs typeface="+mn-lt"/>
            </a:endParaRPr>
          </a:p>
        </p:txBody>
      </p:sp>
      <p:sp>
        <p:nvSpPr>
          <p:cNvPr id="2" name="CuadroTexto 1">
            <a:extLst>
              <a:ext uri="{FF2B5EF4-FFF2-40B4-BE49-F238E27FC236}">
                <a16:creationId xmlns:a16="http://schemas.microsoft.com/office/drawing/2014/main" id="{6CF08CDE-A678-F5A2-AEA4-18A7B1EA6C7C}"/>
              </a:ext>
            </a:extLst>
          </p:cNvPr>
          <p:cNvSpPr txBox="1"/>
          <p:nvPr/>
        </p:nvSpPr>
        <p:spPr>
          <a:xfrm>
            <a:off x="477982" y="556553"/>
            <a:ext cx="8056418" cy="707886"/>
          </a:xfrm>
          <a:prstGeom prst="rect">
            <a:avLst/>
          </a:prstGeom>
          <a:noFill/>
        </p:spPr>
        <p:txBody>
          <a:bodyPr wrap="square">
            <a:spAutoFit/>
          </a:bodyPr>
          <a:lstStyle/>
          <a:p>
            <a:pPr>
              <a:defRPr/>
            </a:pPr>
            <a:r>
              <a:rPr lang="es-AR" sz="4000" b="1" i="1" dirty="0" err="1">
                <a:solidFill>
                  <a:prstClr val="white"/>
                </a:solidFill>
                <a:ea typeface="+mn-lt"/>
                <a:cs typeface="+mn-lt"/>
              </a:rPr>
              <a:t>Dependency</a:t>
            </a:r>
            <a:r>
              <a:rPr lang="es-AR" sz="4000" b="1" i="1" dirty="0">
                <a:solidFill>
                  <a:prstClr val="white"/>
                </a:solidFill>
                <a:ea typeface="+mn-lt"/>
                <a:cs typeface="+mn-lt"/>
              </a:rPr>
              <a:t> </a:t>
            </a:r>
            <a:r>
              <a:rPr lang="es-AR" sz="4000" b="1" i="1" dirty="0" err="1">
                <a:solidFill>
                  <a:prstClr val="white"/>
                </a:solidFill>
                <a:ea typeface="+mn-lt"/>
                <a:cs typeface="+mn-lt"/>
              </a:rPr>
              <a:t>Inversion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Tree>
    <p:extLst>
      <p:ext uri="{BB962C8B-B14F-4D97-AF65-F5344CB8AC3E}">
        <p14:creationId xmlns:p14="http://schemas.microsoft.com/office/powerpoint/2010/main" val="2391413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B6BCB-D253-D91D-967D-3C816409047A}"/>
            </a:ext>
          </a:extLst>
        </p:cNvPr>
        <p:cNvGrpSpPr/>
        <p:nvPr/>
      </p:nvGrpSpPr>
      <p:grpSpPr>
        <a:xfrm>
          <a:off x="0" y="0"/>
          <a:ext cx="0" cy="0"/>
          <a:chOff x="0" y="0"/>
          <a:chExt cx="0" cy="0"/>
        </a:xfrm>
      </p:grpSpPr>
      <p:pic>
        <p:nvPicPr>
          <p:cNvPr id="2" name="Imagen 1" descr="Diagrama&#10;&#10;El contenido generado por IA puede ser incorrecto.">
            <a:extLst>
              <a:ext uri="{FF2B5EF4-FFF2-40B4-BE49-F238E27FC236}">
                <a16:creationId xmlns:a16="http://schemas.microsoft.com/office/drawing/2014/main" id="{9A7E68DA-B219-B605-1F1B-F7481FA5949C}"/>
              </a:ext>
            </a:extLst>
          </p:cNvPr>
          <p:cNvPicPr>
            <a:picLocks noChangeAspect="1"/>
          </p:cNvPicPr>
          <p:nvPr/>
        </p:nvPicPr>
        <p:blipFill>
          <a:blip r:embed="rId2"/>
          <a:stretch>
            <a:fillRect/>
          </a:stretch>
        </p:blipFill>
        <p:spPr>
          <a:xfrm>
            <a:off x="365931" y="2910599"/>
            <a:ext cx="3771900" cy="1514475"/>
          </a:xfrm>
          <a:prstGeom prst="rect">
            <a:avLst/>
          </a:prstGeom>
        </p:spPr>
      </p:pic>
      <p:sp>
        <p:nvSpPr>
          <p:cNvPr id="6" name="CuadroTexto 5">
            <a:extLst>
              <a:ext uri="{FF2B5EF4-FFF2-40B4-BE49-F238E27FC236}">
                <a16:creationId xmlns:a16="http://schemas.microsoft.com/office/drawing/2014/main" id="{97522768-C04A-326C-8B80-8B738E0FB3A7}"/>
              </a:ext>
            </a:extLst>
          </p:cNvPr>
          <p:cNvSpPr txBox="1"/>
          <p:nvPr/>
        </p:nvSpPr>
        <p:spPr>
          <a:xfrm>
            <a:off x="4766313" y="2480425"/>
            <a:ext cx="4316727"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s-ES" sz="2400" dirty="0">
                <a:ea typeface="+mn-lt"/>
                <a:cs typeface="+mn-lt"/>
              </a:rPr>
              <a:t>Un botón es capaz de detectar si el usuario desea prender o apagar una lámpara. Una vez que lo detecta, procede a prenderla o apagarla según corresponda. </a:t>
            </a:r>
            <a:endParaRPr lang="es-ES" dirty="0">
              <a:ea typeface="+mn-lt"/>
              <a:cs typeface="+mn-lt"/>
            </a:endParaRPr>
          </a:p>
        </p:txBody>
      </p:sp>
      <p:sp>
        <p:nvSpPr>
          <p:cNvPr id="4" name="CuadroTexto 3">
            <a:extLst>
              <a:ext uri="{FF2B5EF4-FFF2-40B4-BE49-F238E27FC236}">
                <a16:creationId xmlns:a16="http://schemas.microsoft.com/office/drawing/2014/main" id="{3620DFE2-6512-33BA-A42B-5A03574F701A}"/>
              </a:ext>
            </a:extLst>
          </p:cNvPr>
          <p:cNvSpPr txBox="1"/>
          <p:nvPr/>
        </p:nvSpPr>
        <p:spPr>
          <a:xfrm>
            <a:off x="477982" y="297473"/>
            <a:ext cx="8056418" cy="1323439"/>
          </a:xfrm>
          <a:prstGeom prst="rect">
            <a:avLst/>
          </a:prstGeom>
          <a:noFill/>
        </p:spPr>
        <p:txBody>
          <a:bodyPr wrap="square">
            <a:spAutoFit/>
          </a:bodyPr>
          <a:lstStyle/>
          <a:p>
            <a:pPr>
              <a:defRPr/>
            </a:pPr>
            <a:r>
              <a:rPr lang="es-AR" sz="4000" b="1" dirty="0">
                <a:solidFill>
                  <a:prstClr val="white"/>
                </a:solidFill>
                <a:ea typeface="+mn-lt"/>
                <a:cs typeface="+mn-lt"/>
              </a:rPr>
              <a:t>Ejemplo de </a:t>
            </a:r>
            <a:r>
              <a:rPr lang="es-AR" sz="4000" b="1" i="1" dirty="0" err="1">
                <a:solidFill>
                  <a:prstClr val="white"/>
                </a:solidFill>
                <a:ea typeface="+mn-lt"/>
                <a:cs typeface="+mn-lt"/>
              </a:rPr>
              <a:t>Dependency</a:t>
            </a:r>
            <a:r>
              <a:rPr lang="es-AR" sz="4000" b="1" i="1" dirty="0">
                <a:solidFill>
                  <a:prstClr val="white"/>
                </a:solidFill>
                <a:ea typeface="+mn-lt"/>
                <a:cs typeface="+mn-lt"/>
              </a:rPr>
              <a:t> </a:t>
            </a:r>
            <a:r>
              <a:rPr lang="es-AR" sz="4000" b="1" i="1" dirty="0" err="1">
                <a:solidFill>
                  <a:prstClr val="white"/>
                </a:solidFill>
                <a:ea typeface="+mn-lt"/>
                <a:cs typeface="+mn-lt"/>
              </a:rPr>
              <a:t>Inversion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Tree>
    <p:extLst>
      <p:ext uri="{BB962C8B-B14F-4D97-AF65-F5344CB8AC3E}">
        <p14:creationId xmlns:p14="http://schemas.microsoft.com/office/powerpoint/2010/main" val="167089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13E86-EAD9-E102-9770-433586EFE170}"/>
            </a:ext>
          </a:extLst>
        </p:cNvPr>
        <p:cNvGrpSpPr/>
        <p:nvPr/>
      </p:nvGrpSpPr>
      <p:grpSpPr>
        <a:xfrm>
          <a:off x="0" y="0"/>
          <a:ext cx="0" cy="0"/>
          <a:chOff x="0" y="0"/>
          <a:chExt cx="0" cy="0"/>
        </a:xfrm>
      </p:grpSpPr>
      <p:pic>
        <p:nvPicPr>
          <p:cNvPr id="4" name="Imagen 3" descr="Diagrama&#10;&#10;El contenido generado por IA puede ser incorrecto.">
            <a:extLst>
              <a:ext uri="{FF2B5EF4-FFF2-40B4-BE49-F238E27FC236}">
                <a16:creationId xmlns:a16="http://schemas.microsoft.com/office/drawing/2014/main" id="{E6874D75-EC73-5C29-C18F-7D4306F4AEC7}"/>
              </a:ext>
            </a:extLst>
          </p:cNvPr>
          <p:cNvPicPr>
            <a:picLocks noChangeAspect="1"/>
          </p:cNvPicPr>
          <p:nvPr/>
        </p:nvPicPr>
        <p:blipFill>
          <a:blip r:embed="rId2"/>
          <a:stretch>
            <a:fillRect/>
          </a:stretch>
        </p:blipFill>
        <p:spPr>
          <a:xfrm>
            <a:off x="556502" y="2695220"/>
            <a:ext cx="8792997" cy="2877830"/>
          </a:xfrm>
          <a:prstGeom prst="rect">
            <a:avLst/>
          </a:prstGeom>
        </p:spPr>
      </p:pic>
      <p:sp>
        <p:nvSpPr>
          <p:cNvPr id="2" name="CuadroTexto 1">
            <a:extLst>
              <a:ext uri="{FF2B5EF4-FFF2-40B4-BE49-F238E27FC236}">
                <a16:creationId xmlns:a16="http://schemas.microsoft.com/office/drawing/2014/main" id="{04D35AB7-7A5C-1806-57CA-EFB2C3D8C721}"/>
              </a:ext>
            </a:extLst>
          </p:cNvPr>
          <p:cNvSpPr txBox="1"/>
          <p:nvPr/>
        </p:nvSpPr>
        <p:spPr>
          <a:xfrm>
            <a:off x="477982" y="297473"/>
            <a:ext cx="8056418" cy="1323439"/>
          </a:xfrm>
          <a:prstGeom prst="rect">
            <a:avLst/>
          </a:prstGeom>
          <a:noFill/>
        </p:spPr>
        <p:txBody>
          <a:bodyPr wrap="square">
            <a:spAutoFit/>
          </a:bodyPr>
          <a:lstStyle/>
          <a:p>
            <a:pPr>
              <a:defRPr/>
            </a:pPr>
            <a:r>
              <a:rPr lang="es-AR" sz="4000" b="1" dirty="0">
                <a:solidFill>
                  <a:prstClr val="white"/>
                </a:solidFill>
                <a:ea typeface="+mn-lt"/>
                <a:cs typeface="+mn-lt"/>
              </a:rPr>
              <a:t>Ejemplo de </a:t>
            </a:r>
            <a:r>
              <a:rPr lang="es-AR" sz="4000" b="1" i="1" dirty="0" err="1">
                <a:solidFill>
                  <a:prstClr val="white"/>
                </a:solidFill>
                <a:ea typeface="+mn-lt"/>
                <a:cs typeface="+mn-lt"/>
              </a:rPr>
              <a:t>Dependency</a:t>
            </a:r>
            <a:r>
              <a:rPr lang="es-AR" sz="4000" b="1" i="1" dirty="0">
                <a:solidFill>
                  <a:prstClr val="white"/>
                </a:solidFill>
                <a:ea typeface="+mn-lt"/>
                <a:cs typeface="+mn-lt"/>
              </a:rPr>
              <a:t> </a:t>
            </a:r>
            <a:r>
              <a:rPr lang="es-AR" sz="4000" b="1" i="1" dirty="0" err="1">
                <a:solidFill>
                  <a:prstClr val="white"/>
                </a:solidFill>
                <a:ea typeface="+mn-lt"/>
                <a:cs typeface="+mn-lt"/>
              </a:rPr>
              <a:t>Inversion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Tree>
    <p:extLst>
      <p:ext uri="{BB962C8B-B14F-4D97-AF65-F5344CB8AC3E}">
        <p14:creationId xmlns:p14="http://schemas.microsoft.com/office/powerpoint/2010/main" val="25059989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CB6B-4A48-C7C3-F683-1881483E4CB7}"/>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6C5D7C23-5857-DC4E-033D-1748474F23A1}"/>
              </a:ext>
            </a:extLst>
          </p:cNvPr>
          <p:cNvSpPr txBox="1"/>
          <p:nvPr/>
        </p:nvSpPr>
        <p:spPr>
          <a:xfrm>
            <a:off x="6168218" y="1620912"/>
            <a:ext cx="2895600"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s-ES" sz="2400" dirty="0">
                <a:ea typeface="+mn-lt"/>
                <a:cs typeface="+mn-lt"/>
              </a:rPr>
              <a:t>Esto también se puede aplicar al diseño arquitectónico de los sistemas. En este ejemplo, existe una dependencia entre parte del código que debería ser reusable (</a:t>
            </a:r>
            <a:r>
              <a:rPr lang="es-ES" sz="2400" i="1" dirty="0" err="1">
                <a:ea typeface="+mn-lt"/>
                <a:cs typeface="+mn-lt"/>
              </a:rPr>
              <a:t>framework</a:t>
            </a:r>
            <a:r>
              <a:rPr lang="es-ES" sz="2400" dirty="0">
                <a:ea typeface="+mn-lt"/>
                <a:cs typeface="+mn-lt"/>
              </a:rPr>
              <a:t>) y las entidades del dominio del sistema concreto. </a:t>
            </a:r>
            <a:endParaRPr lang="es-ES" dirty="0">
              <a:ea typeface="+mn-lt"/>
              <a:cs typeface="+mn-lt"/>
            </a:endParaRPr>
          </a:p>
        </p:txBody>
      </p:sp>
      <p:pic>
        <p:nvPicPr>
          <p:cNvPr id="4" name="Imagen 3" descr="Diagrama&#10;&#10;El contenido generado por IA puede ser incorrecto.">
            <a:extLst>
              <a:ext uri="{FF2B5EF4-FFF2-40B4-BE49-F238E27FC236}">
                <a16:creationId xmlns:a16="http://schemas.microsoft.com/office/drawing/2014/main" id="{026D35A7-3D14-D9FD-9383-BB3CF5711033}"/>
              </a:ext>
            </a:extLst>
          </p:cNvPr>
          <p:cNvPicPr>
            <a:picLocks noChangeAspect="1"/>
          </p:cNvPicPr>
          <p:nvPr/>
        </p:nvPicPr>
        <p:blipFill>
          <a:blip r:embed="rId2"/>
          <a:stretch>
            <a:fillRect/>
          </a:stretch>
        </p:blipFill>
        <p:spPr>
          <a:xfrm>
            <a:off x="77622" y="2480124"/>
            <a:ext cx="6090596" cy="3483795"/>
          </a:xfrm>
          <a:prstGeom prst="rect">
            <a:avLst/>
          </a:prstGeom>
        </p:spPr>
      </p:pic>
      <p:sp>
        <p:nvSpPr>
          <p:cNvPr id="2" name="CuadroTexto 1">
            <a:extLst>
              <a:ext uri="{FF2B5EF4-FFF2-40B4-BE49-F238E27FC236}">
                <a16:creationId xmlns:a16="http://schemas.microsoft.com/office/drawing/2014/main" id="{A26AE741-12AC-6623-AA18-622F06B589AF}"/>
              </a:ext>
            </a:extLst>
          </p:cNvPr>
          <p:cNvSpPr txBox="1"/>
          <p:nvPr/>
        </p:nvSpPr>
        <p:spPr>
          <a:xfrm>
            <a:off x="477982" y="297473"/>
            <a:ext cx="8056418" cy="1323439"/>
          </a:xfrm>
          <a:prstGeom prst="rect">
            <a:avLst/>
          </a:prstGeom>
          <a:noFill/>
        </p:spPr>
        <p:txBody>
          <a:bodyPr wrap="square">
            <a:spAutoFit/>
          </a:bodyPr>
          <a:lstStyle/>
          <a:p>
            <a:pPr>
              <a:defRPr/>
            </a:pPr>
            <a:r>
              <a:rPr lang="es-AR" sz="4000" b="1" dirty="0">
                <a:solidFill>
                  <a:prstClr val="white"/>
                </a:solidFill>
                <a:ea typeface="+mn-lt"/>
                <a:cs typeface="+mn-lt"/>
              </a:rPr>
              <a:t>Ejemplo de </a:t>
            </a:r>
            <a:r>
              <a:rPr lang="es-AR" sz="4000" b="1" i="1" dirty="0" err="1">
                <a:solidFill>
                  <a:prstClr val="white"/>
                </a:solidFill>
                <a:ea typeface="+mn-lt"/>
                <a:cs typeface="+mn-lt"/>
              </a:rPr>
              <a:t>Dependency</a:t>
            </a:r>
            <a:r>
              <a:rPr lang="es-AR" sz="4000" b="1" i="1" dirty="0">
                <a:solidFill>
                  <a:prstClr val="white"/>
                </a:solidFill>
                <a:ea typeface="+mn-lt"/>
                <a:cs typeface="+mn-lt"/>
              </a:rPr>
              <a:t> </a:t>
            </a:r>
            <a:r>
              <a:rPr lang="es-AR" sz="4000" b="1" i="1" dirty="0" err="1">
                <a:solidFill>
                  <a:prstClr val="white"/>
                </a:solidFill>
                <a:ea typeface="+mn-lt"/>
                <a:cs typeface="+mn-lt"/>
              </a:rPr>
              <a:t>Inversion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Tree>
    <p:extLst>
      <p:ext uri="{BB962C8B-B14F-4D97-AF65-F5344CB8AC3E}">
        <p14:creationId xmlns:p14="http://schemas.microsoft.com/office/powerpoint/2010/main" val="15190304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1B97F-AA26-7E03-ED17-11AD7DABA9CE}"/>
            </a:ext>
          </a:extLst>
        </p:cNvPr>
        <p:cNvGrpSpPr/>
        <p:nvPr/>
      </p:nvGrpSpPr>
      <p:grpSpPr>
        <a:xfrm>
          <a:off x="0" y="0"/>
          <a:ext cx="0" cy="0"/>
          <a:chOff x="0" y="0"/>
          <a:chExt cx="0" cy="0"/>
        </a:xfrm>
      </p:grpSpPr>
      <p:pic>
        <p:nvPicPr>
          <p:cNvPr id="2" name="Imagen 1" descr="Diagrama&#10;&#10;El contenido generado por IA puede ser incorrecto.">
            <a:extLst>
              <a:ext uri="{FF2B5EF4-FFF2-40B4-BE49-F238E27FC236}">
                <a16:creationId xmlns:a16="http://schemas.microsoft.com/office/drawing/2014/main" id="{08D9FC07-E62D-64BA-EB6F-6666DC7713DA}"/>
              </a:ext>
            </a:extLst>
          </p:cNvPr>
          <p:cNvPicPr>
            <a:picLocks noChangeAspect="1"/>
          </p:cNvPicPr>
          <p:nvPr/>
        </p:nvPicPr>
        <p:blipFill>
          <a:blip r:embed="rId2"/>
          <a:stretch>
            <a:fillRect/>
          </a:stretch>
        </p:blipFill>
        <p:spPr>
          <a:xfrm>
            <a:off x="68239" y="2707779"/>
            <a:ext cx="9405583" cy="2693487"/>
          </a:xfrm>
          <a:prstGeom prst="rect">
            <a:avLst/>
          </a:prstGeom>
        </p:spPr>
      </p:pic>
      <p:sp>
        <p:nvSpPr>
          <p:cNvPr id="4" name="CuadroTexto 3">
            <a:extLst>
              <a:ext uri="{FF2B5EF4-FFF2-40B4-BE49-F238E27FC236}">
                <a16:creationId xmlns:a16="http://schemas.microsoft.com/office/drawing/2014/main" id="{153070CA-179D-F538-5B9D-E869B15346F7}"/>
              </a:ext>
            </a:extLst>
          </p:cNvPr>
          <p:cNvSpPr txBox="1"/>
          <p:nvPr/>
        </p:nvSpPr>
        <p:spPr>
          <a:xfrm>
            <a:off x="477982" y="297473"/>
            <a:ext cx="8056418" cy="1323439"/>
          </a:xfrm>
          <a:prstGeom prst="rect">
            <a:avLst/>
          </a:prstGeom>
          <a:noFill/>
        </p:spPr>
        <p:txBody>
          <a:bodyPr wrap="square">
            <a:spAutoFit/>
          </a:bodyPr>
          <a:lstStyle/>
          <a:p>
            <a:pPr>
              <a:defRPr/>
            </a:pPr>
            <a:r>
              <a:rPr lang="es-AR" sz="4000" b="1" dirty="0">
                <a:solidFill>
                  <a:prstClr val="white"/>
                </a:solidFill>
                <a:ea typeface="+mn-lt"/>
                <a:cs typeface="+mn-lt"/>
              </a:rPr>
              <a:t>Ejemplo de </a:t>
            </a:r>
            <a:r>
              <a:rPr lang="es-AR" sz="4000" b="1" i="1" dirty="0" err="1">
                <a:solidFill>
                  <a:prstClr val="white"/>
                </a:solidFill>
                <a:ea typeface="+mn-lt"/>
                <a:cs typeface="+mn-lt"/>
              </a:rPr>
              <a:t>Dependency</a:t>
            </a:r>
            <a:r>
              <a:rPr lang="es-AR" sz="4000" b="1" i="1" dirty="0">
                <a:solidFill>
                  <a:prstClr val="white"/>
                </a:solidFill>
                <a:ea typeface="+mn-lt"/>
                <a:cs typeface="+mn-lt"/>
              </a:rPr>
              <a:t> </a:t>
            </a:r>
            <a:r>
              <a:rPr lang="es-AR" sz="4000" b="1" i="1" dirty="0" err="1">
                <a:solidFill>
                  <a:prstClr val="white"/>
                </a:solidFill>
                <a:ea typeface="+mn-lt"/>
                <a:cs typeface="+mn-lt"/>
              </a:rPr>
              <a:t>Inversion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Tree>
    <p:extLst>
      <p:ext uri="{BB962C8B-B14F-4D97-AF65-F5344CB8AC3E}">
        <p14:creationId xmlns:p14="http://schemas.microsoft.com/office/powerpoint/2010/main" val="29772393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6FE69-6242-557B-BDA5-5B5963D91C22}"/>
            </a:ext>
          </a:extLst>
        </p:cNvPr>
        <p:cNvGrpSpPr/>
        <p:nvPr/>
      </p:nvGrpSpPr>
      <p:grpSpPr>
        <a:xfrm>
          <a:off x="0" y="0"/>
          <a:ext cx="0" cy="0"/>
          <a:chOff x="0" y="0"/>
          <a:chExt cx="0" cy="0"/>
        </a:xfrm>
      </p:grpSpPr>
      <p:pic>
        <p:nvPicPr>
          <p:cNvPr id="4" name="Imagen 3" descr="Diagrama&#10;&#10;El contenido generado por IA puede ser incorrecto.">
            <a:extLst>
              <a:ext uri="{FF2B5EF4-FFF2-40B4-BE49-F238E27FC236}">
                <a16:creationId xmlns:a16="http://schemas.microsoft.com/office/drawing/2014/main" id="{1F2A1883-2EAB-B5CD-C095-A1B4B8328201}"/>
              </a:ext>
            </a:extLst>
          </p:cNvPr>
          <p:cNvPicPr>
            <a:picLocks noChangeAspect="1"/>
          </p:cNvPicPr>
          <p:nvPr/>
        </p:nvPicPr>
        <p:blipFill>
          <a:blip r:embed="rId2"/>
          <a:stretch>
            <a:fillRect/>
          </a:stretch>
        </p:blipFill>
        <p:spPr>
          <a:xfrm>
            <a:off x="368276" y="2456100"/>
            <a:ext cx="8782761" cy="3867861"/>
          </a:xfrm>
          <a:prstGeom prst="rect">
            <a:avLst/>
          </a:prstGeom>
        </p:spPr>
      </p:pic>
      <p:sp>
        <p:nvSpPr>
          <p:cNvPr id="2" name="CuadroTexto 1">
            <a:extLst>
              <a:ext uri="{FF2B5EF4-FFF2-40B4-BE49-F238E27FC236}">
                <a16:creationId xmlns:a16="http://schemas.microsoft.com/office/drawing/2014/main" id="{D5228E8F-CABC-CACE-7C15-D3132609EBBC}"/>
              </a:ext>
            </a:extLst>
          </p:cNvPr>
          <p:cNvSpPr txBox="1"/>
          <p:nvPr/>
        </p:nvSpPr>
        <p:spPr>
          <a:xfrm>
            <a:off x="477982" y="297473"/>
            <a:ext cx="8056418" cy="1323439"/>
          </a:xfrm>
          <a:prstGeom prst="rect">
            <a:avLst/>
          </a:prstGeom>
          <a:noFill/>
        </p:spPr>
        <p:txBody>
          <a:bodyPr wrap="square">
            <a:spAutoFit/>
          </a:bodyPr>
          <a:lstStyle/>
          <a:p>
            <a:pPr>
              <a:defRPr/>
            </a:pPr>
            <a:r>
              <a:rPr lang="es-AR" sz="4000" b="1" dirty="0">
                <a:solidFill>
                  <a:prstClr val="white"/>
                </a:solidFill>
                <a:ea typeface="+mn-lt"/>
                <a:cs typeface="+mn-lt"/>
              </a:rPr>
              <a:t>Ejemplo de </a:t>
            </a:r>
            <a:r>
              <a:rPr lang="es-AR" sz="4000" b="1" i="1" dirty="0" err="1">
                <a:solidFill>
                  <a:prstClr val="white"/>
                </a:solidFill>
                <a:ea typeface="+mn-lt"/>
                <a:cs typeface="+mn-lt"/>
              </a:rPr>
              <a:t>Dependency</a:t>
            </a:r>
            <a:r>
              <a:rPr lang="es-AR" sz="4000" b="1" i="1" dirty="0">
                <a:solidFill>
                  <a:prstClr val="white"/>
                </a:solidFill>
                <a:ea typeface="+mn-lt"/>
                <a:cs typeface="+mn-lt"/>
              </a:rPr>
              <a:t> </a:t>
            </a:r>
            <a:r>
              <a:rPr lang="es-AR" sz="4000" b="1" i="1" dirty="0" err="1">
                <a:solidFill>
                  <a:prstClr val="white"/>
                </a:solidFill>
                <a:ea typeface="+mn-lt"/>
                <a:cs typeface="+mn-lt"/>
              </a:rPr>
              <a:t>Inversion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Tree>
    <p:extLst>
      <p:ext uri="{BB962C8B-B14F-4D97-AF65-F5344CB8AC3E}">
        <p14:creationId xmlns:p14="http://schemas.microsoft.com/office/powerpoint/2010/main" val="6113126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42EED-6519-781F-695D-F0B610AD079B}"/>
            </a:ext>
          </a:extLst>
        </p:cNvPr>
        <p:cNvGrpSpPr/>
        <p:nvPr/>
      </p:nvGrpSpPr>
      <p:grpSpPr>
        <a:xfrm>
          <a:off x="0" y="0"/>
          <a:ext cx="0" cy="0"/>
          <a:chOff x="0" y="0"/>
          <a:chExt cx="0" cy="0"/>
        </a:xfrm>
      </p:grpSpPr>
      <p:pic>
        <p:nvPicPr>
          <p:cNvPr id="2" name="Imagen 1" descr="Diagrama&#10;&#10;El contenido generado por IA puede ser incorrecto.">
            <a:extLst>
              <a:ext uri="{FF2B5EF4-FFF2-40B4-BE49-F238E27FC236}">
                <a16:creationId xmlns:a16="http://schemas.microsoft.com/office/drawing/2014/main" id="{018EF6E5-1A8E-BE9C-F043-6C9A92F36022}"/>
              </a:ext>
            </a:extLst>
          </p:cNvPr>
          <p:cNvPicPr>
            <a:picLocks noChangeAspect="1"/>
          </p:cNvPicPr>
          <p:nvPr/>
        </p:nvPicPr>
        <p:blipFill>
          <a:blip r:embed="rId2"/>
          <a:stretch>
            <a:fillRect/>
          </a:stretch>
        </p:blipFill>
        <p:spPr>
          <a:xfrm>
            <a:off x="477982" y="1969201"/>
            <a:ext cx="8779065" cy="4337145"/>
          </a:xfrm>
          <a:prstGeom prst="rect">
            <a:avLst/>
          </a:prstGeom>
        </p:spPr>
      </p:pic>
      <p:sp>
        <p:nvSpPr>
          <p:cNvPr id="4" name="CuadroTexto 3">
            <a:extLst>
              <a:ext uri="{FF2B5EF4-FFF2-40B4-BE49-F238E27FC236}">
                <a16:creationId xmlns:a16="http://schemas.microsoft.com/office/drawing/2014/main" id="{B3993097-46BE-7B1C-6B1B-8C115974EA52}"/>
              </a:ext>
            </a:extLst>
          </p:cNvPr>
          <p:cNvSpPr txBox="1"/>
          <p:nvPr/>
        </p:nvSpPr>
        <p:spPr>
          <a:xfrm>
            <a:off x="477982" y="297473"/>
            <a:ext cx="8056418" cy="1323439"/>
          </a:xfrm>
          <a:prstGeom prst="rect">
            <a:avLst/>
          </a:prstGeom>
          <a:noFill/>
        </p:spPr>
        <p:txBody>
          <a:bodyPr wrap="square">
            <a:spAutoFit/>
          </a:bodyPr>
          <a:lstStyle/>
          <a:p>
            <a:pPr>
              <a:defRPr/>
            </a:pPr>
            <a:r>
              <a:rPr lang="es-AR" sz="4000" b="1" dirty="0">
                <a:solidFill>
                  <a:prstClr val="white"/>
                </a:solidFill>
                <a:ea typeface="+mn-lt"/>
                <a:cs typeface="+mn-lt"/>
              </a:rPr>
              <a:t>Ejemplo de </a:t>
            </a:r>
            <a:r>
              <a:rPr lang="es-AR" sz="4000" b="1" i="1" dirty="0" err="1">
                <a:solidFill>
                  <a:prstClr val="white"/>
                </a:solidFill>
                <a:ea typeface="+mn-lt"/>
                <a:cs typeface="+mn-lt"/>
              </a:rPr>
              <a:t>Dependency</a:t>
            </a:r>
            <a:r>
              <a:rPr lang="es-AR" sz="4000" b="1" i="1" dirty="0">
                <a:solidFill>
                  <a:prstClr val="white"/>
                </a:solidFill>
                <a:ea typeface="+mn-lt"/>
                <a:cs typeface="+mn-lt"/>
              </a:rPr>
              <a:t> </a:t>
            </a:r>
            <a:r>
              <a:rPr lang="es-AR" sz="4000" b="1" i="1" dirty="0" err="1">
                <a:solidFill>
                  <a:prstClr val="white"/>
                </a:solidFill>
                <a:ea typeface="+mn-lt"/>
                <a:cs typeface="+mn-lt"/>
              </a:rPr>
              <a:t>Inversion</a:t>
            </a:r>
            <a:r>
              <a:rPr lang="es-AR" sz="4000" b="1" i="1" dirty="0">
                <a:solidFill>
                  <a:prstClr val="white"/>
                </a:solidFill>
                <a:ea typeface="+mn-lt"/>
                <a:cs typeface="+mn-lt"/>
              </a:rPr>
              <a:t> </a:t>
            </a:r>
            <a:r>
              <a:rPr lang="es-AR" sz="4000" b="1" i="1" dirty="0" err="1">
                <a:solidFill>
                  <a:prstClr val="white"/>
                </a:solidFill>
                <a:ea typeface="+mn-lt"/>
                <a:cs typeface="+mn-lt"/>
              </a:rPr>
              <a:t>Principle</a:t>
            </a:r>
            <a:r>
              <a:rPr lang="es-AR" sz="4000" b="1" i="1" dirty="0">
                <a:solidFill>
                  <a:prstClr val="white"/>
                </a:solidFill>
                <a:ea typeface="+mn-lt"/>
                <a:cs typeface="+mn-lt"/>
              </a:rPr>
              <a:t> </a:t>
            </a:r>
            <a:endParaRPr lang="es-ES" sz="4000" b="1" i="1" dirty="0">
              <a:solidFill>
                <a:prstClr val="white"/>
              </a:solidFill>
              <a:ea typeface="+mn-lt"/>
              <a:cs typeface="+mn-lt"/>
            </a:endParaRPr>
          </a:p>
        </p:txBody>
      </p:sp>
    </p:spTree>
    <p:extLst>
      <p:ext uri="{BB962C8B-B14F-4D97-AF65-F5344CB8AC3E}">
        <p14:creationId xmlns:p14="http://schemas.microsoft.com/office/powerpoint/2010/main" val="28922358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0648473-4FFD-CE1E-214E-D8C7C7EF7807}"/>
              </a:ext>
            </a:extLst>
          </p:cNvPr>
          <p:cNvSpPr txBox="1"/>
          <p:nvPr/>
        </p:nvSpPr>
        <p:spPr>
          <a:xfrm>
            <a:off x="319217" y="2875002"/>
            <a:ext cx="11553566" cy="1107996"/>
          </a:xfrm>
          <a:prstGeom prst="rect">
            <a:avLst/>
          </a:prstGeom>
          <a:noFill/>
        </p:spPr>
        <p:txBody>
          <a:bodyPr wrap="square" lIns="91440" tIns="45720" rIns="91440" bIns="45720" rtlCol="0" anchor="t">
            <a:spAutoFit/>
          </a:bodyPr>
          <a:lstStyle/>
          <a:p>
            <a:pPr algn="ctr"/>
            <a:r>
              <a:rPr lang="es-AR" sz="6600" b="1" dirty="0">
                <a:solidFill>
                  <a:schemeClr val="bg1"/>
                </a:solidFill>
              </a:rPr>
              <a:t>Síntesis</a:t>
            </a:r>
            <a:endParaRPr lang="es-ES" dirty="0"/>
          </a:p>
        </p:txBody>
      </p:sp>
    </p:spTree>
    <p:extLst>
      <p:ext uri="{BB962C8B-B14F-4D97-AF65-F5344CB8AC3E}">
        <p14:creationId xmlns:p14="http://schemas.microsoft.com/office/powerpoint/2010/main" val="39389457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2">
            <a:extLst>
              <a:ext uri="{FF2B5EF4-FFF2-40B4-BE49-F238E27FC236}">
                <a16:creationId xmlns:a16="http://schemas.microsoft.com/office/drawing/2014/main" id="{8F01C925-114A-F6F9-FBBC-211C761E04C0}"/>
              </a:ext>
            </a:extLst>
          </p:cNvPr>
          <p:cNvSpPr txBox="1">
            <a:spLocks/>
          </p:cNvSpPr>
          <p:nvPr/>
        </p:nvSpPr>
        <p:spPr>
          <a:xfrm>
            <a:off x="586303" y="651032"/>
            <a:ext cx="6719776" cy="57415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AR" sz="4000" b="1" dirty="0">
                <a:solidFill>
                  <a:schemeClr val="bg1"/>
                </a:solidFill>
              </a:rPr>
              <a:t>Síntesis</a:t>
            </a:r>
          </a:p>
        </p:txBody>
      </p:sp>
      <p:sp>
        <p:nvSpPr>
          <p:cNvPr id="2" name="CuadroTexto 1">
            <a:extLst>
              <a:ext uri="{FF2B5EF4-FFF2-40B4-BE49-F238E27FC236}">
                <a16:creationId xmlns:a16="http://schemas.microsoft.com/office/drawing/2014/main" id="{22DCF6E0-E765-EB34-0B46-747DB290138B}"/>
              </a:ext>
            </a:extLst>
          </p:cNvPr>
          <p:cNvSpPr txBox="1"/>
          <p:nvPr/>
        </p:nvSpPr>
        <p:spPr>
          <a:xfrm>
            <a:off x="969474" y="1587301"/>
            <a:ext cx="7994417" cy="5201424"/>
          </a:xfrm>
          <a:prstGeom prst="rect">
            <a:avLst/>
          </a:prstGeom>
          <a:noFill/>
        </p:spPr>
        <p:txBody>
          <a:bodyPr wrap="square" lIns="91440" tIns="45720" rIns="91440" bIns="45720" rtlCol="0" anchor="t">
            <a:spAutoFit/>
          </a:bodyPr>
          <a:lstStyle/>
          <a:p>
            <a:r>
              <a:rPr lang="es-AR" sz="2000" b="1" dirty="0">
                <a:solidFill>
                  <a:srgbClr val="7F7F7F"/>
                </a:solidFill>
                <a:ea typeface="+mn-lt"/>
                <a:cs typeface="+mn-lt"/>
              </a:rPr>
              <a:t>S – </a:t>
            </a:r>
            <a:r>
              <a:rPr lang="es-AR" sz="2000" b="1" i="1" dirty="0">
                <a:solidFill>
                  <a:srgbClr val="7F7F7F"/>
                </a:solidFill>
                <a:ea typeface="+mn-lt"/>
                <a:cs typeface="+mn-lt"/>
              </a:rPr>
              <a:t>Single </a:t>
            </a:r>
            <a:r>
              <a:rPr lang="es-AR" sz="2000" b="1" i="1" dirty="0" err="1">
                <a:solidFill>
                  <a:srgbClr val="7F7F7F"/>
                </a:solidFill>
                <a:ea typeface="+mn-lt"/>
                <a:cs typeface="+mn-lt"/>
              </a:rPr>
              <a:t>Responsibility</a:t>
            </a:r>
            <a:br>
              <a:rPr lang="es-AR" sz="2000" b="1" dirty="0">
                <a:ea typeface="+mn-lt"/>
                <a:cs typeface="+mn-lt"/>
              </a:rPr>
            </a:br>
            <a:r>
              <a:rPr lang="es-AR" sz="2000" b="1" dirty="0">
                <a:solidFill>
                  <a:srgbClr val="7F7F7F"/>
                </a:solidFill>
                <a:ea typeface="+mn-lt"/>
                <a:cs typeface="+mn-lt"/>
              </a:rPr>
              <a:t> </a:t>
            </a:r>
            <a:r>
              <a:rPr lang="es-AR" sz="2000" b="1" i="1" dirty="0">
                <a:solidFill>
                  <a:srgbClr val="7F7F7F"/>
                </a:solidFill>
                <a:ea typeface="+mn-lt"/>
                <a:cs typeface="+mn-lt"/>
              </a:rPr>
              <a:t>Una clase, una responsabilidad.  ➡️ Que solo tenga una razón para cambiar.</a:t>
            </a:r>
            <a:endParaRPr lang="en-US" b="1" dirty="0"/>
          </a:p>
          <a:p>
            <a:endParaRPr lang="es-AR" sz="2000" b="1" i="1" dirty="0">
              <a:solidFill>
                <a:srgbClr val="7F7F7F"/>
              </a:solidFill>
              <a:ea typeface="+mn-lt"/>
              <a:cs typeface="+mn-lt"/>
            </a:endParaRPr>
          </a:p>
          <a:p>
            <a:r>
              <a:rPr lang="es-AR" b="1" dirty="0">
                <a:solidFill>
                  <a:srgbClr val="7F7F7F"/>
                </a:solidFill>
                <a:ea typeface="+mn-lt"/>
                <a:cs typeface="+mn-lt"/>
              </a:rPr>
              <a:t>O – </a:t>
            </a:r>
            <a:r>
              <a:rPr lang="es-AR" b="1" i="1" dirty="0">
                <a:solidFill>
                  <a:srgbClr val="7F7F7F"/>
                </a:solidFill>
                <a:ea typeface="+mn-lt"/>
                <a:cs typeface="+mn-lt"/>
              </a:rPr>
              <a:t>Open/</a:t>
            </a:r>
            <a:r>
              <a:rPr lang="es-AR" b="1" i="1" dirty="0" err="1">
                <a:solidFill>
                  <a:srgbClr val="7F7F7F"/>
                </a:solidFill>
                <a:ea typeface="+mn-lt"/>
                <a:cs typeface="+mn-lt"/>
              </a:rPr>
              <a:t>Closed</a:t>
            </a:r>
            <a:br>
              <a:rPr lang="es-AR" b="1" dirty="0">
                <a:ea typeface="+mn-lt"/>
                <a:cs typeface="+mn-lt"/>
              </a:rPr>
            </a:br>
            <a:r>
              <a:rPr lang="es-AR" b="1" dirty="0">
                <a:solidFill>
                  <a:srgbClr val="7F7F7F"/>
                </a:solidFill>
                <a:ea typeface="+mn-lt"/>
                <a:cs typeface="+mn-lt"/>
              </a:rPr>
              <a:t> </a:t>
            </a:r>
            <a:r>
              <a:rPr lang="es-AR" b="1" i="1" dirty="0">
                <a:solidFill>
                  <a:srgbClr val="7F7F7F"/>
                </a:solidFill>
                <a:ea typeface="+mn-lt"/>
                <a:cs typeface="+mn-lt"/>
              </a:rPr>
              <a:t>Abierto para extender, cerrado para modificar.  ➡️ Nuevas funciones sin tocar código existente.</a:t>
            </a:r>
            <a:endParaRPr lang="es-AR" b="1" dirty="0"/>
          </a:p>
          <a:p>
            <a:endParaRPr lang="es-AR" b="1" i="1" dirty="0">
              <a:solidFill>
                <a:srgbClr val="7F7F7F"/>
              </a:solidFill>
              <a:ea typeface="+mn-lt"/>
              <a:cs typeface="+mn-lt"/>
            </a:endParaRPr>
          </a:p>
          <a:p>
            <a:r>
              <a:rPr lang="es-AR" b="1" dirty="0">
                <a:solidFill>
                  <a:srgbClr val="7F7F7F"/>
                </a:solidFill>
                <a:ea typeface="+mn-lt"/>
                <a:cs typeface="+mn-lt"/>
              </a:rPr>
              <a:t>L – </a:t>
            </a:r>
            <a:r>
              <a:rPr lang="es-AR" b="1" i="1" dirty="0" err="1">
                <a:solidFill>
                  <a:srgbClr val="7F7F7F"/>
                </a:solidFill>
                <a:ea typeface="+mn-lt"/>
                <a:cs typeface="+mn-lt"/>
              </a:rPr>
              <a:t>Liskov</a:t>
            </a:r>
            <a:r>
              <a:rPr lang="es-AR" b="1" i="1" dirty="0">
                <a:solidFill>
                  <a:srgbClr val="7F7F7F"/>
                </a:solidFill>
                <a:ea typeface="+mn-lt"/>
                <a:cs typeface="+mn-lt"/>
              </a:rPr>
              <a:t> </a:t>
            </a:r>
            <a:r>
              <a:rPr lang="es-AR" b="1" i="1" dirty="0" err="1">
                <a:solidFill>
                  <a:srgbClr val="7F7F7F"/>
                </a:solidFill>
                <a:ea typeface="+mn-lt"/>
                <a:cs typeface="+mn-lt"/>
              </a:rPr>
              <a:t>Substitution</a:t>
            </a:r>
            <a:br>
              <a:rPr lang="es-AR" b="1" dirty="0">
                <a:ea typeface="+mn-lt"/>
                <a:cs typeface="+mn-lt"/>
              </a:rPr>
            </a:br>
            <a:r>
              <a:rPr lang="es-AR" b="1" dirty="0">
                <a:solidFill>
                  <a:srgbClr val="7F7F7F"/>
                </a:solidFill>
                <a:ea typeface="+mn-lt"/>
                <a:cs typeface="+mn-lt"/>
              </a:rPr>
              <a:t> </a:t>
            </a:r>
            <a:r>
              <a:rPr lang="es-AR" b="1" i="1" dirty="0">
                <a:solidFill>
                  <a:srgbClr val="7F7F7F"/>
                </a:solidFill>
                <a:ea typeface="+mn-lt"/>
                <a:cs typeface="+mn-lt"/>
              </a:rPr>
              <a:t>Las subclases deben comportarse como sus padres.  ➡️ La herencia no debe romper </a:t>
            </a:r>
            <a:r>
              <a:rPr lang="es-AR" b="1" i="1" u="none" strike="noStrike" dirty="0">
                <a:solidFill>
                  <a:srgbClr val="7F7F7F"/>
                </a:solidFill>
                <a:effectLst/>
                <a:ea typeface="+mn-lt"/>
                <a:cs typeface="+mn-lt"/>
              </a:rPr>
              <a:t>el </a:t>
            </a:r>
            <a:r>
              <a:rPr lang="es-AR" b="1" i="1" dirty="0">
                <a:solidFill>
                  <a:srgbClr val="7F7F7F"/>
                </a:solidFill>
                <a:ea typeface="+mn-lt"/>
                <a:cs typeface="+mn-lt"/>
              </a:rPr>
              <a:t>sistema.</a:t>
            </a:r>
            <a:endParaRPr lang="en-US" b="1" dirty="0"/>
          </a:p>
          <a:p>
            <a:endParaRPr lang="es-AR" b="1" i="1" dirty="0">
              <a:solidFill>
                <a:srgbClr val="7F7F7F"/>
              </a:solidFill>
              <a:ea typeface="+mn-lt"/>
              <a:cs typeface="+mn-lt"/>
            </a:endParaRPr>
          </a:p>
          <a:p>
            <a:r>
              <a:rPr lang="es-AR" b="1" dirty="0">
                <a:solidFill>
                  <a:srgbClr val="7F7F7F"/>
                </a:solidFill>
                <a:ea typeface="+mn-lt"/>
                <a:cs typeface="+mn-lt"/>
              </a:rPr>
              <a:t>I – </a:t>
            </a:r>
            <a:r>
              <a:rPr lang="es-AR" b="1" i="1" dirty="0">
                <a:solidFill>
                  <a:srgbClr val="7F7F7F"/>
                </a:solidFill>
                <a:ea typeface="+mn-lt"/>
                <a:cs typeface="+mn-lt"/>
              </a:rPr>
              <a:t>Interface </a:t>
            </a:r>
            <a:r>
              <a:rPr lang="es-AR" b="1" i="1" dirty="0" err="1">
                <a:solidFill>
                  <a:srgbClr val="7F7F7F"/>
                </a:solidFill>
                <a:ea typeface="+mn-lt"/>
                <a:cs typeface="+mn-lt"/>
              </a:rPr>
              <a:t>Segregation</a:t>
            </a:r>
            <a:br>
              <a:rPr lang="es-AR" b="1" dirty="0">
                <a:ea typeface="+mn-lt"/>
                <a:cs typeface="+mn-lt"/>
              </a:rPr>
            </a:br>
            <a:r>
              <a:rPr lang="es-AR" b="1" dirty="0">
                <a:solidFill>
                  <a:srgbClr val="7F7F7F"/>
                </a:solidFill>
                <a:ea typeface="+mn-lt"/>
                <a:cs typeface="+mn-lt"/>
              </a:rPr>
              <a:t> </a:t>
            </a:r>
            <a:r>
              <a:rPr lang="es-AR" b="1" i="1" dirty="0">
                <a:solidFill>
                  <a:srgbClr val="7F7F7F"/>
                </a:solidFill>
                <a:ea typeface="+mn-lt"/>
                <a:cs typeface="+mn-lt"/>
              </a:rPr>
              <a:t>Interfaces pequeñas y específicas.  ➡️ </a:t>
            </a:r>
            <a:r>
              <a:rPr lang="es-AR" b="1" i="1" dirty="0" err="1">
                <a:solidFill>
                  <a:srgbClr val="7F7F7F"/>
                </a:solidFill>
                <a:ea typeface="+mn-lt"/>
                <a:cs typeface="+mn-lt"/>
              </a:rPr>
              <a:t>Evitá</a:t>
            </a:r>
            <a:r>
              <a:rPr lang="es-AR" b="1" i="1" dirty="0">
                <a:solidFill>
                  <a:srgbClr val="7F7F7F"/>
                </a:solidFill>
                <a:ea typeface="+mn-lt"/>
                <a:cs typeface="+mn-lt"/>
              </a:rPr>
              <a:t> depender de métodos innecesarios.</a:t>
            </a:r>
            <a:endParaRPr lang="en-US" b="1" dirty="0"/>
          </a:p>
          <a:p>
            <a:endParaRPr lang="es-AR" b="1" i="1" dirty="0">
              <a:solidFill>
                <a:srgbClr val="7F7F7F"/>
              </a:solidFill>
              <a:ea typeface="+mn-lt"/>
              <a:cs typeface="+mn-lt"/>
            </a:endParaRPr>
          </a:p>
          <a:p>
            <a:r>
              <a:rPr lang="es-AR" b="1" dirty="0">
                <a:solidFill>
                  <a:srgbClr val="7F7F7F"/>
                </a:solidFill>
                <a:ea typeface="+mn-lt"/>
                <a:cs typeface="+mn-lt"/>
              </a:rPr>
              <a:t> D – </a:t>
            </a:r>
            <a:r>
              <a:rPr lang="es-AR" b="1" i="1" dirty="0" err="1">
                <a:solidFill>
                  <a:srgbClr val="7F7F7F"/>
                </a:solidFill>
                <a:ea typeface="+mn-lt"/>
                <a:cs typeface="+mn-lt"/>
              </a:rPr>
              <a:t>Dependency</a:t>
            </a:r>
            <a:r>
              <a:rPr lang="es-AR" b="1" i="1" dirty="0">
                <a:solidFill>
                  <a:srgbClr val="7F7F7F"/>
                </a:solidFill>
                <a:ea typeface="+mn-lt"/>
                <a:cs typeface="+mn-lt"/>
              </a:rPr>
              <a:t> </a:t>
            </a:r>
            <a:r>
              <a:rPr lang="es-AR" b="1" i="1" dirty="0" err="1">
                <a:solidFill>
                  <a:srgbClr val="7F7F7F"/>
                </a:solidFill>
                <a:ea typeface="+mn-lt"/>
                <a:cs typeface="+mn-lt"/>
              </a:rPr>
              <a:t>Inversion</a:t>
            </a:r>
            <a:br>
              <a:rPr lang="es-AR" b="1" dirty="0">
                <a:ea typeface="+mn-lt"/>
                <a:cs typeface="+mn-lt"/>
              </a:rPr>
            </a:br>
            <a:r>
              <a:rPr lang="es-AR" b="1" dirty="0">
                <a:solidFill>
                  <a:srgbClr val="7F7F7F"/>
                </a:solidFill>
                <a:ea typeface="+mn-lt"/>
                <a:cs typeface="+mn-lt"/>
              </a:rPr>
              <a:t> </a:t>
            </a:r>
            <a:r>
              <a:rPr lang="es-AR" b="1" i="1" dirty="0">
                <a:solidFill>
                  <a:srgbClr val="7F7F7F"/>
                </a:solidFill>
                <a:ea typeface="+mn-lt"/>
                <a:cs typeface="+mn-lt"/>
              </a:rPr>
              <a:t>Depender de abstracciones, no implementaciones.  ➡️ </a:t>
            </a:r>
            <a:r>
              <a:rPr lang="es-AR" b="1" i="1" dirty="0" err="1">
                <a:solidFill>
                  <a:srgbClr val="7F7F7F"/>
                </a:solidFill>
                <a:ea typeface="+mn-lt"/>
                <a:cs typeface="+mn-lt"/>
              </a:rPr>
              <a:t>Acoplá</a:t>
            </a:r>
            <a:r>
              <a:rPr lang="es-AR" b="1" i="1" dirty="0">
                <a:solidFill>
                  <a:srgbClr val="7F7F7F"/>
                </a:solidFill>
                <a:ea typeface="+mn-lt"/>
                <a:cs typeface="+mn-lt"/>
              </a:rPr>
              <a:t> tu sistema a interfaces, no a detalles.</a:t>
            </a:r>
            <a:endParaRPr lang="es-AR" b="1" dirty="0"/>
          </a:p>
        </p:txBody>
      </p:sp>
      <p:sp>
        <p:nvSpPr>
          <p:cNvPr id="3" name="Elipse 2">
            <a:extLst>
              <a:ext uri="{FF2B5EF4-FFF2-40B4-BE49-F238E27FC236}">
                <a16:creationId xmlns:a16="http://schemas.microsoft.com/office/drawing/2014/main" id="{74F85F8D-1C10-E6FC-CDCB-0F1D5910643B}"/>
              </a:ext>
            </a:extLst>
          </p:cNvPr>
          <p:cNvSpPr/>
          <p:nvPr/>
        </p:nvSpPr>
        <p:spPr>
          <a:xfrm>
            <a:off x="520989" y="1735788"/>
            <a:ext cx="130628" cy="130628"/>
          </a:xfrm>
          <a:prstGeom prst="ellipse">
            <a:avLst/>
          </a:prstGeom>
          <a:solidFill>
            <a:srgbClr val="A57E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 name="Elipse 4">
            <a:extLst>
              <a:ext uri="{FF2B5EF4-FFF2-40B4-BE49-F238E27FC236}">
                <a16:creationId xmlns:a16="http://schemas.microsoft.com/office/drawing/2014/main" id="{25677FCF-A76E-CF0D-3203-61796F151F97}"/>
              </a:ext>
            </a:extLst>
          </p:cNvPr>
          <p:cNvSpPr/>
          <p:nvPr/>
        </p:nvSpPr>
        <p:spPr>
          <a:xfrm>
            <a:off x="520989" y="2927283"/>
            <a:ext cx="130628" cy="13062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Elipse 5">
            <a:extLst>
              <a:ext uri="{FF2B5EF4-FFF2-40B4-BE49-F238E27FC236}">
                <a16:creationId xmlns:a16="http://schemas.microsoft.com/office/drawing/2014/main" id="{05F0465B-188D-E72A-90A2-F3ECB64134EC}"/>
              </a:ext>
            </a:extLst>
          </p:cNvPr>
          <p:cNvSpPr/>
          <p:nvPr/>
        </p:nvSpPr>
        <p:spPr>
          <a:xfrm>
            <a:off x="520989" y="4021793"/>
            <a:ext cx="130628" cy="130628"/>
          </a:xfrm>
          <a:prstGeom prst="ellips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AR"/>
          </a:p>
        </p:txBody>
      </p:sp>
      <p:sp>
        <p:nvSpPr>
          <p:cNvPr id="7" name="Elipse 6">
            <a:extLst>
              <a:ext uri="{FF2B5EF4-FFF2-40B4-BE49-F238E27FC236}">
                <a16:creationId xmlns:a16="http://schemas.microsoft.com/office/drawing/2014/main" id="{501C014D-B108-90F2-064F-90C1AF7CE956}"/>
              </a:ext>
            </a:extLst>
          </p:cNvPr>
          <p:cNvSpPr/>
          <p:nvPr/>
        </p:nvSpPr>
        <p:spPr>
          <a:xfrm>
            <a:off x="520989" y="5116303"/>
            <a:ext cx="130628" cy="130628"/>
          </a:xfrm>
          <a:prstGeom prst="ellipse">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AR"/>
          </a:p>
        </p:txBody>
      </p:sp>
      <p:sp>
        <p:nvSpPr>
          <p:cNvPr id="8" name="Elipse 7">
            <a:extLst>
              <a:ext uri="{FF2B5EF4-FFF2-40B4-BE49-F238E27FC236}">
                <a16:creationId xmlns:a16="http://schemas.microsoft.com/office/drawing/2014/main" id="{495912F4-98C6-91D9-CE99-AE9CA5C7A574}"/>
              </a:ext>
            </a:extLst>
          </p:cNvPr>
          <p:cNvSpPr/>
          <p:nvPr/>
        </p:nvSpPr>
        <p:spPr>
          <a:xfrm>
            <a:off x="520989" y="5955490"/>
            <a:ext cx="130628" cy="13062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8262323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64A56-4AA8-85C0-53CF-77334B485B22}"/>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FC8EFDDF-D28D-137F-0863-02540E130A77}"/>
              </a:ext>
            </a:extLst>
          </p:cNvPr>
          <p:cNvSpPr txBox="1"/>
          <p:nvPr/>
        </p:nvSpPr>
        <p:spPr>
          <a:xfrm>
            <a:off x="319217" y="2875002"/>
            <a:ext cx="11553566" cy="1107996"/>
          </a:xfrm>
          <a:prstGeom prst="rect">
            <a:avLst/>
          </a:prstGeom>
          <a:noFill/>
        </p:spPr>
        <p:txBody>
          <a:bodyPr wrap="square" lIns="91440" tIns="45720" rIns="91440" bIns="45720" rtlCol="0" anchor="t">
            <a:spAutoFit/>
          </a:bodyPr>
          <a:lstStyle/>
          <a:p>
            <a:pPr algn="ctr"/>
            <a:r>
              <a:rPr lang="es-AR" sz="6600" b="1" dirty="0">
                <a:solidFill>
                  <a:schemeClr val="bg1"/>
                </a:solidFill>
                <a:ea typeface="Calibri"/>
                <a:cs typeface="Calibri"/>
              </a:rPr>
              <a:t>¿Preguntas?</a:t>
            </a:r>
          </a:p>
        </p:txBody>
      </p:sp>
    </p:spTree>
    <p:extLst>
      <p:ext uri="{BB962C8B-B14F-4D97-AF65-F5344CB8AC3E}">
        <p14:creationId xmlns:p14="http://schemas.microsoft.com/office/powerpoint/2010/main" val="38037149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8DD8B87C-C830-682A-4B7B-E9BA46DAD953}"/>
              </a:ext>
            </a:extLst>
          </p:cNvPr>
          <p:cNvSpPr/>
          <p:nvPr/>
        </p:nvSpPr>
        <p:spPr>
          <a:xfrm>
            <a:off x="-30822" y="0"/>
            <a:ext cx="5377970" cy="6858002"/>
          </a:xfrm>
          <a:prstGeom prst="rect">
            <a:avLst/>
          </a:prstGeom>
          <a:solidFill>
            <a:srgbClr val="E1E1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8" name="Imagen 7">
            <a:extLst>
              <a:ext uri="{FF2B5EF4-FFF2-40B4-BE49-F238E27FC236}">
                <a16:creationId xmlns:a16="http://schemas.microsoft.com/office/drawing/2014/main" id="{0FF60EDB-6267-EFDB-1380-1704C3E8948B}"/>
              </a:ext>
            </a:extLst>
          </p:cNvPr>
          <p:cNvPicPr>
            <a:picLocks noChangeAspect="1"/>
          </p:cNvPicPr>
          <p:nvPr/>
        </p:nvPicPr>
        <p:blipFill>
          <a:blip r:embed="rId2">
            <a:extLst>
              <a:ext uri="{28A0092B-C50C-407E-A947-70E740481C1C}">
                <a14:useLocalDpi xmlns:a14="http://schemas.microsoft.com/office/drawing/2010/main" val="0"/>
              </a:ext>
            </a:extLst>
          </a:blip>
          <a:srcRect t="14827" b="14827"/>
          <a:stretch/>
        </p:blipFill>
        <p:spPr>
          <a:xfrm rot="16200000">
            <a:off x="3918106" y="1020714"/>
            <a:ext cx="6858001" cy="4816573"/>
          </a:xfrm>
          <a:prstGeom prst="rect">
            <a:avLst/>
          </a:prstGeom>
        </p:spPr>
      </p:pic>
      <p:sp>
        <p:nvSpPr>
          <p:cNvPr id="9" name="Rectángulo 8">
            <a:extLst>
              <a:ext uri="{FF2B5EF4-FFF2-40B4-BE49-F238E27FC236}">
                <a16:creationId xmlns:a16="http://schemas.microsoft.com/office/drawing/2014/main" id="{EB3135A7-4C40-FBEB-0B4B-542FE662277F}"/>
              </a:ext>
            </a:extLst>
          </p:cNvPr>
          <p:cNvSpPr/>
          <p:nvPr/>
        </p:nvSpPr>
        <p:spPr>
          <a:xfrm>
            <a:off x="711200" y="769257"/>
            <a:ext cx="8302171" cy="5384800"/>
          </a:xfrm>
          <a:prstGeom prst="rect">
            <a:avLst/>
          </a:prstGeom>
          <a:solidFill>
            <a:srgbClr val="4C4C4C">
              <a:alpha val="88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3" name="Rectángulo 22">
            <a:extLst>
              <a:ext uri="{FF2B5EF4-FFF2-40B4-BE49-F238E27FC236}">
                <a16:creationId xmlns:a16="http://schemas.microsoft.com/office/drawing/2014/main" id="{1AB98000-0149-1801-9ECA-D5A25455BCCA}"/>
              </a:ext>
            </a:extLst>
          </p:cNvPr>
          <p:cNvSpPr/>
          <p:nvPr/>
        </p:nvSpPr>
        <p:spPr>
          <a:xfrm>
            <a:off x="711200" y="769257"/>
            <a:ext cx="8302171" cy="5384800"/>
          </a:xfrm>
          <a:prstGeom prst="rect">
            <a:avLst/>
          </a:prstGeom>
          <a:noFill/>
          <a:ln w="76200">
            <a:solidFill>
              <a:srgbClr val="F6A61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Forma libre: forma 6">
            <a:extLst>
              <a:ext uri="{FF2B5EF4-FFF2-40B4-BE49-F238E27FC236}">
                <a16:creationId xmlns:a16="http://schemas.microsoft.com/office/drawing/2014/main" id="{5BA26AD5-71CC-52AB-7D6C-4601C5C16AD7}"/>
              </a:ext>
            </a:extLst>
          </p:cNvPr>
          <p:cNvSpPr/>
          <p:nvPr/>
        </p:nvSpPr>
        <p:spPr>
          <a:xfrm>
            <a:off x="2109047" y="3983734"/>
            <a:ext cx="1493811" cy="568526"/>
          </a:xfrm>
          <a:custGeom>
            <a:avLst/>
            <a:gdLst>
              <a:gd name="connsiteX0" fmla="*/ 1346911 w 1493811"/>
              <a:gd name="connsiteY0" fmla="*/ 0 h 568526"/>
              <a:gd name="connsiteX1" fmla="*/ 43879 w 1493811"/>
              <a:gd name="connsiteY1" fmla="*/ 0 h 568526"/>
              <a:gd name="connsiteX2" fmla="*/ 0 w 1493811"/>
              <a:gd name="connsiteY2" fmla="*/ 43880 h 568526"/>
              <a:gd name="connsiteX3" fmla="*/ 0 w 1493811"/>
              <a:gd name="connsiteY3" fmla="*/ 524647 h 568526"/>
              <a:gd name="connsiteX4" fmla="*/ 13355 w 1493811"/>
              <a:gd name="connsiteY4" fmla="*/ 555172 h 568526"/>
              <a:gd name="connsiteX5" fmla="*/ 43879 w 1493811"/>
              <a:gd name="connsiteY5" fmla="*/ 568526 h 568526"/>
              <a:gd name="connsiteX6" fmla="*/ 1346911 w 1493811"/>
              <a:gd name="connsiteY6" fmla="*/ 568526 h 568526"/>
              <a:gd name="connsiteX7" fmla="*/ 1493812 w 1493811"/>
              <a:gd name="connsiteY7" fmla="*/ 360575 h 568526"/>
              <a:gd name="connsiteX8" fmla="*/ 1493812 w 1493811"/>
              <a:gd name="connsiteY8" fmla="*/ 207951 h 568526"/>
              <a:gd name="connsiteX9" fmla="*/ 1346911 w 1493811"/>
              <a:gd name="connsiteY9" fmla="*/ 0 h 568526"/>
              <a:gd name="connsiteX10" fmla="*/ 1066464 w 1493811"/>
              <a:gd name="connsiteY10" fmla="*/ 87759 h 568526"/>
              <a:gd name="connsiteX11" fmla="*/ 1127513 w 1493811"/>
              <a:gd name="connsiteY11" fmla="*/ 207951 h 568526"/>
              <a:gd name="connsiteX12" fmla="*/ 1127513 w 1493811"/>
              <a:gd name="connsiteY12" fmla="*/ 360575 h 568526"/>
              <a:gd name="connsiteX13" fmla="*/ 1066464 w 1493811"/>
              <a:gd name="connsiteY13" fmla="*/ 480767 h 568526"/>
              <a:gd name="connsiteX14" fmla="*/ 908116 w 1493811"/>
              <a:gd name="connsiteY14" fmla="*/ 480767 h 568526"/>
              <a:gd name="connsiteX15" fmla="*/ 934825 w 1493811"/>
              <a:gd name="connsiteY15" fmla="*/ 360575 h 568526"/>
              <a:gd name="connsiteX16" fmla="*/ 934825 w 1493811"/>
              <a:gd name="connsiteY16" fmla="*/ 207951 h 568526"/>
              <a:gd name="connsiteX17" fmla="*/ 908116 w 1493811"/>
              <a:gd name="connsiteY17" fmla="*/ 87759 h 568526"/>
              <a:gd name="connsiteX18" fmla="*/ 1066464 w 1493811"/>
              <a:gd name="connsiteY18" fmla="*/ 87759 h 568526"/>
              <a:gd name="connsiteX19" fmla="*/ 87759 w 1493811"/>
              <a:gd name="connsiteY19" fmla="*/ 87759 h 568526"/>
              <a:gd name="connsiteX20" fmla="*/ 787924 w 1493811"/>
              <a:gd name="connsiteY20" fmla="*/ 87759 h 568526"/>
              <a:gd name="connsiteX21" fmla="*/ 847066 w 1493811"/>
              <a:gd name="connsiteY21" fmla="*/ 207951 h 568526"/>
              <a:gd name="connsiteX22" fmla="*/ 847066 w 1493811"/>
              <a:gd name="connsiteY22" fmla="*/ 360575 h 568526"/>
              <a:gd name="connsiteX23" fmla="*/ 787924 w 1493811"/>
              <a:gd name="connsiteY23" fmla="*/ 480767 h 568526"/>
              <a:gd name="connsiteX24" fmla="*/ 87759 w 1493811"/>
              <a:gd name="connsiteY24" fmla="*/ 480767 h 568526"/>
              <a:gd name="connsiteX25" fmla="*/ 87759 w 1493811"/>
              <a:gd name="connsiteY25" fmla="*/ 87759 h 568526"/>
              <a:gd name="connsiteX26" fmla="*/ 1407961 w 1493811"/>
              <a:gd name="connsiteY26" fmla="*/ 360575 h 568526"/>
              <a:gd name="connsiteX27" fmla="*/ 1346911 w 1493811"/>
              <a:gd name="connsiteY27" fmla="*/ 480767 h 568526"/>
              <a:gd name="connsiteX28" fmla="*/ 1188563 w 1493811"/>
              <a:gd name="connsiteY28" fmla="*/ 480767 h 568526"/>
              <a:gd name="connsiteX29" fmla="*/ 1215272 w 1493811"/>
              <a:gd name="connsiteY29" fmla="*/ 360575 h 568526"/>
              <a:gd name="connsiteX30" fmla="*/ 1215272 w 1493811"/>
              <a:gd name="connsiteY30" fmla="*/ 207951 h 568526"/>
              <a:gd name="connsiteX31" fmla="*/ 1188563 w 1493811"/>
              <a:gd name="connsiteY31" fmla="*/ 87759 h 568526"/>
              <a:gd name="connsiteX32" fmla="*/ 1346911 w 1493811"/>
              <a:gd name="connsiteY32" fmla="*/ 87759 h 568526"/>
              <a:gd name="connsiteX33" fmla="*/ 1407961 w 1493811"/>
              <a:gd name="connsiteY33" fmla="*/ 207951 h 568526"/>
              <a:gd name="connsiteX34" fmla="*/ 1407961 w 1493811"/>
              <a:gd name="connsiteY34" fmla="*/ 360575 h 56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493811" h="568526">
                <a:moveTo>
                  <a:pt x="1346911" y="0"/>
                </a:moveTo>
                <a:lnTo>
                  <a:pt x="43879" y="0"/>
                </a:lnTo>
                <a:cubicBezTo>
                  <a:pt x="19078" y="0"/>
                  <a:pt x="0" y="19078"/>
                  <a:pt x="0" y="43880"/>
                </a:cubicBezTo>
                <a:lnTo>
                  <a:pt x="0" y="524647"/>
                </a:lnTo>
                <a:cubicBezTo>
                  <a:pt x="0" y="536093"/>
                  <a:pt x="3816" y="547540"/>
                  <a:pt x="13355" y="555172"/>
                </a:cubicBezTo>
                <a:cubicBezTo>
                  <a:pt x="20986" y="562803"/>
                  <a:pt x="32433" y="568526"/>
                  <a:pt x="43879" y="568526"/>
                </a:cubicBezTo>
                <a:lnTo>
                  <a:pt x="1346911" y="568526"/>
                </a:lnTo>
                <a:cubicBezTo>
                  <a:pt x="1428947" y="568526"/>
                  <a:pt x="1493812" y="476951"/>
                  <a:pt x="1493812" y="360575"/>
                </a:cubicBezTo>
                <a:lnTo>
                  <a:pt x="1493812" y="207951"/>
                </a:lnTo>
                <a:cubicBezTo>
                  <a:pt x="1493812" y="91575"/>
                  <a:pt x="1428947" y="0"/>
                  <a:pt x="1346911" y="0"/>
                </a:cubicBezTo>
                <a:close/>
                <a:moveTo>
                  <a:pt x="1066464" y="87759"/>
                </a:moveTo>
                <a:cubicBezTo>
                  <a:pt x="1095081" y="87759"/>
                  <a:pt x="1127513" y="139270"/>
                  <a:pt x="1127513" y="207951"/>
                </a:cubicBezTo>
                <a:lnTo>
                  <a:pt x="1127513" y="360575"/>
                </a:lnTo>
                <a:cubicBezTo>
                  <a:pt x="1127513" y="427349"/>
                  <a:pt x="1095081" y="480767"/>
                  <a:pt x="1066464" y="480767"/>
                </a:cubicBezTo>
                <a:lnTo>
                  <a:pt x="908116" y="480767"/>
                </a:lnTo>
                <a:cubicBezTo>
                  <a:pt x="925286" y="446426"/>
                  <a:pt x="934825" y="406363"/>
                  <a:pt x="934825" y="360575"/>
                </a:cubicBezTo>
                <a:lnTo>
                  <a:pt x="934825" y="207951"/>
                </a:lnTo>
                <a:cubicBezTo>
                  <a:pt x="934825" y="162163"/>
                  <a:pt x="925286" y="122100"/>
                  <a:pt x="908116" y="87759"/>
                </a:cubicBezTo>
                <a:lnTo>
                  <a:pt x="1066464" y="87759"/>
                </a:lnTo>
                <a:close/>
                <a:moveTo>
                  <a:pt x="87759" y="87759"/>
                </a:moveTo>
                <a:lnTo>
                  <a:pt x="787924" y="87759"/>
                </a:lnTo>
                <a:cubicBezTo>
                  <a:pt x="816541" y="87759"/>
                  <a:pt x="847066" y="139270"/>
                  <a:pt x="847066" y="207951"/>
                </a:cubicBezTo>
                <a:lnTo>
                  <a:pt x="847066" y="360575"/>
                </a:lnTo>
                <a:cubicBezTo>
                  <a:pt x="847066" y="427349"/>
                  <a:pt x="814633" y="480767"/>
                  <a:pt x="787924" y="480767"/>
                </a:cubicBezTo>
                <a:lnTo>
                  <a:pt x="87759" y="480767"/>
                </a:lnTo>
                <a:lnTo>
                  <a:pt x="87759" y="87759"/>
                </a:lnTo>
                <a:close/>
                <a:moveTo>
                  <a:pt x="1407961" y="360575"/>
                </a:moveTo>
                <a:cubicBezTo>
                  <a:pt x="1407961" y="427349"/>
                  <a:pt x="1375528" y="480767"/>
                  <a:pt x="1346911" y="480767"/>
                </a:cubicBezTo>
                <a:lnTo>
                  <a:pt x="1188563" y="480767"/>
                </a:lnTo>
                <a:cubicBezTo>
                  <a:pt x="1205733" y="446426"/>
                  <a:pt x="1215272" y="406363"/>
                  <a:pt x="1215272" y="360575"/>
                </a:cubicBezTo>
                <a:lnTo>
                  <a:pt x="1215272" y="207951"/>
                </a:lnTo>
                <a:cubicBezTo>
                  <a:pt x="1215272" y="162163"/>
                  <a:pt x="1205733" y="122100"/>
                  <a:pt x="1188563" y="87759"/>
                </a:cubicBezTo>
                <a:lnTo>
                  <a:pt x="1346911" y="87759"/>
                </a:lnTo>
                <a:cubicBezTo>
                  <a:pt x="1375528" y="87759"/>
                  <a:pt x="1407961" y="139270"/>
                  <a:pt x="1407961" y="207951"/>
                </a:cubicBezTo>
                <a:lnTo>
                  <a:pt x="1407961" y="360575"/>
                </a:lnTo>
                <a:close/>
              </a:path>
            </a:pathLst>
          </a:custGeom>
          <a:solidFill>
            <a:srgbClr val="F6A610"/>
          </a:solidFill>
          <a:ln w="190500" cap="flat">
            <a:noFill/>
            <a:prstDash val="solid"/>
            <a:miter/>
          </a:ln>
        </p:spPr>
        <p:txBody>
          <a:bodyPr rtlCol="0" anchor="ctr"/>
          <a:lstStyle/>
          <a:p>
            <a:endParaRPr lang="es-AR"/>
          </a:p>
        </p:txBody>
      </p:sp>
      <p:sp>
        <p:nvSpPr>
          <p:cNvPr id="10" name="Forma libre: forma 9">
            <a:extLst>
              <a:ext uri="{FF2B5EF4-FFF2-40B4-BE49-F238E27FC236}">
                <a16:creationId xmlns:a16="http://schemas.microsoft.com/office/drawing/2014/main" id="{D21CB0E9-B92C-3A4A-B769-17DA7A04C7AC}"/>
              </a:ext>
            </a:extLst>
          </p:cNvPr>
          <p:cNvSpPr/>
          <p:nvPr/>
        </p:nvSpPr>
        <p:spPr>
          <a:xfrm>
            <a:off x="1354003" y="3983734"/>
            <a:ext cx="1041214" cy="570433"/>
          </a:xfrm>
          <a:custGeom>
            <a:avLst/>
            <a:gdLst>
              <a:gd name="connsiteX0" fmla="*/ 894314 w 1041214"/>
              <a:gd name="connsiteY0" fmla="*/ 0 h 570433"/>
              <a:gd name="connsiteX1" fmla="*/ 45340 w 1041214"/>
              <a:gd name="connsiteY1" fmla="*/ 0 h 570433"/>
              <a:gd name="connsiteX2" fmla="*/ 7184 w 1041214"/>
              <a:gd name="connsiteY2" fmla="*/ 22894 h 570433"/>
              <a:gd name="connsiteX3" fmla="*/ 7184 w 1041214"/>
              <a:gd name="connsiteY3" fmla="*/ 66773 h 570433"/>
              <a:gd name="connsiteX4" fmla="*/ 7184 w 1041214"/>
              <a:gd name="connsiteY4" fmla="*/ 501753 h 570433"/>
              <a:gd name="connsiteX5" fmla="*/ 20539 w 1041214"/>
              <a:gd name="connsiteY5" fmla="*/ 562803 h 570433"/>
              <a:gd name="connsiteX6" fmla="*/ 43432 w 1041214"/>
              <a:gd name="connsiteY6" fmla="*/ 570434 h 570433"/>
              <a:gd name="connsiteX7" fmla="*/ 894314 w 1041214"/>
              <a:gd name="connsiteY7" fmla="*/ 570434 h 570433"/>
              <a:gd name="connsiteX8" fmla="*/ 1041215 w 1041214"/>
              <a:gd name="connsiteY8" fmla="*/ 362483 h 570433"/>
              <a:gd name="connsiteX9" fmla="*/ 1041215 w 1041214"/>
              <a:gd name="connsiteY9" fmla="*/ 209859 h 570433"/>
              <a:gd name="connsiteX10" fmla="*/ 894314 w 1041214"/>
              <a:gd name="connsiteY10" fmla="*/ 1908 h 570433"/>
              <a:gd name="connsiteX11" fmla="*/ 955364 w 1041214"/>
              <a:gd name="connsiteY11" fmla="*/ 360575 h 570433"/>
              <a:gd name="connsiteX12" fmla="*/ 894314 w 1041214"/>
              <a:gd name="connsiteY12" fmla="*/ 480767 h 570433"/>
              <a:gd name="connsiteX13" fmla="*/ 115929 w 1041214"/>
              <a:gd name="connsiteY13" fmla="*/ 480767 h 570433"/>
              <a:gd name="connsiteX14" fmla="*/ 150269 w 1041214"/>
              <a:gd name="connsiteY14" fmla="*/ 328143 h 570433"/>
              <a:gd name="connsiteX15" fmla="*/ 774122 w 1041214"/>
              <a:gd name="connsiteY15" fmla="*/ 328143 h 570433"/>
              <a:gd name="connsiteX16" fmla="*/ 818002 w 1041214"/>
              <a:gd name="connsiteY16" fmla="*/ 284263 h 570433"/>
              <a:gd name="connsiteX17" fmla="*/ 774122 w 1041214"/>
              <a:gd name="connsiteY17" fmla="*/ 240384 h 570433"/>
              <a:gd name="connsiteX18" fmla="*/ 150269 w 1041214"/>
              <a:gd name="connsiteY18" fmla="*/ 240384 h 570433"/>
              <a:gd name="connsiteX19" fmla="*/ 115929 w 1041214"/>
              <a:gd name="connsiteY19" fmla="*/ 87759 h 570433"/>
              <a:gd name="connsiteX20" fmla="*/ 894314 w 1041214"/>
              <a:gd name="connsiteY20" fmla="*/ 87759 h 570433"/>
              <a:gd name="connsiteX21" fmla="*/ 955364 w 1041214"/>
              <a:gd name="connsiteY21" fmla="*/ 207951 h 570433"/>
              <a:gd name="connsiteX22" fmla="*/ 955364 w 1041214"/>
              <a:gd name="connsiteY22" fmla="*/ 360575 h 57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41214" h="570433">
                <a:moveTo>
                  <a:pt x="894314" y="0"/>
                </a:moveTo>
                <a:lnTo>
                  <a:pt x="45340" y="0"/>
                </a:lnTo>
                <a:cubicBezTo>
                  <a:pt x="30078" y="0"/>
                  <a:pt x="14815" y="9539"/>
                  <a:pt x="7184" y="22894"/>
                </a:cubicBezTo>
                <a:cubicBezTo>
                  <a:pt x="-447" y="36248"/>
                  <a:pt x="-447" y="53419"/>
                  <a:pt x="7184" y="66773"/>
                </a:cubicBezTo>
                <a:cubicBezTo>
                  <a:pt x="81588" y="185057"/>
                  <a:pt x="81588" y="383469"/>
                  <a:pt x="7184" y="501753"/>
                </a:cubicBezTo>
                <a:cubicBezTo>
                  <a:pt x="-6171" y="522739"/>
                  <a:pt x="-447" y="549448"/>
                  <a:pt x="20539" y="562803"/>
                </a:cubicBezTo>
                <a:cubicBezTo>
                  <a:pt x="28170" y="566618"/>
                  <a:pt x="35801" y="570434"/>
                  <a:pt x="43432" y="570434"/>
                </a:cubicBezTo>
                <a:lnTo>
                  <a:pt x="894314" y="570434"/>
                </a:lnTo>
                <a:cubicBezTo>
                  <a:pt x="976349" y="570434"/>
                  <a:pt x="1041215" y="478859"/>
                  <a:pt x="1041215" y="362483"/>
                </a:cubicBezTo>
                <a:lnTo>
                  <a:pt x="1041215" y="209859"/>
                </a:lnTo>
                <a:cubicBezTo>
                  <a:pt x="1041215" y="93483"/>
                  <a:pt x="976349" y="1908"/>
                  <a:pt x="894314" y="1908"/>
                </a:cubicBezTo>
                <a:close/>
                <a:moveTo>
                  <a:pt x="955364" y="360575"/>
                </a:moveTo>
                <a:cubicBezTo>
                  <a:pt x="955364" y="427349"/>
                  <a:pt x="922931" y="480767"/>
                  <a:pt x="894314" y="480767"/>
                </a:cubicBezTo>
                <a:lnTo>
                  <a:pt x="115929" y="480767"/>
                </a:lnTo>
                <a:cubicBezTo>
                  <a:pt x="135007" y="433072"/>
                  <a:pt x="146454" y="381561"/>
                  <a:pt x="150269" y="328143"/>
                </a:cubicBezTo>
                <a:lnTo>
                  <a:pt x="774122" y="328143"/>
                </a:lnTo>
                <a:cubicBezTo>
                  <a:pt x="798923" y="328143"/>
                  <a:pt x="818002" y="309065"/>
                  <a:pt x="818002" y="284263"/>
                </a:cubicBezTo>
                <a:cubicBezTo>
                  <a:pt x="818002" y="259462"/>
                  <a:pt x="798923" y="240384"/>
                  <a:pt x="774122" y="240384"/>
                </a:cubicBezTo>
                <a:lnTo>
                  <a:pt x="150269" y="240384"/>
                </a:lnTo>
                <a:cubicBezTo>
                  <a:pt x="146454" y="186965"/>
                  <a:pt x="135007" y="135454"/>
                  <a:pt x="115929" y="87759"/>
                </a:cubicBezTo>
                <a:lnTo>
                  <a:pt x="894314" y="87759"/>
                </a:lnTo>
                <a:cubicBezTo>
                  <a:pt x="922931" y="87759"/>
                  <a:pt x="955364" y="139270"/>
                  <a:pt x="955364" y="207951"/>
                </a:cubicBezTo>
                <a:lnTo>
                  <a:pt x="955364" y="360575"/>
                </a:lnTo>
                <a:close/>
              </a:path>
            </a:pathLst>
          </a:custGeom>
          <a:solidFill>
            <a:srgbClr val="F6A610"/>
          </a:solidFill>
          <a:ln w="190500" cap="flat">
            <a:noFill/>
            <a:prstDash val="solid"/>
            <a:miter/>
          </a:ln>
        </p:spPr>
        <p:txBody>
          <a:bodyPr rtlCol="0" anchor="ctr"/>
          <a:lstStyle/>
          <a:p>
            <a:endParaRPr lang="es-AR"/>
          </a:p>
        </p:txBody>
      </p:sp>
      <p:sp>
        <p:nvSpPr>
          <p:cNvPr id="11" name="Forma libre: forma 10">
            <a:extLst>
              <a:ext uri="{FF2B5EF4-FFF2-40B4-BE49-F238E27FC236}">
                <a16:creationId xmlns:a16="http://schemas.microsoft.com/office/drawing/2014/main" id="{7D4F3068-400A-1AAD-3A7E-E85AD3AB46A7}"/>
              </a:ext>
            </a:extLst>
          </p:cNvPr>
          <p:cNvSpPr/>
          <p:nvPr/>
        </p:nvSpPr>
        <p:spPr>
          <a:xfrm>
            <a:off x="1542647" y="2860037"/>
            <a:ext cx="1764575" cy="1213364"/>
          </a:xfrm>
          <a:custGeom>
            <a:avLst/>
            <a:gdLst>
              <a:gd name="connsiteX0" fmla="*/ 1665296 w 1764575"/>
              <a:gd name="connsiteY0" fmla="*/ 927194 h 1213364"/>
              <a:gd name="connsiteX1" fmla="*/ 1751147 w 1764575"/>
              <a:gd name="connsiteY1" fmla="*/ 717335 h 1213364"/>
              <a:gd name="connsiteX2" fmla="*/ 1751147 w 1764575"/>
              <a:gd name="connsiteY2" fmla="*/ 656285 h 1213364"/>
              <a:gd name="connsiteX3" fmla="*/ 1720622 w 1764575"/>
              <a:gd name="connsiteY3" fmla="*/ 642930 h 1213364"/>
              <a:gd name="connsiteX4" fmla="*/ 1505040 w 1764575"/>
              <a:gd name="connsiteY4" fmla="*/ 642930 h 1213364"/>
              <a:gd name="connsiteX5" fmla="*/ 1505040 w 1764575"/>
              <a:gd name="connsiteY5" fmla="*/ 43880 h 1213364"/>
              <a:gd name="connsiteX6" fmla="*/ 1461161 w 1764575"/>
              <a:gd name="connsiteY6" fmla="*/ 0 h 1213364"/>
              <a:gd name="connsiteX7" fmla="*/ 264966 w 1764575"/>
              <a:gd name="connsiteY7" fmla="*/ 0 h 1213364"/>
              <a:gd name="connsiteX8" fmla="*/ 13136 w 1764575"/>
              <a:gd name="connsiteY8" fmla="*/ 13355 h 1213364"/>
              <a:gd name="connsiteX9" fmla="*/ 7413 w 1764575"/>
              <a:gd name="connsiteY9" fmla="*/ 68681 h 1213364"/>
              <a:gd name="connsiteX10" fmla="*/ 7413 w 1764575"/>
              <a:gd name="connsiteY10" fmla="*/ 662009 h 1213364"/>
              <a:gd name="connsiteX11" fmla="*/ 5505 w 1764575"/>
              <a:gd name="connsiteY11" fmla="*/ 707796 h 1213364"/>
              <a:gd name="connsiteX12" fmla="*/ 43661 w 1764575"/>
              <a:gd name="connsiteY12" fmla="*/ 730690 h 1213364"/>
              <a:gd name="connsiteX13" fmla="*/ 215363 w 1764575"/>
              <a:gd name="connsiteY13" fmla="*/ 730690 h 1213364"/>
              <a:gd name="connsiteX14" fmla="*/ 177207 w 1764575"/>
              <a:gd name="connsiteY14" fmla="*/ 850881 h 1213364"/>
              <a:gd name="connsiteX15" fmla="*/ 177207 w 1764575"/>
              <a:gd name="connsiteY15" fmla="*/ 1005414 h 1213364"/>
              <a:gd name="connsiteX16" fmla="*/ 385158 w 1764575"/>
              <a:gd name="connsiteY16" fmla="*/ 1213364 h 1213364"/>
              <a:gd name="connsiteX17" fmla="*/ 1720622 w 1764575"/>
              <a:gd name="connsiteY17" fmla="*/ 1213364 h 1213364"/>
              <a:gd name="connsiteX18" fmla="*/ 1760686 w 1764575"/>
              <a:gd name="connsiteY18" fmla="*/ 1186655 h 1213364"/>
              <a:gd name="connsiteX19" fmla="*/ 1751147 w 1764575"/>
              <a:gd name="connsiteY19" fmla="*/ 1138960 h 1213364"/>
              <a:gd name="connsiteX20" fmla="*/ 1665296 w 1764575"/>
              <a:gd name="connsiteY20" fmla="*/ 929101 h 1213364"/>
              <a:gd name="connsiteX21" fmla="*/ 160037 w 1764575"/>
              <a:gd name="connsiteY21" fmla="*/ 518923 h 1213364"/>
              <a:gd name="connsiteX22" fmla="*/ 1266565 w 1764575"/>
              <a:gd name="connsiteY22" fmla="*/ 518923 h 1213364"/>
              <a:gd name="connsiteX23" fmla="*/ 1310444 w 1764575"/>
              <a:gd name="connsiteY23" fmla="*/ 475044 h 1213364"/>
              <a:gd name="connsiteX24" fmla="*/ 1266565 w 1764575"/>
              <a:gd name="connsiteY24" fmla="*/ 431164 h 1213364"/>
              <a:gd name="connsiteX25" fmla="*/ 173392 w 1764575"/>
              <a:gd name="connsiteY25" fmla="*/ 431164 h 1213364"/>
              <a:gd name="connsiteX26" fmla="*/ 173392 w 1764575"/>
              <a:gd name="connsiteY26" fmla="*/ 299525 h 1213364"/>
              <a:gd name="connsiteX27" fmla="*/ 1266565 w 1764575"/>
              <a:gd name="connsiteY27" fmla="*/ 299525 h 1213364"/>
              <a:gd name="connsiteX28" fmla="*/ 1310444 w 1764575"/>
              <a:gd name="connsiteY28" fmla="*/ 255646 h 1213364"/>
              <a:gd name="connsiteX29" fmla="*/ 1266565 w 1764575"/>
              <a:gd name="connsiteY29" fmla="*/ 211766 h 1213364"/>
              <a:gd name="connsiteX30" fmla="*/ 160037 w 1764575"/>
              <a:gd name="connsiteY30" fmla="*/ 211766 h 1213364"/>
              <a:gd name="connsiteX31" fmla="*/ 118065 w 1764575"/>
              <a:gd name="connsiteY31" fmla="*/ 87759 h 1213364"/>
              <a:gd name="connsiteX32" fmla="*/ 1417281 w 1764575"/>
              <a:gd name="connsiteY32" fmla="*/ 87759 h 1213364"/>
              <a:gd name="connsiteX33" fmla="*/ 1417281 w 1764575"/>
              <a:gd name="connsiteY33" fmla="*/ 642930 h 1213364"/>
              <a:gd name="connsiteX34" fmla="*/ 118065 w 1764575"/>
              <a:gd name="connsiteY34" fmla="*/ 642930 h 1213364"/>
              <a:gd name="connsiteX35" fmla="*/ 160037 w 1764575"/>
              <a:gd name="connsiteY35" fmla="*/ 518923 h 1213364"/>
              <a:gd name="connsiteX36" fmla="*/ 385158 w 1764575"/>
              <a:gd name="connsiteY36" fmla="*/ 1123698 h 1213364"/>
              <a:gd name="connsiteX37" fmla="*/ 264966 w 1764575"/>
              <a:gd name="connsiteY37" fmla="*/ 1003506 h 1213364"/>
              <a:gd name="connsiteX38" fmla="*/ 264966 w 1764575"/>
              <a:gd name="connsiteY38" fmla="*/ 848973 h 1213364"/>
              <a:gd name="connsiteX39" fmla="*/ 385158 w 1764575"/>
              <a:gd name="connsiteY39" fmla="*/ 728782 h 1213364"/>
              <a:gd name="connsiteX40" fmla="*/ 1632863 w 1764575"/>
              <a:gd name="connsiteY40" fmla="*/ 728782 h 1213364"/>
              <a:gd name="connsiteX41" fmla="*/ 1581353 w 1764575"/>
              <a:gd name="connsiteY41" fmla="*/ 881406 h 1213364"/>
              <a:gd name="connsiteX42" fmla="*/ 484364 w 1764575"/>
              <a:gd name="connsiteY42" fmla="*/ 881406 h 1213364"/>
              <a:gd name="connsiteX43" fmla="*/ 440485 w 1764575"/>
              <a:gd name="connsiteY43" fmla="*/ 925286 h 1213364"/>
              <a:gd name="connsiteX44" fmla="*/ 484364 w 1764575"/>
              <a:gd name="connsiteY44" fmla="*/ 969165 h 1213364"/>
              <a:gd name="connsiteX45" fmla="*/ 1579445 w 1764575"/>
              <a:gd name="connsiteY45" fmla="*/ 969165 h 1213364"/>
              <a:gd name="connsiteX46" fmla="*/ 1630955 w 1764575"/>
              <a:gd name="connsiteY46" fmla="*/ 1121790 h 1213364"/>
              <a:gd name="connsiteX47" fmla="*/ 385158 w 1764575"/>
              <a:gd name="connsiteY47" fmla="*/ 1121790 h 1213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764575" h="1213364">
                <a:moveTo>
                  <a:pt x="1665296" y="927194"/>
                </a:moveTo>
                <a:cubicBezTo>
                  <a:pt x="1665296" y="847066"/>
                  <a:pt x="1695821" y="774569"/>
                  <a:pt x="1751147" y="717335"/>
                </a:cubicBezTo>
                <a:cubicBezTo>
                  <a:pt x="1768318" y="700165"/>
                  <a:pt x="1768318" y="673455"/>
                  <a:pt x="1751147" y="656285"/>
                </a:cubicBezTo>
                <a:cubicBezTo>
                  <a:pt x="1743516" y="646746"/>
                  <a:pt x="1732069" y="642930"/>
                  <a:pt x="1720622" y="642930"/>
                </a:cubicBezTo>
                <a:lnTo>
                  <a:pt x="1505040" y="642930"/>
                </a:lnTo>
                <a:lnTo>
                  <a:pt x="1505040" y="43880"/>
                </a:lnTo>
                <a:cubicBezTo>
                  <a:pt x="1505040" y="19078"/>
                  <a:pt x="1485962" y="0"/>
                  <a:pt x="1461161" y="0"/>
                </a:cubicBezTo>
                <a:lnTo>
                  <a:pt x="264966" y="0"/>
                </a:lnTo>
                <a:cubicBezTo>
                  <a:pt x="105983" y="0"/>
                  <a:pt x="22040" y="4452"/>
                  <a:pt x="13136" y="13355"/>
                </a:cubicBezTo>
                <a:cubicBezTo>
                  <a:pt x="-2126" y="28617"/>
                  <a:pt x="-4034" y="51511"/>
                  <a:pt x="7413" y="68681"/>
                </a:cubicBezTo>
                <a:cubicBezTo>
                  <a:pt x="116158" y="232752"/>
                  <a:pt x="116158" y="497937"/>
                  <a:pt x="7413" y="662009"/>
                </a:cubicBezTo>
                <a:cubicBezTo>
                  <a:pt x="-2126" y="675363"/>
                  <a:pt x="-2126" y="692533"/>
                  <a:pt x="5505" y="707796"/>
                </a:cubicBezTo>
                <a:cubicBezTo>
                  <a:pt x="13136" y="721151"/>
                  <a:pt x="28399" y="730690"/>
                  <a:pt x="43661" y="730690"/>
                </a:cubicBezTo>
                <a:lnTo>
                  <a:pt x="215363" y="730690"/>
                </a:lnTo>
                <a:cubicBezTo>
                  <a:pt x="190562" y="765030"/>
                  <a:pt x="177207" y="805094"/>
                  <a:pt x="177207" y="850881"/>
                </a:cubicBezTo>
                <a:lnTo>
                  <a:pt x="177207" y="1005414"/>
                </a:lnTo>
                <a:cubicBezTo>
                  <a:pt x="177207" y="1119882"/>
                  <a:pt x="270690" y="1213364"/>
                  <a:pt x="385158" y="1213364"/>
                </a:cubicBezTo>
                <a:lnTo>
                  <a:pt x="1720622" y="1213364"/>
                </a:lnTo>
                <a:cubicBezTo>
                  <a:pt x="1737793" y="1213364"/>
                  <a:pt x="1754963" y="1203825"/>
                  <a:pt x="1760686" y="1186655"/>
                </a:cubicBezTo>
                <a:cubicBezTo>
                  <a:pt x="1768318" y="1169485"/>
                  <a:pt x="1764502" y="1152315"/>
                  <a:pt x="1751147" y="1138960"/>
                </a:cubicBezTo>
                <a:cubicBezTo>
                  <a:pt x="1695821" y="1083634"/>
                  <a:pt x="1665296" y="1009229"/>
                  <a:pt x="1665296" y="929101"/>
                </a:cubicBezTo>
                <a:close/>
                <a:moveTo>
                  <a:pt x="160037" y="518923"/>
                </a:moveTo>
                <a:lnTo>
                  <a:pt x="1266565" y="518923"/>
                </a:lnTo>
                <a:cubicBezTo>
                  <a:pt x="1291366" y="518923"/>
                  <a:pt x="1310444" y="499845"/>
                  <a:pt x="1310444" y="475044"/>
                </a:cubicBezTo>
                <a:cubicBezTo>
                  <a:pt x="1310444" y="450242"/>
                  <a:pt x="1291366" y="431164"/>
                  <a:pt x="1266565" y="431164"/>
                </a:cubicBezTo>
                <a:lnTo>
                  <a:pt x="173392" y="431164"/>
                </a:lnTo>
                <a:cubicBezTo>
                  <a:pt x="177207" y="387285"/>
                  <a:pt x="177207" y="343405"/>
                  <a:pt x="173392" y="299525"/>
                </a:cubicBezTo>
                <a:lnTo>
                  <a:pt x="1266565" y="299525"/>
                </a:lnTo>
                <a:cubicBezTo>
                  <a:pt x="1291366" y="299525"/>
                  <a:pt x="1310444" y="280447"/>
                  <a:pt x="1310444" y="255646"/>
                </a:cubicBezTo>
                <a:cubicBezTo>
                  <a:pt x="1310444" y="230844"/>
                  <a:pt x="1291366" y="211766"/>
                  <a:pt x="1266565" y="211766"/>
                </a:cubicBezTo>
                <a:lnTo>
                  <a:pt x="160037" y="211766"/>
                </a:lnTo>
                <a:cubicBezTo>
                  <a:pt x="150498" y="167887"/>
                  <a:pt x="137143" y="125915"/>
                  <a:pt x="118065" y="87759"/>
                </a:cubicBezTo>
                <a:lnTo>
                  <a:pt x="1417281" y="87759"/>
                </a:lnTo>
                <a:lnTo>
                  <a:pt x="1417281" y="642930"/>
                </a:lnTo>
                <a:lnTo>
                  <a:pt x="118065" y="642930"/>
                </a:lnTo>
                <a:cubicBezTo>
                  <a:pt x="135236" y="604774"/>
                  <a:pt x="150498" y="562803"/>
                  <a:pt x="160037" y="518923"/>
                </a:cubicBezTo>
                <a:close/>
                <a:moveTo>
                  <a:pt x="385158" y="1123698"/>
                </a:moveTo>
                <a:cubicBezTo>
                  <a:pt x="318385" y="1123698"/>
                  <a:pt x="264966" y="1070279"/>
                  <a:pt x="264966" y="1003506"/>
                </a:cubicBezTo>
                <a:lnTo>
                  <a:pt x="264966" y="848973"/>
                </a:lnTo>
                <a:cubicBezTo>
                  <a:pt x="264966" y="782200"/>
                  <a:pt x="318385" y="728782"/>
                  <a:pt x="385158" y="728782"/>
                </a:cubicBezTo>
                <a:lnTo>
                  <a:pt x="1632863" y="728782"/>
                </a:lnTo>
                <a:cubicBezTo>
                  <a:pt x="1604246" y="774569"/>
                  <a:pt x="1587076" y="827988"/>
                  <a:pt x="1581353" y="881406"/>
                </a:cubicBezTo>
                <a:lnTo>
                  <a:pt x="484364" y="881406"/>
                </a:lnTo>
                <a:cubicBezTo>
                  <a:pt x="459563" y="881406"/>
                  <a:pt x="440485" y="900484"/>
                  <a:pt x="440485" y="925286"/>
                </a:cubicBezTo>
                <a:cubicBezTo>
                  <a:pt x="440485" y="950087"/>
                  <a:pt x="459563" y="969165"/>
                  <a:pt x="484364" y="969165"/>
                </a:cubicBezTo>
                <a:lnTo>
                  <a:pt x="1579445" y="969165"/>
                </a:lnTo>
                <a:cubicBezTo>
                  <a:pt x="1585168" y="1024492"/>
                  <a:pt x="1602338" y="1076002"/>
                  <a:pt x="1630955" y="1121790"/>
                </a:cubicBezTo>
                <a:lnTo>
                  <a:pt x="385158" y="1121790"/>
                </a:lnTo>
                <a:close/>
              </a:path>
            </a:pathLst>
          </a:custGeom>
          <a:solidFill>
            <a:srgbClr val="F6A610"/>
          </a:solidFill>
          <a:ln w="190500" cap="flat">
            <a:noFill/>
            <a:prstDash val="solid"/>
            <a:miter/>
          </a:ln>
        </p:spPr>
        <p:txBody>
          <a:bodyPr rtlCol="0" anchor="ctr"/>
          <a:lstStyle/>
          <a:p>
            <a:endParaRPr lang="es-AR"/>
          </a:p>
        </p:txBody>
      </p:sp>
      <p:sp>
        <p:nvSpPr>
          <p:cNvPr id="26" name="CuadroTexto 25">
            <a:extLst>
              <a:ext uri="{FF2B5EF4-FFF2-40B4-BE49-F238E27FC236}">
                <a16:creationId xmlns:a16="http://schemas.microsoft.com/office/drawing/2014/main" id="{A4C604BF-27CC-0AB6-ED8F-4C46731ADF22}"/>
              </a:ext>
            </a:extLst>
          </p:cNvPr>
          <p:cNvSpPr txBox="1"/>
          <p:nvPr/>
        </p:nvSpPr>
        <p:spPr>
          <a:xfrm>
            <a:off x="4044107" y="2724473"/>
            <a:ext cx="4075541" cy="1631216"/>
          </a:xfrm>
          <a:prstGeom prst="rect">
            <a:avLst/>
          </a:prstGeom>
          <a:noFill/>
        </p:spPr>
        <p:txBody>
          <a:bodyPr wrap="square" lIns="91440" tIns="45720" rIns="91440" bIns="45720" rtlCol="0" anchor="t">
            <a:spAutoFit/>
          </a:bodyPr>
          <a:lstStyle/>
          <a:p>
            <a:pPr algn="just"/>
            <a:r>
              <a:rPr lang="es-ES" sz="2000" dirty="0">
                <a:solidFill>
                  <a:schemeClr val="bg1"/>
                </a:solidFill>
                <a:ea typeface="+mn-lt"/>
                <a:cs typeface="+mn-lt"/>
              </a:rPr>
              <a:t>HSU, S.; CURRIE, A. y BERGMAN, S. </a:t>
            </a:r>
            <a:r>
              <a:rPr lang="es-ES" sz="2000" i="1" dirty="0">
                <a:solidFill>
                  <a:schemeClr val="bg1"/>
                </a:solidFill>
                <a:ea typeface="+mn-lt"/>
                <a:cs typeface="+mn-lt"/>
              </a:rPr>
              <a:t>Construir software verde: un enfoque sostenible para el desarrollo y la operación de software</a:t>
            </a:r>
            <a:r>
              <a:rPr lang="es-ES" sz="2000" dirty="0">
                <a:solidFill>
                  <a:schemeClr val="bg1"/>
                </a:solidFill>
                <a:ea typeface="+mn-lt"/>
                <a:cs typeface="+mn-lt"/>
              </a:rPr>
              <a:t>. Barcelona: Marcombo, 2025.</a:t>
            </a:r>
            <a:endParaRPr lang="es-ES" dirty="0">
              <a:solidFill>
                <a:schemeClr val="bg1"/>
              </a:solidFill>
              <a:ea typeface="+mn-lt"/>
              <a:cs typeface="+mn-lt"/>
            </a:endParaRPr>
          </a:p>
        </p:txBody>
      </p:sp>
      <p:sp>
        <p:nvSpPr>
          <p:cNvPr id="2" name="Rectángulo 1">
            <a:extLst>
              <a:ext uri="{FF2B5EF4-FFF2-40B4-BE49-F238E27FC236}">
                <a16:creationId xmlns:a16="http://schemas.microsoft.com/office/drawing/2014/main" id="{DED7F5F4-A574-CA23-2CDF-5BDAAF16B18E}"/>
              </a:ext>
            </a:extLst>
          </p:cNvPr>
          <p:cNvSpPr/>
          <p:nvPr/>
        </p:nvSpPr>
        <p:spPr>
          <a:xfrm>
            <a:off x="1446049" y="1842247"/>
            <a:ext cx="2171210" cy="67232"/>
          </a:xfrm>
          <a:prstGeom prst="rect">
            <a:avLst/>
          </a:prstGeom>
          <a:solidFill>
            <a:srgbClr val="F6A6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 name="CuadroTexto 3">
            <a:extLst>
              <a:ext uri="{FF2B5EF4-FFF2-40B4-BE49-F238E27FC236}">
                <a16:creationId xmlns:a16="http://schemas.microsoft.com/office/drawing/2014/main" id="{12E4696E-CA28-96BB-4B35-22F4027C4739}"/>
              </a:ext>
            </a:extLst>
          </p:cNvPr>
          <p:cNvSpPr txBox="1"/>
          <p:nvPr/>
        </p:nvSpPr>
        <p:spPr>
          <a:xfrm>
            <a:off x="1355464" y="1193601"/>
            <a:ext cx="7411165" cy="646331"/>
          </a:xfrm>
          <a:prstGeom prst="rect">
            <a:avLst/>
          </a:prstGeom>
          <a:noFill/>
        </p:spPr>
        <p:txBody>
          <a:bodyPr wrap="square" rtlCol="0">
            <a:spAutoFit/>
          </a:bodyPr>
          <a:lstStyle/>
          <a:p>
            <a:pPr marL="0" indent="0" algn="l">
              <a:buNone/>
            </a:pPr>
            <a:r>
              <a:rPr lang="es-AR" sz="3600" b="1" dirty="0">
                <a:solidFill>
                  <a:schemeClr val="bg1"/>
                </a:solidFill>
              </a:rPr>
              <a:t>Bibliografía </a:t>
            </a:r>
            <a:r>
              <a:rPr lang="es-AR" sz="3600" dirty="0">
                <a:solidFill>
                  <a:schemeClr val="bg1"/>
                </a:solidFill>
              </a:rPr>
              <a:t>utilizada para este recurso</a:t>
            </a:r>
          </a:p>
        </p:txBody>
      </p:sp>
      <p:sp>
        <p:nvSpPr>
          <p:cNvPr id="6" name="Rectángulo 5">
            <a:extLst>
              <a:ext uri="{FF2B5EF4-FFF2-40B4-BE49-F238E27FC236}">
                <a16:creationId xmlns:a16="http://schemas.microsoft.com/office/drawing/2014/main" id="{C5C11561-5277-DDC7-0B64-90992CBE1AA7}"/>
              </a:ext>
            </a:extLst>
          </p:cNvPr>
          <p:cNvSpPr/>
          <p:nvPr/>
        </p:nvSpPr>
        <p:spPr>
          <a:xfrm>
            <a:off x="6465665" y="5597167"/>
            <a:ext cx="2171210" cy="67232"/>
          </a:xfrm>
          <a:prstGeom prst="rect">
            <a:avLst/>
          </a:prstGeom>
          <a:solidFill>
            <a:srgbClr val="F6A61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5949819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0648473-4FFD-CE1E-214E-D8C7C7EF7807}"/>
              </a:ext>
            </a:extLst>
          </p:cNvPr>
          <p:cNvSpPr txBox="1"/>
          <p:nvPr/>
        </p:nvSpPr>
        <p:spPr>
          <a:xfrm>
            <a:off x="319217" y="2875002"/>
            <a:ext cx="11553566" cy="1107996"/>
          </a:xfrm>
          <a:prstGeom prst="rect">
            <a:avLst/>
          </a:prstGeom>
          <a:noFill/>
        </p:spPr>
        <p:txBody>
          <a:bodyPr wrap="square" rtlCol="0">
            <a:spAutoFit/>
          </a:bodyPr>
          <a:lstStyle/>
          <a:p>
            <a:pPr algn="ctr"/>
            <a:r>
              <a:rPr lang="es-AR" sz="6600" b="1" i="0" u="none" strike="noStrike" dirty="0">
                <a:solidFill>
                  <a:schemeClr val="bg1"/>
                </a:solidFill>
                <a:effectLst/>
              </a:rPr>
              <a:t>¡Muchas gracias!</a:t>
            </a:r>
            <a:r>
              <a:rPr lang="es-AR" sz="6600" b="0" i="0" dirty="0">
                <a:solidFill>
                  <a:schemeClr val="bg1"/>
                </a:solidFill>
                <a:effectLst/>
              </a:rPr>
              <a:t>​</a:t>
            </a:r>
            <a:endParaRPr lang="es-AR" sz="6600" dirty="0">
              <a:solidFill>
                <a:schemeClr val="bg1"/>
              </a:solidFill>
            </a:endParaRPr>
          </a:p>
        </p:txBody>
      </p:sp>
    </p:spTree>
    <p:extLst>
      <p:ext uri="{BB962C8B-B14F-4D97-AF65-F5344CB8AC3E}">
        <p14:creationId xmlns:p14="http://schemas.microsoft.com/office/powerpoint/2010/main" val="2487964921"/>
      </p:ext>
    </p:extLst>
  </p:cSld>
  <p:clrMapOvr>
    <a:masterClrMapping/>
  </p:clrMapOvr>
</p:sld>
</file>

<file path=ppt/theme/theme1.xml><?xml version="1.0" encoding="utf-8"?>
<a:theme xmlns:a="http://schemas.openxmlformats.org/drawingml/2006/main" name="Tema de Office">
  <a:themeElements>
    <a:clrScheme name="VIRT - PPT">
      <a:dk1>
        <a:srgbClr val="494847"/>
      </a:dk1>
      <a:lt1>
        <a:srgbClr val="FFFFFF"/>
      </a:lt1>
      <a:dk2>
        <a:srgbClr val="62A730"/>
      </a:dk2>
      <a:lt2>
        <a:srgbClr val="0E1B2B"/>
      </a:lt2>
      <a:accent1>
        <a:srgbClr val="04A4CA"/>
      </a:accent1>
      <a:accent2>
        <a:srgbClr val="9F79AE"/>
      </a:accent2>
      <a:accent3>
        <a:srgbClr val="CC122B"/>
      </a:accent3>
      <a:accent4>
        <a:srgbClr val="E96920"/>
      </a:accent4>
      <a:accent5>
        <a:srgbClr val="F1A20D"/>
      </a:accent5>
      <a:accent6>
        <a:srgbClr val="FFFFFF"/>
      </a:accent6>
      <a:hlink>
        <a:srgbClr val="C9122A"/>
      </a:hlink>
      <a:folHlink>
        <a:srgbClr val="494A49"/>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9" id="{B66DFC7C-02EC-B748-A0A6-3BED70DDDAF3}" vid="{F098A7DE-A46E-344A-A14C-BAD293D7C40B}"/>
    </a:ext>
  </a:extLst>
</a:theme>
</file>

<file path=ppt/theme/theme2.xml><?xml version="1.0" encoding="utf-8"?>
<a:theme xmlns:a="http://schemas.openxmlformats.org/drawingml/2006/main" name="1_Office Them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9" id="{B66DFC7C-02EC-B748-A0A6-3BED70DDDAF3}" vid="{1BB692B7-E3C2-4F4B-AB4D-F7A92AB8677F}"/>
    </a:ext>
  </a:extLst>
</a:theme>
</file>

<file path=ppt/theme/theme3.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5f0631a-2ac1-434a-9e75-b23938e5739a" xsi:nil="true"/>
    <lcf76f155ced4ddcb4097134ff3c332f xmlns="232756c5-2869-4da6-aa3d-6ef32daae75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D8C92D704EFF064BA8390B1F0BCDA6A5" ma:contentTypeVersion="19" ma:contentTypeDescription="Crear nuevo documento." ma:contentTypeScope="" ma:versionID="2ca7b30a8b21261bae43d849cd732259">
  <xsd:schema xmlns:xsd="http://www.w3.org/2001/XMLSchema" xmlns:xs="http://www.w3.org/2001/XMLSchema" xmlns:p="http://schemas.microsoft.com/office/2006/metadata/properties" xmlns:ns2="232756c5-2869-4da6-aa3d-6ef32daae75e" xmlns:ns3="b5f0631a-2ac1-434a-9e75-b23938e5739a" targetNamespace="http://schemas.microsoft.com/office/2006/metadata/properties" ma:root="true" ma:fieldsID="1cf8f755b6fc91a6ab28aee5ac077d21" ns2:_="" ns3:_="">
    <xsd:import namespace="232756c5-2869-4da6-aa3d-6ef32daae75e"/>
    <xsd:import namespace="b5f0631a-2ac1-434a-9e75-b23938e5739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2756c5-2869-4da6-aa3d-6ef32daae7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Etiquetas de imagen" ma:readOnly="false" ma:fieldId="{5cf76f15-5ced-4ddc-b409-7134ff3c332f}" ma:taxonomyMulti="true" ma:sspId="480f935f-056e-43d0-a9c3-6f0a0280ba7d" ma:termSetId="09814cd3-568e-fe90-9814-8d621ff8fb84" ma:anchorId="fba54fb3-c3e1-fe81-a776-ca4b69148c4d" ma:open="true" ma:isKeyword="false">
      <xsd:complexType>
        <xsd:sequence>
          <xsd:element ref="pc:Terms" minOccurs="0" maxOccurs="1"/>
        </xsd:sequence>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5f0631a-2ac1-434a-9e75-b23938e5739a" elementFormDefault="qualified">
    <xsd:import namespace="http://schemas.microsoft.com/office/2006/documentManagement/types"/>
    <xsd:import namespace="http://schemas.microsoft.com/office/infopath/2007/PartnerControls"/>
    <xsd:element name="SharedWithUsers" ma:index="17"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Detalles de uso compartido" ma:internalName="SharedWithDetails" ma:readOnly="true">
      <xsd:simpleType>
        <xsd:restriction base="dms:Note">
          <xsd:maxLength value="255"/>
        </xsd:restriction>
      </xsd:simpleType>
    </xsd:element>
    <xsd:element name="TaxCatchAll" ma:index="22" nillable="true" ma:displayName="Taxonomy Catch All Column" ma:hidden="true" ma:list="{7e9c1aa3-7ebd-4368-a771-30b49c08b8be}" ma:internalName="TaxCatchAll" ma:showField="CatchAllData" ma:web="b5f0631a-2ac1-434a-9e75-b23938e5739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1803CA-FEBB-4A0D-BD4D-E9503F1B167C}">
  <ds:schemaRefs>
    <ds:schemaRef ds:uri="http://purl.org/dc/elements/1.1/"/>
    <ds:schemaRef ds:uri="http://www.w3.org/XML/1998/namespace"/>
    <ds:schemaRef ds:uri="http://schemas.microsoft.com/office/2006/metadata/properties"/>
    <ds:schemaRef ds:uri="http://purl.org/dc/dcmitype/"/>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b5f0631a-2ac1-434a-9e75-b23938e5739a"/>
    <ds:schemaRef ds:uri="232756c5-2869-4da6-aa3d-6ef32daae75e"/>
  </ds:schemaRefs>
</ds:datastoreItem>
</file>

<file path=customXml/itemProps2.xml><?xml version="1.0" encoding="utf-8"?>
<ds:datastoreItem xmlns:ds="http://schemas.openxmlformats.org/officeDocument/2006/customXml" ds:itemID="{F138D084-BA7E-443E-A554-F8A46FD7CBB2}">
  <ds:schemaRefs>
    <ds:schemaRef ds:uri="http://schemas.microsoft.com/sharepoint/v3/contenttype/forms"/>
  </ds:schemaRefs>
</ds:datastoreItem>
</file>

<file path=customXml/itemProps3.xml><?xml version="1.0" encoding="utf-8"?>
<ds:datastoreItem xmlns:ds="http://schemas.openxmlformats.org/officeDocument/2006/customXml" ds:itemID="{D02C34BE-D40D-40B4-A303-F89083FD93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32756c5-2869-4da6-aa3d-6ef32daae75e"/>
    <ds:schemaRef ds:uri="b5f0631a-2ac1-434a-9e75-b23938e573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344979d0-d31d-4c57-8ba0-491aff4acaed}" enabled="0" method="" siteId="{344979d0-d31d-4c57-8ba0-491aff4acaed}" removed="1"/>
</clbl:labelList>
</file>

<file path=docProps/app.xml><?xml version="1.0" encoding="utf-8"?>
<Properties xmlns="http://schemas.openxmlformats.org/officeDocument/2006/extended-properties" xmlns:vt="http://schemas.openxmlformats.org/officeDocument/2006/docPropsVTypes">
  <Template>Tema de Office</Template>
  <TotalTime>247</TotalTime>
  <Words>1051</Words>
  <Application>Microsoft Office PowerPoint</Application>
  <PresentationFormat>Panorámica</PresentationFormat>
  <Paragraphs>109</Paragraphs>
  <Slides>46</Slides>
  <Notes>0</Notes>
  <HiddenSlides>0</HiddenSlides>
  <MMClips>0</MMClips>
  <ScaleCrop>false</ScaleCrop>
  <HeadingPairs>
    <vt:vector size="6" baseType="variant">
      <vt:variant>
        <vt:lpstr>Fuentes usadas</vt:lpstr>
      </vt:variant>
      <vt:variant>
        <vt:i4>8</vt:i4>
      </vt:variant>
      <vt:variant>
        <vt:lpstr>Tema</vt:lpstr>
      </vt:variant>
      <vt:variant>
        <vt:i4>3</vt:i4>
      </vt:variant>
      <vt:variant>
        <vt:lpstr>Títulos de diapositiva</vt:lpstr>
      </vt:variant>
      <vt:variant>
        <vt:i4>46</vt:i4>
      </vt:variant>
    </vt:vector>
  </HeadingPairs>
  <TitlesOfParts>
    <vt:vector size="57" baseType="lpstr">
      <vt:lpstr>Arial</vt:lpstr>
      <vt:lpstr>Calibri</vt:lpstr>
      <vt:lpstr>Calibri Light</vt:lpstr>
      <vt:lpstr>Segoe UI</vt:lpstr>
      <vt:lpstr>Trebuchet MS</vt:lpstr>
      <vt:lpstr>Ubuntu</vt:lpstr>
      <vt:lpstr>Wingdings</vt:lpstr>
      <vt:lpstr>Wingdings 3</vt:lpstr>
      <vt:lpstr>Tema de Office</vt:lpstr>
      <vt:lpstr>1_Office Theme</vt: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RODRIGUEZ SOFIA MERCEDES</dc:creator>
  <cp:lastModifiedBy>Moisés Bueno</cp:lastModifiedBy>
  <cp:revision>358</cp:revision>
  <dcterms:created xsi:type="dcterms:W3CDTF">2022-08-30T18:57:15Z</dcterms:created>
  <dcterms:modified xsi:type="dcterms:W3CDTF">2026-03-26T20:51:08Z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0x010100D8C92D704EFF064BA8390B1F0BCDA6A5</vt:lpwstr>
  </property>
  <property fmtid="{D5CDD505-2E9C-101B-9397-08002B2CF9AE}" pid="3" name="MediaServiceImageTags">
    <vt:lpwstr/>
  </property>
</Properties>
</file>
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  <p:sldMasterId id="2147483720" r:id="rId5"/>
    <p:sldMasterId id="2147483660" r:id="rId6"/>
  </p:sldMasterIdLst>
  <p:notesMasterIdLst>
    <p:notesMasterId r:id="rId42"/>
  </p:notesMasterIdLst>
  <p:handoutMasterIdLst>
    <p:handoutMasterId r:id="rId43"/>
  </p:handoutMasterIdLst>
  <p:sldIdLst>
    <p:sldId id="344" r:id="rId7"/>
    <p:sldId id="346" r:id="rId8"/>
    <p:sldId id="258" r:id="rId9"/>
    <p:sldId id="326" r:id="rId10"/>
    <p:sldId id="348" r:id="rId11"/>
    <p:sldId id="385" r:id="rId12"/>
    <p:sldId id="386" r:id="rId13"/>
    <p:sldId id="387" r:id="rId14"/>
    <p:sldId id="355" r:id="rId15"/>
    <p:sldId id="347" r:id="rId16"/>
    <p:sldId id="389" r:id="rId17"/>
    <p:sldId id="391" r:id="rId18"/>
    <p:sldId id="392" r:id="rId19"/>
    <p:sldId id="393" r:id="rId20"/>
    <p:sldId id="394" r:id="rId21"/>
    <p:sldId id="396" r:id="rId22"/>
    <p:sldId id="397" r:id="rId23"/>
    <p:sldId id="399" r:id="rId24"/>
    <p:sldId id="398" r:id="rId25"/>
    <p:sldId id="400" r:id="rId26"/>
    <p:sldId id="401" r:id="rId27"/>
    <p:sldId id="403" r:id="rId28"/>
    <p:sldId id="405" r:id="rId29"/>
    <p:sldId id="407" r:id="rId30"/>
    <p:sldId id="409" r:id="rId31"/>
    <p:sldId id="411" r:id="rId32"/>
    <p:sldId id="413" r:id="rId33"/>
    <p:sldId id="415" r:id="rId34"/>
    <p:sldId id="417" r:id="rId35"/>
    <p:sldId id="419" r:id="rId36"/>
    <p:sldId id="421" r:id="rId37"/>
    <p:sldId id="422" r:id="rId38"/>
    <p:sldId id="424" r:id="rId39"/>
    <p:sldId id="316" r:id="rId40"/>
    <p:sldId id="272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62F96D9-971B-6D8E-A80A-74D16742802A}" name="RUIZ MATIAS GABRIEL" initials="RG" userId="S::matruiz@uade.edu.ar::72c12a3b-a710-4b0e-ab01-ac5c42c63442" providerId="AD"/>
  <p188:author id="{DD719EE8-DDFC-16A4-4674-DD58E045D250}" name="ADDESSO CAMILA" initials="CA" userId="S::caddesso@uade.edu.ar::efb615f5-46de-4cfe-a24f-17ca13fe30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102D"/>
    <a:srgbClr val="62A72F"/>
    <a:srgbClr val="A57EB2"/>
    <a:srgbClr val="E1E1DF"/>
    <a:srgbClr val="F6A610"/>
    <a:srgbClr val="4C4C4C"/>
    <a:srgbClr val="0EA6CF"/>
    <a:srgbClr val="ED6B20"/>
    <a:srgbClr val="7F7F7F"/>
    <a:srgbClr val="0C1C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C1E434-B5A9-4095-91F3-21904A3E7F91}" v="1" dt="2025-10-06T12:24:34.1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82" autoAdjust="0"/>
    <p:restoredTop sz="96654" autoAdjust="0"/>
  </p:normalViewPr>
  <p:slideViewPr>
    <p:cSldViewPr snapToGrid="0">
      <p:cViewPr varScale="1">
        <p:scale>
          <a:sx n="68" d="100"/>
          <a:sy n="68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483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microsoft.com/office/2018/10/relationships/authors" Target="author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handoutMaster" Target="handoutMasters/handoutMaster1.xml"/><Relationship Id="rId48" Type="http://schemas.microsoft.com/office/2015/10/relationships/revisionInfo" Target="revisionInfo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theme" Target="theme/theme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B587D407-5B22-4D85-9E9B-62C9D1C8F47B}">
      <dgm:prSet phldrT="[Texto]" custT="1"/>
      <dgm:spPr/>
      <dgm:t>
        <a:bodyPr/>
        <a:lstStyle/>
        <a:p>
          <a:pPr algn="just"/>
          <a:r>
            <a:rPr lang="es-ES" sz="2400" dirty="0"/>
            <a:t>Todo objeto cuenta con tres características que lo diferencia del resto</a:t>
          </a:r>
          <a:endParaRPr lang="es-AR" sz="2400" dirty="0"/>
        </a:p>
      </dgm:t>
    </dgm:pt>
    <dgm:pt modelId="{B33CEE5E-E572-4CDB-9F48-B992D3F413B1}" type="parTrans" cxnId="{5A9655FE-3B61-4091-8345-70F04318E553}">
      <dgm:prSet/>
      <dgm:spPr/>
      <dgm:t>
        <a:bodyPr/>
        <a:lstStyle/>
        <a:p>
          <a:pPr algn="just"/>
          <a:endParaRPr lang="es-AR"/>
        </a:p>
      </dgm:t>
    </dgm:pt>
    <dgm:pt modelId="{FB5B20F0-6E9D-4EAF-91E7-43211BD24C06}" type="sibTrans" cxnId="{5A9655FE-3B61-4091-8345-70F04318E553}">
      <dgm:prSet/>
      <dgm:spPr/>
      <dgm:t>
        <a:bodyPr/>
        <a:lstStyle/>
        <a:p>
          <a:pPr algn="just"/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ES" sz="2400" dirty="0"/>
            <a:t>Identidad</a:t>
          </a:r>
          <a:endParaRPr lang="es-AR" sz="2400" dirty="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ES" sz="2400" dirty="0"/>
            <a:t>Comportamiento</a:t>
          </a:r>
          <a:endParaRPr lang="es-AR" sz="240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5D0432DE-9E09-4244-A935-E261CF375EF7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ES" sz="2400" dirty="0"/>
            <a:t>Estado interno</a:t>
          </a:r>
          <a:endParaRPr lang="es-AR" sz="2400" dirty="0"/>
        </a:p>
      </dgm:t>
    </dgm:pt>
    <dgm:pt modelId="{0BDFA864-E817-4B94-9B61-632FB2257BBD}" type="parTrans" cxnId="{ABD36123-D8DA-42DB-97CE-DC90F7D9C442}">
      <dgm:prSet/>
      <dgm:spPr/>
      <dgm:t>
        <a:bodyPr/>
        <a:lstStyle/>
        <a:p>
          <a:pPr algn="just"/>
          <a:endParaRPr lang="es-AR"/>
        </a:p>
      </dgm:t>
    </dgm:pt>
    <dgm:pt modelId="{E23A1B83-9CA8-4A94-8D1D-DED2A7E9DB10}" type="sibTrans" cxnId="{ABD36123-D8DA-42DB-97CE-DC90F7D9C442}">
      <dgm:prSet/>
      <dgm:spPr/>
      <dgm:t>
        <a:bodyPr/>
        <a:lstStyle/>
        <a:p>
          <a:pPr algn="just"/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AFAD7E24-ABCA-4209-80E4-D3D3FAE33342}" type="pres">
      <dgm:prSet presAssocID="{B587D407-5B22-4D85-9E9B-62C9D1C8F47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BF800780-C4CE-4534-B198-89F041AF027C}" type="pres">
      <dgm:prSet presAssocID="{B587D407-5B22-4D85-9E9B-62C9D1C8F47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C8A8306-29DA-4B10-A3A4-84E312EF4983}" type="presOf" srcId="{32BBD7B0-9E99-4B9A-9C89-2FA418EAC14F}" destId="{BF800780-C4CE-4534-B198-89F041AF027C}" srcOrd="0" destOrd="1" presId="urn:microsoft.com/office/officeart/2005/8/layout/vList2"/>
    <dgm:cxn modelId="{20851A14-42B0-4BA5-BFC6-E25F07DFBF29}" type="presOf" srcId="{5D0432DE-9E09-4244-A935-E261CF375EF7}" destId="{BF800780-C4CE-4534-B198-89F041AF027C}" srcOrd="0" destOrd="2" presId="urn:microsoft.com/office/officeart/2005/8/layout/vList2"/>
    <dgm:cxn modelId="{ABD36123-D8DA-42DB-97CE-DC90F7D9C442}" srcId="{B587D407-5B22-4D85-9E9B-62C9D1C8F47B}" destId="{5D0432DE-9E09-4244-A935-E261CF375EF7}" srcOrd="2" destOrd="0" parTransId="{0BDFA864-E817-4B94-9B61-632FB2257BBD}" sibTransId="{E23A1B83-9CA8-4A94-8D1D-DED2A7E9DB10}"/>
    <dgm:cxn modelId="{4972818A-31E7-4B9D-BFA5-1BAB25A09D6B}" type="presOf" srcId="{9A935F43-1A8E-41C3-A872-EBE5AE5F6DA3}" destId="{BF800780-C4CE-4534-B198-89F041AF027C}" srcOrd="0" destOrd="0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B587D407-5B22-4D85-9E9B-62C9D1C8F47B}" destId="{32BBD7B0-9E99-4B9A-9C89-2FA418EAC14F}" srcOrd="1" destOrd="0" parTransId="{886281FC-2151-401E-92C5-B1FC8376C394}" sibTransId="{BFD967B7-7368-4D6E-9701-F2A58E7EDF50}"/>
    <dgm:cxn modelId="{308B1CB6-279E-4680-9474-E75702A1D650}" type="presOf" srcId="{B587D407-5B22-4D85-9E9B-62C9D1C8F47B}" destId="{AFAD7E24-ABCA-4209-80E4-D3D3FAE33342}" srcOrd="0" destOrd="0" presId="urn:microsoft.com/office/officeart/2005/8/layout/vList2"/>
    <dgm:cxn modelId="{C8881BDF-6C32-4B87-BB91-9C40E8B9D855}" srcId="{B587D407-5B22-4D85-9E9B-62C9D1C8F47B}" destId="{9A935F43-1A8E-41C3-A872-EBE5AE5F6DA3}" srcOrd="0" destOrd="0" parTransId="{592E1CB0-35A1-4FEE-A9F9-683EEC41A5A4}" sibTransId="{A09E7C5F-5A01-45D2-A4BE-301CB68F798C}"/>
    <dgm:cxn modelId="{5A9655FE-3B61-4091-8345-70F04318E553}" srcId="{2BACDE59-5DF1-435E-BA93-577C7093427A}" destId="{B587D407-5B22-4D85-9E9B-62C9D1C8F47B}" srcOrd="0" destOrd="0" parTransId="{B33CEE5E-E572-4CDB-9F48-B992D3F413B1}" sibTransId="{FB5B20F0-6E9D-4EAF-91E7-43211BD24C06}"/>
    <dgm:cxn modelId="{47F59BB3-E84C-4C38-A3DA-8C6C27B276BB}" type="presParOf" srcId="{F3B69FCA-D607-4A29-92EE-2DA8E0AE814A}" destId="{AFAD7E24-ABCA-4209-80E4-D3D3FAE33342}" srcOrd="0" destOrd="0" presId="urn:microsoft.com/office/officeart/2005/8/layout/vList2"/>
    <dgm:cxn modelId="{AA024949-97A6-4F94-87EE-D347A9433E2B}" type="presParOf" srcId="{F3B69FCA-D607-4A29-92EE-2DA8E0AE814A}" destId="{BF800780-C4CE-4534-B198-89F041AF027C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8965F8-C9B7-4FAD-9EE6-33942430605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3C268695-CDD4-4F72-BDF2-C950E3EF0598}">
      <dgm:prSet custT="1"/>
      <dgm:spPr/>
      <dgm:t>
        <a:bodyPr/>
        <a:lstStyle/>
        <a:p>
          <a:r>
            <a:rPr lang="es-AR" sz="1800" b="1" dirty="0"/>
            <a:t>El encapsulamiento nos permite controlar quién puede ver y utilizar los distintos módulos internos de nuestro sistema.</a:t>
          </a:r>
        </a:p>
      </dgm:t>
    </dgm:pt>
    <dgm:pt modelId="{6C266776-85A4-42D4-90F0-1CDDF8AA566B}" type="parTrans" cxnId="{F5A3F695-BDBC-482E-A7D9-DD02D005C8E5}">
      <dgm:prSet/>
      <dgm:spPr/>
      <dgm:t>
        <a:bodyPr/>
        <a:lstStyle/>
        <a:p>
          <a:endParaRPr lang="es-AR" sz="2400" b="1"/>
        </a:p>
      </dgm:t>
    </dgm:pt>
    <dgm:pt modelId="{F756B4EB-68DC-4611-847F-B64DB020A474}" type="sibTrans" cxnId="{F5A3F695-BDBC-482E-A7D9-DD02D005C8E5}">
      <dgm:prSet/>
      <dgm:spPr/>
      <dgm:t>
        <a:bodyPr/>
        <a:lstStyle/>
        <a:p>
          <a:endParaRPr lang="es-AR" sz="2400" b="1"/>
        </a:p>
      </dgm:t>
    </dgm:pt>
    <dgm:pt modelId="{1F682D92-65DF-4400-B4D0-AEFE04C4DE74}">
      <dgm:prSet custT="1"/>
      <dgm:spPr/>
      <dgm:t>
        <a:bodyPr/>
        <a:lstStyle/>
        <a:p>
          <a:r>
            <a:rPr lang="es-AR" sz="1800" b="1"/>
            <a:t>En términos de clases, con el encapsulamiento definimos el acceso a los miembros de la clase.</a:t>
          </a:r>
        </a:p>
      </dgm:t>
    </dgm:pt>
    <dgm:pt modelId="{6F362B95-4FF8-436A-8ACC-327F63F13589}" type="parTrans" cxnId="{7622D4D2-057F-4459-9D99-8E3D68F50F50}">
      <dgm:prSet/>
      <dgm:spPr/>
      <dgm:t>
        <a:bodyPr/>
        <a:lstStyle/>
        <a:p>
          <a:endParaRPr lang="es-AR" sz="2400" b="1"/>
        </a:p>
      </dgm:t>
    </dgm:pt>
    <dgm:pt modelId="{937DB4F1-F7C3-48BE-8459-5F93A6212E05}" type="sibTrans" cxnId="{7622D4D2-057F-4459-9D99-8E3D68F50F50}">
      <dgm:prSet/>
      <dgm:spPr/>
      <dgm:t>
        <a:bodyPr/>
        <a:lstStyle/>
        <a:p>
          <a:endParaRPr lang="es-AR" sz="2400" b="1"/>
        </a:p>
      </dgm:t>
    </dgm:pt>
    <dgm:pt modelId="{2CDBE50A-ED2C-4C82-8E16-A86BE895B1CB}" type="pres">
      <dgm:prSet presAssocID="{C28965F8-C9B7-4FAD-9EE6-339424306053}" presName="Name0" presStyleCnt="0">
        <dgm:presLayoutVars>
          <dgm:dir/>
          <dgm:animLvl val="lvl"/>
          <dgm:resizeHandles val="exact"/>
        </dgm:presLayoutVars>
      </dgm:prSet>
      <dgm:spPr/>
    </dgm:pt>
    <dgm:pt modelId="{9118B286-5CF8-4E0D-8E4A-43D100CB35E2}" type="pres">
      <dgm:prSet presAssocID="{3C268695-CDD4-4F72-BDF2-C950E3EF0598}" presName="linNode" presStyleCnt="0"/>
      <dgm:spPr/>
    </dgm:pt>
    <dgm:pt modelId="{3BD8DD0D-0A85-4BD3-9243-F6396A102EC2}" type="pres">
      <dgm:prSet presAssocID="{3C268695-CDD4-4F72-BDF2-C950E3EF0598}" presName="parentText" presStyleLbl="node1" presStyleIdx="0" presStyleCnt="2" custScaleX="244414">
        <dgm:presLayoutVars>
          <dgm:chMax val="1"/>
          <dgm:bulletEnabled val="1"/>
        </dgm:presLayoutVars>
      </dgm:prSet>
      <dgm:spPr/>
    </dgm:pt>
    <dgm:pt modelId="{4FD7DB2B-4958-4F57-902A-573B69B4F058}" type="pres">
      <dgm:prSet presAssocID="{F756B4EB-68DC-4611-847F-B64DB020A474}" presName="sp" presStyleCnt="0"/>
      <dgm:spPr/>
    </dgm:pt>
    <dgm:pt modelId="{F101E690-7407-473D-999F-388E0FCE99B7}" type="pres">
      <dgm:prSet presAssocID="{1F682D92-65DF-4400-B4D0-AEFE04C4DE74}" presName="linNode" presStyleCnt="0"/>
      <dgm:spPr/>
    </dgm:pt>
    <dgm:pt modelId="{D2EE5D6B-3B9B-45A8-84EA-90D622BF1D36}" type="pres">
      <dgm:prSet presAssocID="{1F682D92-65DF-4400-B4D0-AEFE04C4DE74}" presName="parentText" presStyleLbl="node1" presStyleIdx="1" presStyleCnt="2" custScaleX="244414">
        <dgm:presLayoutVars>
          <dgm:chMax val="1"/>
          <dgm:bulletEnabled val="1"/>
        </dgm:presLayoutVars>
      </dgm:prSet>
      <dgm:spPr/>
    </dgm:pt>
  </dgm:ptLst>
  <dgm:cxnLst>
    <dgm:cxn modelId="{CF5F140B-FF5F-4DD4-B2D8-1442189BF95B}" type="presOf" srcId="{1F682D92-65DF-4400-B4D0-AEFE04C4DE74}" destId="{D2EE5D6B-3B9B-45A8-84EA-90D622BF1D36}" srcOrd="0" destOrd="0" presId="urn:microsoft.com/office/officeart/2005/8/layout/vList5"/>
    <dgm:cxn modelId="{59E57115-C53A-4F22-BC02-D5C5EA7856DD}" type="presOf" srcId="{C28965F8-C9B7-4FAD-9EE6-339424306053}" destId="{2CDBE50A-ED2C-4C82-8E16-A86BE895B1CB}" srcOrd="0" destOrd="0" presId="urn:microsoft.com/office/officeart/2005/8/layout/vList5"/>
    <dgm:cxn modelId="{F5A3F695-BDBC-482E-A7D9-DD02D005C8E5}" srcId="{C28965F8-C9B7-4FAD-9EE6-339424306053}" destId="{3C268695-CDD4-4F72-BDF2-C950E3EF0598}" srcOrd="0" destOrd="0" parTransId="{6C266776-85A4-42D4-90F0-1CDDF8AA566B}" sibTransId="{F756B4EB-68DC-4611-847F-B64DB020A474}"/>
    <dgm:cxn modelId="{7622D4D2-057F-4459-9D99-8E3D68F50F50}" srcId="{C28965F8-C9B7-4FAD-9EE6-339424306053}" destId="{1F682D92-65DF-4400-B4D0-AEFE04C4DE74}" srcOrd="1" destOrd="0" parTransId="{6F362B95-4FF8-436A-8ACC-327F63F13589}" sibTransId="{937DB4F1-F7C3-48BE-8459-5F93A6212E05}"/>
    <dgm:cxn modelId="{EC12A8FF-BBA0-45AA-BD73-CB4AC070E7C0}" type="presOf" srcId="{3C268695-CDD4-4F72-BDF2-C950E3EF0598}" destId="{3BD8DD0D-0A85-4BD3-9243-F6396A102EC2}" srcOrd="0" destOrd="0" presId="urn:microsoft.com/office/officeart/2005/8/layout/vList5"/>
    <dgm:cxn modelId="{21F466BF-4CA9-4EA4-9B3A-2FF19F0ABE08}" type="presParOf" srcId="{2CDBE50A-ED2C-4C82-8E16-A86BE895B1CB}" destId="{9118B286-5CF8-4E0D-8E4A-43D100CB35E2}" srcOrd="0" destOrd="0" presId="urn:microsoft.com/office/officeart/2005/8/layout/vList5"/>
    <dgm:cxn modelId="{D54A25B9-90B8-4803-A010-7D44AFB7C0AF}" type="presParOf" srcId="{9118B286-5CF8-4E0D-8E4A-43D100CB35E2}" destId="{3BD8DD0D-0A85-4BD3-9243-F6396A102EC2}" srcOrd="0" destOrd="0" presId="urn:microsoft.com/office/officeart/2005/8/layout/vList5"/>
    <dgm:cxn modelId="{BBA2084E-2360-433F-AF5F-03E2D1150823}" type="presParOf" srcId="{2CDBE50A-ED2C-4C82-8E16-A86BE895B1CB}" destId="{4FD7DB2B-4958-4F57-902A-573B69B4F058}" srcOrd="1" destOrd="0" presId="urn:microsoft.com/office/officeart/2005/8/layout/vList5"/>
    <dgm:cxn modelId="{E3C58675-0437-4D40-A6E8-C83D3E4B138D}" type="presParOf" srcId="{2CDBE50A-ED2C-4C82-8E16-A86BE895B1CB}" destId="{F101E690-7407-473D-999F-388E0FCE99B7}" srcOrd="2" destOrd="0" presId="urn:microsoft.com/office/officeart/2005/8/layout/vList5"/>
    <dgm:cxn modelId="{92C4694A-321E-4C43-BC21-DD1DF8C5F21F}" type="presParOf" srcId="{F101E690-7407-473D-999F-388E0FCE99B7}" destId="{D2EE5D6B-3B9B-45A8-84EA-90D622BF1D36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AD7E24-ABCA-4209-80E4-D3D3FAE33342}">
      <dsp:nvSpPr>
        <dsp:cNvPr id="0" name=""/>
        <dsp:cNvSpPr/>
      </dsp:nvSpPr>
      <dsp:spPr>
        <a:xfrm>
          <a:off x="0" y="799746"/>
          <a:ext cx="851568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Todo objeto cuenta con tres características que lo diferencia del resto</a:t>
          </a:r>
          <a:endParaRPr lang="es-AR" sz="2400" kern="1200" dirty="0"/>
        </a:p>
      </dsp:txBody>
      <dsp:txXfrm>
        <a:off x="59399" y="859145"/>
        <a:ext cx="8396887" cy="1098002"/>
      </dsp:txXfrm>
    </dsp:sp>
    <dsp:sp modelId="{BF800780-C4CE-4534-B198-89F041AF027C}">
      <dsp:nvSpPr>
        <dsp:cNvPr id="0" name=""/>
        <dsp:cNvSpPr/>
      </dsp:nvSpPr>
      <dsp:spPr>
        <a:xfrm>
          <a:off x="0" y="2016546"/>
          <a:ext cx="8515685" cy="1244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73" tIns="30480" rIns="170688" bIns="30480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ES" sz="2400" kern="1200" dirty="0"/>
            <a:t>Identidad</a:t>
          </a:r>
          <a:endParaRPr lang="es-AR" sz="2400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ES" sz="2400" kern="1200" dirty="0"/>
            <a:t>Comportamiento</a:t>
          </a:r>
          <a:endParaRPr lang="es-AR" sz="2400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ES" sz="2400" kern="1200" dirty="0"/>
            <a:t>Estado interno</a:t>
          </a:r>
          <a:endParaRPr lang="es-AR" sz="2400" kern="1200" dirty="0"/>
        </a:p>
      </dsp:txBody>
      <dsp:txXfrm>
        <a:off x="0" y="2016546"/>
        <a:ext cx="8515685" cy="12445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D8DD0D-0A85-4BD3-9243-F6396A102EC2}">
      <dsp:nvSpPr>
        <dsp:cNvPr id="0" name=""/>
        <dsp:cNvSpPr/>
      </dsp:nvSpPr>
      <dsp:spPr>
        <a:xfrm>
          <a:off x="203278" y="36"/>
          <a:ext cx="2978327" cy="1439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b="1" kern="1200" dirty="0"/>
            <a:t>El encapsulamiento nos permite controlar quién puede ver y utilizar los distintos módulos internos de nuestro sistema.</a:t>
          </a:r>
        </a:p>
      </dsp:txBody>
      <dsp:txXfrm>
        <a:off x="273551" y="70309"/>
        <a:ext cx="2837781" cy="1299004"/>
      </dsp:txXfrm>
    </dsp:sp>
    <dsp:sp modelId="{D2EE5D6B-3B9B-45A8-84EA-90D622BF1D36}">
      <dsp:nvSpPr>
        <dsp:cNvPr id="0" name=""/>
        <dsp:cNvSpPr/>
      </dsp:nvSpPr>
      <dsp:spPr>
        <a:xfrm>
          <a:off x="203278" y="1511563"/>
          <a:ext cx="2978327" cy="1439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b="1" kern="1200"/>
            <a:t>En términos de clases, con el encapsulamiento definimos el acceso a los miembros de la clase.</a:t>
          </a:r>
        </a:p>
      </dsp:txBody>
      <dsp:txXfrm>
        <a:off x="273551" y="1581836"/>
        <a:ext cx="2837781" cy="12990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19318D9-1C74-894A-82B9-08234547CB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A90431-346B-FF4F-90F3-5C33DDFC0E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52339-5F8B-F640-A005-4EDA3E12CECF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57D341-252F-154F-BCD0-0D80E26497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43607C-91C9-DD4A-88B2-E4B0E7C4C0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16872-CFF9-7043-9FD8-7CAAB38F3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7555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4448C-68AB-41ED-9AA1-623600B6A404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0DE57-D832-4C0E-B844-2BC9C8865DC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977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7F535B13-CD10-974C-BF7B-B8EA82EEA5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FCADEDCF-DA7F-C84B-9E3A-D37447BC1E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21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6BB30792-84BC-5645-AFE5-6C1B6C31C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5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85B58F2E-6ABC-6141-8351-A9667E5A27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9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&#10;&#10;Descripción generada automáticamente con confianza media">
            <a:extLst>
              <a:ext uri="{FF2B5EF4-FFF2-40B4-BE49-F238E27FC236}">
                <a16:creationId xmlns:a16="http://schemas.microsoft.com/office/drawing/2014/main" id="{B77A4838-F1DD-9046-91FC-E45F806234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93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BFD4B215-CC6C-F747-BEB2-F42A821CE9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9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3CD84CC3-4E28-3146-BFE5-F7C65E952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Gráfico de líneas&#10;&#10;Descripción generada automáticamente">
            <a:extLst>
              <a:ext uri="{FF2B5EF4-FFF2-40B4-BE49-F238E27FC236}">
                <a16:creationId xmlns:a16="http://schemas.microsoft.com/office/drawing/2014/main" id="{91430346-03E4-0841-B9CE-876C88D547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6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83FC83D-79C1-104A-AB7A-0137336B08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1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157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21EE62C8-D1C0-584A-83CF-E72D8255CA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15"/>
            <a:ext cx="12192000" cy="68267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124" y="467602"/>
            <a:ext cx="8518635" cy="7477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353097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Ubuntu" panose="020B050403060203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69737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6563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1736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2015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6810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2512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16611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9222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1397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08124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4204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4936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41F7-0A78-4297-9737-0443242114E2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A32B-691B-46E8-8163-E2FBFCC2E1E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2546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326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15" r:id="rId10"/>
    <p:sldLayoutId id="21474837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28B92-081D-4E46-9117-5C5CBD7921D1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97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441F7-0A78-4297-9737-0443242114E2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26BA32B-691B-46E8-8163-E2FBFCC2E1E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8655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475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517797" y="2876920"/>
            <a:ext cx="915640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dirty="0">
                <a:solidFill>
                  <a:schemeClr val="bg1"/>
                </a:solidFill>
              </a:rPr>
              <a:t>Exposición de experto</a:t>
            </a:r>
            <a:endParaRPr lang="es-AR" sz="6600" b="1" dirty="0"/>
          </a:p>
        </p:txBody>
      </p:sp>
    </p:spTree>
    <p:extLst>
      <p:ext uri="{BB962C8B-B14F-4D97-AF65-F5344CB8AC3E}">
        <p14:creationId xmlns:p14="http://schemas.microsoft.com/office/powerpoint/2010/main" val="331668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579740" y="635719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Temas a desarrollar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1170260" y="1862750"/>
            <a:ext cx="673820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400" b="1" dirty="0">
                <a:solidFill>
                  <a:srgbClr val="7F7F7F"/>
                </a:solidFill>
                <a:ea typeface="+mn-lt"/>
                <a:cs typeface="+mn-lt"/>
              </a:rPr>
              <a:t>Objetos y Metodología (POO)</a:t>
            </a:r>
            <a:endParaRPr lang="es-ES" sz="14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81D4304-08BD-C2C7-9E4F-2B70114F4BFB}"/>
              </a:ext>
            </a:extLst>
          </p:cNvPr>
          <p:cNvSpPr txBox="1"/>
          <p:nvPr/>
        </p:nvSpPr>
        <p:spPr>
          <a:xfrm>
            <a:off x="1170260" y="2467537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400" b="1" dirty="0">
                <a:solidFill>
                  <a:srgbClr val="7F7F7F"/>
                </a:solidFill>
                <a:ea typeface="+mn-lt"/>
                <a:cs typeface="+mn-lt"/>
              </a:rPr>
              <a:t>Abstracción</a:t>
            </a:r>
            <a:endParaRPr lang="es-ES" sz="1400" b="1" dirty="0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3C1FE7AD-CB70-1C35-44BF-DF78403ACA9C}"/>
              </a:ext>
            </a:extLst>
          </p:cNvPr>
          <p:cNvSpPr/>
          <p:nvPr/>
        </p:nvSpPr>
        <p:spPr>
          <a:xfrm>
            <a:off x="711551" y="2033367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82FE8D8F-B960-6CDE-91B5-04B0CE3126F1}"/>
              </a:ext>
            </a:extLst>
          </p:cNvPr>
          <p:cNvSpPr/>
          <p:nvPr/>
        </p:nvSpPr>
        <p:spPr>
          <a:xfrm>
            <a:off x="711551" y="2611837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01315BB-3AE3-6BE0-1C63-221465855AC1}"/>
              </a:ext>
            </a:extLst>
          </p:cNvPr>
          <p:cNvSpPr txBox="1"/>
          <p:nvPr/>
        </p:nvSpPr>
        <p:spPr>
          <a:xfrm>
            <a:off x="1170260" y="3072324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400" b="1" dirty="0">
                <a:solidFill>
                  <a:srgbClr val="7F7F7F"/>
                </a:solidFill>
                <a:ea typeface="+mn-lt"/>
                <a:cs typeface="+mn-lt"/>
              </a:rPr>
              <a:t>Encapsulamiento</a:t>
            </a:r>
            <a:endParaRPr lang="es-ES" sz="14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B068E0E-9CF0-B4FC-ED97-F7EC9440D599}"/>
              </a:ext>
            </a:extLst>
          </p:cNvPr>
          <p:cNvSpPr txBox="1"/>
          <p:nvPr/>
        </p:nvSpPr>
        <p:spPr>
          <a:xfrm>
            <a:off x="1170260" y="3677111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400" b="1" dirty="0">
                <a:solidFill>
                  <a:srgbClr val="7F7F7F"/>
                </a:solidFill>
                <a:ea typeface="+mn-lt"/>
                <a:cs typeface="+mn-lt"/>
              </a:rPr>
              <a:t>Herencia</a:t>
            </a:r>
            <a:endParaRPr lang="es-ES" sz="14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4A2CD9B-5E39-749A-8B96-6B5986CCEFBD}"/>
              </a:ext>
            </a:extLst>
          </p:cNvPr>
          <p:cNvSpPr txBox="1"/>
          <p:nvPr/>
        </p:nvSpPr>
        <p:spPr>
          <a:xfrm>
            <a:off x="1170260" y="4281898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400" b="1" dirty="0">
                <a:solidFill>
                  <a:srgbClr val="7F7F7F"/>
                </a:solidFill>
                <a:ea typeface="+mn-lt"/>
                <a:cs typeface="+mn-lt"/>
              </a:rPr>
              <a:t>Polimorfismo</a:t>
            </a:r>
            <a:endParaRPr lang="es-ES" sz="1400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A42A916-AFD0-2865-267E-9B46BF17B1B8}"/>
              </a:ext>
            </a:extLst>
          </p:cNvPr>
          <p:cNvSpPr txBox="1"/>
          <p:nvPr/>
        </p:nvSpPr>
        <p:spPr>
          <a:xfrm>
            <a:off x="1170260" y="4886685"/>
            <a:ext cx="915640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AR" sz="2400" dirty="0"/>
              <a:t>Diagrama de Clases</a:t>
            </a:r>
            <a:endParaRPr lang="es-ES" sz="2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70742F4-8C20-AE82-5150-26D517757930}"/>
              </a:ext>
            </a:extLst>
          </p:cNvPr>
          <p:cNvSpPr txBox="1"/>
          <p:nvPr/>
        </p:nvSpPr>
        <p:spPr>
          <a:xfrm>
            <a:off x="1170260" y="5491472"/>
            <a:ext cx="915640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AR" sz="2400" dirty="0"/>
              <a:t>Síntesis</a:t>
            </a:r>
            <a:endParaRPr lang="es-ES" sz="2400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DF4373C-5003-0704-D3A0-391203C50DBE}"/>
              </a:ext>
            </a:extLst>
          </p:cNvPr>
          <p:cNvSpPr/>
          <p:nvPr/>
        </p:nvSpPr>
        <p:spPr>
          <a:xfrm>
            <a:off x="711551" y="3212862"/>
            <a:ext cx="130628" cy="13062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9A922C06-282C-697B-C92A-58FDC35C877A}"/>
              </a:ext>
            </a:extLst>
          </p:cNvPr>
          <p:cNvSpPr/>
          <p:nvPr/>
        </p:nvSpPr>
        <p:spPr>
          <a:xfrm>
            <a:off x="711551" y="3851700"/>
            <a:ext cx="130628" cy="1306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E9D5F24F-7EF8-72E9-A0DE-8FA2C6259780}"/>
              </a:ext>
            </a:extLst>
          </p:cNvPr>
          <p:cNvSpPr/>
          <p:nvPr/>
        </p:nvSpPr>
        <p:spPr>
          <a:xfrm>
            <a:off x="711551" y="4442144"/>
            <a:ext cx="130628" cy="13062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639AAD64-D8DF-E2EE-CC26-B77938FA4070}"/>
              </a:ext>
            </a:extLst>
          </p:cNvPr>
          <p:cNvSpPr/>
          <p:nvPr/>
        </p:nvSpPr>
        <p:spPr>
          <a:xfrm>
            <a:off x="711551" y="5043035"/>
            <a:ext cx="130628" cy="1306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3FE7EB9-DE21-FC73-CDF6-4761F1485A78}"/>
              </a:ext>
            </a:extLst>
          </p:cNvPr>
          <p:cNvSpPr/>
          <p:nvPr/>
        </p:nvSpPr>
        <p:spPr>
          <a:xfrm>
            <a:off x="711551" y="5635905"/>
            <a:ext cx="130628" cy="13062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94174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377238" y="2367002"/>
            <a:ext cx="915640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</a:rPr>
              <a:t>Objetos y Metodología (POO)</a:t>
            </a:r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95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agen que contiene interior, ave, pájaro, tabla&#10;&#10;El contenido generado por IA puede ser incorrecto.">
            <a:extLst>
              <a:ext uri="{FF2B5EF4-FFF2-40B4-BE49-F238E27FC236}">
                <a16:creationId xmlns:a16="http://schemas.microsoft.com/office/drawing/2014/main" id="{CAA98795-1786-1371-9D97-2BAA1B79C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21" y="1966912"/>
            <a:ext cx="8132683" cy="333500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5131461-0478-A023-51E5-FAAE997393DF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Objetos y Metodología (POO)</a:t>
            </a:r>
            <a:endParaRPr lang="es-ES" sz="105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920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526DC-2717-F603-0CD3-111F26735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E53520E-E094-012D-E50E-C04CC9367609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Objetos y Metodología (POO)</a:t>
            </a:r>
            <a:endParaRPr lang="es-ES" sz="1050" dirty="0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C074DD9C-7D58-7A0E-ED57-C3336A14D3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2505170"/>
              </p:ext>
            </p:extLst>
          </p:nvPr>
        </p:nvGraphicFramePr>
        <p:xfrm>
          <a:off x="524041" y="1287036"/>
          <a:ext cx="8515685" cy="406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1823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0E5C3-A144-F0CA-942D-3FB2EED99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El contenido generado por IA puede ser incorrecto.">
            <a:extLst>
              <a:ext uri="{FF2B5EF4-FFF2-40B4-BE49-F238E27FC236}">
                <a16:creationId xmlns:a16="http://schemas.microsoft.com/office/drawing/2014/main" id="{CAA40122-E5D0-B951-CE6A-A45F9A930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337" y="4294660"/>
            <a:ext cx="5457825" cy="154305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A409F81-0311-53F5-BDB8-3CB196DB39CE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Objetos y Metodología (POO)</a:t>
            </a:r>
            <a:endParaRPr lang="es-ES" sz="1050" dirty="0">
              <a:solidFill>
                <a:prstClr val="white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DE0A8F2-584A-F763-0ADA-B4E35F7AAEC9}"/>
              </a:ext>
            </a:extLst>
          </p:cNvPr>
          <p:cNvSpPr txBox="1"/>
          <p:nvPr/>
        </p:nvSpPr>
        <p:spPr>
          <a:xfrm>
            <a:off x="906378" y="1831110"/>
            <a:ext cx="778042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b="1" dirty="0">
                <a:solidFill>
                  <a:schemeClr val="accent4"/>
                </a:solidFill>
              </a:rPr>
              <a:t>Los sistemas pueden ser vistos como un conjunto de objetos o entidades con una identidad y comportamiento propio, los cuales interactúan entre sí para alcanzar el objetivo común del sistema</a:t>
            </a:r>
            <a:endParaRPr lang="es-AR" sz="280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764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AC1C4-3CCD-8FF5-8FB2-B98BA4606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A172376-5F29-A8B9-4AAC-805863CBFFB8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Objetos y Metodología (POO)</a:t>
            </a:r>
            <a:endParaRPr lang="es-ES" sz="1050" dirty="0">
              <a:solidFill>
                <a:prstClr val="white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90E5A16-77EA-D90D-CEB3-D30098539394}"/>
              </a:ext>
            </a:extLst>
          </p:cNvPr>
          <p:cNvSpPr txBox="1"/>
          <p:nvPr/>
        </p:nvSpPr>
        <p:spPr>
          <a:xfrm>
            <a:off x="771055" y="2512918"/>
            <a:ext cx="35617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28000"/>
              <a:buFont typeface="Arial" panose="020B0604020202020204" pitchFamily="34" charset="0"/>
              <a:buChar char="•"/>
            </a:pPr>
            <a:r>
              <a:rPr lang="es-ES" sz="2800" dirty="0"/>
              <a:t>Organizar el código fuente</a:t>
            </a:r>
          </a:p>
          <a:p>
            <a:pPr marL="285750" indent="-285750">
              <a:buClr>
                <a:schemeClr val="accent3"/>
              </a:buClr>
              <a:buSzPct val="128000"/>
              <a:buFont typeface="Arial" panose="020B0604020202020204" pitchFamily="34" charset="0"/>
              <a:buChar char="•"/>
            </a:pPr>
            <a:r>
              <a:rPr lang="es-ES" sz="2800" dirty="0"/>
              <a:t>Reusar código fuente en similares contextos</a:t>
            </a:r>
            <a:endParaRPr lang="es-AR" sz="2800" dirty="0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FBA4770D-EB68-99B0-5567-E8FE9845D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473" y="2153264"/>
            <a:ext cx="4002073" cy="387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86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69E3B-98B1-C94C-7101-8937AFB21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EBF6E8F-8711-14BD-7242-D3C002EF4B11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Abstracción</a:t>
            </a:r>
            <a:endParaRPr lang="es-ES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48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7F2E9F73-B38E-38BE-2A77-41D261DC6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939" y="3429000"/>
            <a:ext cx="5247281" cy="2709792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7EE1C54-9CAB-EF0E-C2B2-856AD79ECC52}"/>
              </a:ext>
            </a:extLst>
          </p:cNvPr>
          <p:cNvSpPr txBox="1"/>
          <p:nvPr/>
        </p:nvSpPr>
        <p:spPr>
          <a:xfrm>
            <a:off x="467039" y="621087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Abstracción</a:t>
            </a:r>
            <a:endParaRPr lang="es-ES" sz="1050" b="1" dirty="0">
              <a:solidFill>
                <a:prstClr val="white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90A5200-67B7-85B2-94CF-B6DC363A8C90}"/>
              </a:ext>
            </a:extLst>
          </p:cNvPr>
          <p:cNvSpPr txBox="1"/>
          <p:nvPr/>
        </p:nvSpPr>
        <p:spPr>
          <a:xfrm>
            <a:off x="906378" y="1951672"/>
            <a:ext cx="78606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accent5"/>
                </a:solidFill>
              </a:rPr>
              <a:t>Los atributos y métodos de una clase deben ser relevantes para el dominio que estamos modelando</a:t>
            </a:r>
            <a:endParaRPr lang="es-AR" sz="28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022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46585-0CB7-F3C2-655F-7D462328F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44E7E51-5515-0958-4F9E-FF3F890D636C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Encapsulamiento</a:t>
            </a:r>
            <a:endParaRPr lang="es-ES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1274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70D5F-6777-BFC3-CE37-D94F77534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EE38B83-1A70-2B1E-7D21-1C364751D8FA}"/>
              </a:ext>
            </a:extLst>
          </p:cNvPr>
          <p:cNvSpPr txBox="1"/>
          <p:nvPr/>
        </p:nvSpPr>
        <p:spPr>
          <a:xfrm>
            <a:off x="459019" y="629108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Encapsulamiento</a:t>
            </a:r>
            <a:endParaRPr lang="es-ES" sz="1050" b="1" dirty="0">
              <a:solidFill>
                <a:prstClr val="white"/>
              </a:solidFill>
            </a:endParaRPr>
          </a:p>
        </p:txBody>
      </p:sp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D6ADC159-002E-4092-4125-09BFE20331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8726688"/>
              </p:ext>
            </p:extLst>
          </p:nvPr>
        </p:nvGraphicFramePr>
        <p:xfrm>
          <a:off x="312820" y="2294618"/>
          <a:ext cx="3384885" cy="2951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Imagen 9" descr="Texto&#10;&#10;El contenido generado por IA puede ser incorrecto.">
            <a:extLst>
              <a:ext uri="{FF2B5EF4-FFF2-40B4-BE49-F238E27FC236}">
                <a16:creationId xmlns:a16="http://schemas.microsoft.com/office/drawing/2014/main" id="{DF6B19F4-12C0-CFF5-0B4A-11125A6A7F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9188" y="2192890"/>
            <a:ext cx="5304431" cy="347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990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97FFC-96B2-FAFE-221B-023CA2D35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279B63D-0A02-3C64-A512-674A1FD964B6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Herencia</a:t>
            </a:r>
            <a:endParaRPr lang="es-ES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3908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4E1A9-7F18-CF73-7FF4-415527239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26CC8AD-CF68-8994-83EA-3DC05BE5474D}"/>
              </a:ext>
            </a:extLst>
          </p:cNvPr>
          <p:cNvSpPr txBox="1"/>
          <p:nvPr/>
        </p:nvSpPr>
        <p:spPr>
          <a:xfrm>
            <a:off x="579335" y="59686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Herencia</a:t>
            </a:r>
            <a:endParaRPr lang="es-ES" sz="1050" b="1" dirty="0">
              <a:solidFill>
                <a:prstClr val="white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19813AF-B623-A50E-CC20-4F18F8C54423}"/>
              </a:ext>
            </a:extLst>
          </p:cNvPr>
          <p:cNvSpPr txBox="1"/>
          <p:nvPr/>
        </p:nvSpPr>
        <p:spPr>
          <a:xfrm>
            <a:off x="1188935" y="1970812"/>
            <a:ext cx="747881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800" dirty="0">
                <a:solidFill>
                  <a:schemeClr val="accent6">
                    <a:lumMod val="50000"/>
                  </a:schemeClr>
                </a:solidFill>
              </a:rPr>
              <a:t>La herencia es una relación especial entre dos clases, la clase </a:t>
            </a:r>
            <a:r>
              <a:rPr lang="es-ES" sz="2800" b="1" dirty="0">
                <a:solidFill>
                  <a:schemeClr val="accent2"/>
                </a:solidFill>
              </a:rPr>
              <a:t>base</a:t>
            </a:r>
            <a:r>
              <a:rPr lang="es-ES" sz="2800" dirty="0">
                <a:solidFill>
                  <a:schemeClr val="accent6">
                    <a:lumMod val="50000"/>
                  </a:schemeClr>
                </a:solidFill>
              </a:rPr>
              <a:t> y la clase </a:t>
            </a:r>
            <a:r>
              <a:rPr lang="es-ES" sz="2800" b="1" dirty="0">
                <a:solidFill>
                  <a:schemeClr val="accent2"/>
                </a:solidFill>
              </a:rPr>
              <a:t>derivada</a:t>
            </a:r>
            <a:r>
              <a:rPr lang="es-ES" sz="2800" dirty="0">
                <a:solidFill>
                  <a:schemeClr val="accent6">
                    <a:lumMod val="50000"/>
                  </a:schemeClr>
                </a:solidFill>
              </a:rPr>
              <a:t>, en donde la clase </a:t>
            </a:r>
            <a:r>
              <a:rPr lang="es-ES" sz="2800" b="1" dirty="0">
                <a:solidFill>
                  <a:schemeClr val="accent2"/>
                </a:solidFill>
              </a:rPr>
              <a:t>derivada</a:t>
            </a:r>
            <a:r>
              <a:rPr lang="es-ES" sz="2800" dirty="0">
                <a:solidFill>
                  <a:schemeClr val="accent6">
                    <a:lumMod val="50000"/>
                  </a:schemeClr>
                </a:solidFill>
              </a:rPr>
              <a:t> obtiene la habilidad de utilizar ciertas </a:t>
            </a:r>
            <a:r>
              <a:rPr lang="es-ES" sz="2800" b="1" dirty="0">
                <a:solidFill>
                  <a:schemeClr val="accent2"/>
                </a:solidFill>
              </a:rPr>
              <a:t>propiedades</a:t>
            </a:r>
            <a:r>
              <a:rPr lang="es-ES" sz="2800" dirty="0">
                <a:solidFill>
                  <a:schemeClr val="accent6">
                    <a:lumMod val="50000"/>
                  </a:schemeClr>
                </a:solidFill>
              </a:rPr>
              <a:t> y </a:t>
            </a:r>
            <a:r>
              <a:rPr lang="es-ES" sz="2800" b="1" dirty="0">
                <a:solidFill>
                  <a:schemeClr val="accent2"/>
                </a:solidFill>
              </a:rPr>
              <a:t>funcionalidades</a:t>
            </a:r>
            <a:r>
              <a:rPr lang="es-ES" sz="2800" dirty="0">
                <a:solidFill>
                  <a:schemeClr val="accent6">
                    <a:lumMod val="50000"/>
                  </a:schemeClr>
                </a:solidFill>
              </a:rPr>
              <a:t> de la clase </a:t>
            </a:r>
            <a:r>
              <a:rPr lang="es-ES" sz="2800" b="1" dirty="0">
                <a:solidFill>
                  <a:schemeClr val="accent2"/>
                </a:solidFill>
              </a:rPr>
              <a:t>base</a:t>
            </a:r>
            <a:r>
              <a:rPr lang="es-ES" sz="2800" dirty="0">
                <a:solidFill>
                  <a:schemeClr val="accent6">
                    <a:lumMod val="50000"/>
                  </a:schemeClr>
                </a:solidFill>
              </a:rPr>
              <a:t>, incluso </a:t>
            </a:r>
            <a:r>
              <a:rPr lang="es-ES" sz="2800" b="1" dirty="0">
                <a:solidFill>
                  <a:schemeClr val="accent2"/>
                </a:solidFill>
              </a:rPr>
              <a:t>pudiendo sustituir</a:t>
            </a:r>
            <a:r>
              <a:rPr lang="es-ES" sz="2800" dirty="0">
                <a:solidFill>
                  <a:schemeClr val="accent2"/>
                </a:solidFill>
              </a:rPr>
              <a:t> </a:t>
            </a:r>
            <a:r>
              <a:rPr lang="es-ES" sz="2800" dirty="0">
                <a:solidFill>
                  <a:schemeClr val="accent6">
                    <a:lumMod val="50000"/>
                  </a:schemeClr>
                </a:solidFill>
              </a:rPr>
              <a:t>funcionalidad de la clase </a:t>
            </a:r>
            <a:r>
              <a:rPr lang="es-ES" sz="2800" b="1" dirty="0">
                <a:solidFill>
                  <a:schemeClr val="accent2"/>
                </a:solidFill>
              </a:rPr>
              <a:t>base</a:t>
            </a:r>
            <a:r>
              <a:rPr lang="es-ES" sz="2800" dirty="0">
                <a:solidFill>
                  <a:schemeClr val="accent6">
                    <a:lumMod val="50000"/>
                  </a:schemeClr>
                </a:solidFill>
              </a:rPr>
              <a:t>. La idea es que la clase </a:t>
            </a:r>
            <a:r>
              <a:rPr lang="es-ES" sz="2800" b="1" dirty="0">
                <a:solidFill>
                  <a:schemeClr val="accent2"/>
                </a:solidFill>
              </a:rPr>
              <a:t>derivada</a:t>
            </a:r>
            <a:r>
              <a:rPr lang="es-ES" sz="2800" dirty="0">
                <a:solidFill>
                  <a:schemeClr val="accent6">
                    <a:lumMod val="50000"/>
                  </a:schemeClr>
                </a:solidFill>
              </a:rPr>
              <a:t> “</a:t>
            </a:r>
            <a:r>
              <a:rPr lang="es-ES" sz="2800" b="1" dirty="0">
                <a:solidFill>
                  <a:schemeClr val="accent2"/>
                </a:solidFill>
              </a:rPr>
              <a:t>hereda</a:t>
            </a:r>
            <a:r>
              <a:rPr lang="es-ES" sz="2800" dirty="0">
                <a:solidFill>
                  <a:schemeClr val="accent6">
                    <a:lumMod val="50000"/>
                  </a:schemeClr>
                </a:solidFill>
              </a:rPr>
              <a:t>” algunas de las características de la clase </a:t>
            </a:r>
            <a:r>
              <a:rPr lang="es-ES" sz="2800" b="1" dirty="0">
                <a:solidFill>
                  <a:schemeClr val="accent2"/>
                </a:solidFill>
              </a:rPr>
              <a:t>base</a:t>
            </a:r>
            <a:r>
              <a:rPr lang="es-ES" sz="2800" dirty="0">
                <a:solidFill>
                  <a:schemeClr val="accent6">
                    <a:lumMod val="50000"/>
                  </a:schemeClr>
                </a:solidFill>
              </a:rPr>
              <a:t>.</a:t>
            </a:r>
            <a:endParaRPr lang="es-AR" sz="28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362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52856-EBBD-4CBB-4432-5451CD0B4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Texto&#10;&#10;El contenido generado por IA puede ser incorrecto.">
            <a:extLst>
              <a:ext uri="{FF2B5EF4-FFF2-40B4-BE49-F238E27FC236}">
                <a16:creationId xmlns:a16="http://schemas.microsoft.com/office/drawing/2014/main" id="{A16DBEF9-B225-B9A6-00FD-6137F4F63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649" y="1527910"/>
            <a:ext cx="5030195" cy="5075972"/>
          </a:xfrm>
          <a:prstGeom prst="rect">
            <a:avLst/>
          </a:prstGeom>
        </p:spPr>
      </p:pic>
      <p:pic>
        <p:nvPicPr>
          <p:cNvPr id="4" name="Imagen 3" descr="Forma, Flecha&#10;&#10;El contenido generado por IA puede ser incorrecto.">
            <a:extLst>
              <a:ext uri="{FF2B5EF4-FFF2-40B4-BE49-F238E27FC236}">
                <a16:creationId xmlns:a16="http://schemas.microsoft.com/office/drawing/2014/main" id="{A53844E1-DFC4-66AC-BA9E-A5930B7DA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523" y="2888918"/>
            <a:ext cx="2390775" cy="146685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2E9D890-3FAD-7AC3-786C-971EEDB25DA7}"/>
              </a:ext>
            </a:extLst>
          </p:cNvPr>
          <p:cNvSpPr txBox="1"/>
          <p:nvPr/>
        </p:nvSpPr>
        <p:spPr>
          <a:xfrm>
            <a:off x="579335" y="59686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Herencia</a:t>
            </a:r>
            <a:endParaRPr lang="es-ES" sz="105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5555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82499-7E79-959E-3D23-EFC7BAAFC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DC0D78A7-E183-9B10-1E43-FBF9E1927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69" y="1588116"/>
            <a:ext cx="8420100" cy="470535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37B37A04-D65F-E79C-B9E3-5672DECFE001}"/>
              </a:ext>
            </a:extLst>
          </p:cNvPr>
          <p:cNvSpPr txBox="1"/>
          <p:nvPr/>
        </p:nvSpPr>
        <p:spPr>
          <a:xfrm>
            <a:off x="495686" y="642476"/>
            <a:ext cx="915640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3600" b="1" dirty="0">
                <a:solidFill>
                  <a:prstClr val="white"/>
                </a:solidFill>
                <a:ea typeface="+mn-lt"/>
                <a:cs typeface="+mn-lt"/>
              </a:rPr>
              <a:t>Herencia – clases derivadas </a:t>
            </a:r>
            <a:endParaRPr lang="es-ES" sz="1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770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6602B-36B4-E2B4-4E94-5AB8DA988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9C2E0BC8-421D-FD78-3073-46D5B855C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19" y="2091239"/>
            <a:ext cx="8778971" cy="307350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B877CFF-9EA0-07C3-39BA-AA91A79D7C0F}"/>
              </a:ext>
            </a:extLst>
          </p:cNvPr>
          <p:cNvSpPr txBox="1"/>
          <p:nvPr/>
        </p:nvSpPr>
        <p:spPr>
          <a:xfrm>
            <a:off x="495686" y="642476"/>
            <a:ext cx="915640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3600" b="1" dirty="0">
                <a:solidFill>
                  <a:prstClr val="white"/>
                </a:solidFill>
                <a:ea typeface="+mn-lt"/>
                <a:cs typeface="+mn-lt"/>
              </a:rPr>
              <a:t>Herencia – clases derivadas </a:t>
            </a:r>
            <a:endParaRPr lang="es-ES" sz="1000" b="1" dirty="0">
              <a:solidFill>
                <a:prstClr val="white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B64F2ED-BBC6-3D76-9ACD-9E7E14AB6973}"/>
              </a:ext>
            </a:extLst>
          </p:cNvPr>
          <p:cNvSpPr txBox="1"/>
          <p:nvPr/>
        </p:nvSpPr>
        <p:spPr>
          <a:xfrm>
            <a:off x="632923" y="5396940"/>
            <a:ext cx="48260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000" dirty="0">
                <a:ea typeface="Calibri"/>
                <a:cs typeface="Calibri"/>
              </a:rPr>
              <a:t>REF: Visual Studio </a:t>
            </a:r>
            <a:r>
              <a:rPr lang="es-ES" sz="1000" dirty="0" err="1">
                <a:ea typeface="Calibri"/>
                <a:cs typeface="Calibri"/>
              </a:rPr>
              <a:t>Code</a:t>
            </a:r>
            <a:endParaRPr lang="es-ES" sz="1000" dirty="0" err="1"/>
          </a:p>
        </p:txBody>
      </p:sp>
    </p:spTree>
    <p:extLst>
      <p:ext uri="{BB962C8B-B14F-4D97-AF65-F5344CB8AC3E}">
        <p14:creationId xmlns:p14="http://schemas.microsoft.com/office/powerpoint/2010/main" val="3976754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1EE25-97BB-7ED2-9904-49412E25D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33F503B-AF71-FE1F-4A02-4329F3B8110B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Polimorfismo</a:t>
            </a:r>
            <a:endParaRPr lang="es-ES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611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EECA8-19B5-B169-4A33-A54F39272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FF844B14-8B75-5714-8304-2EE719E9F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752" y="2013812"/>
            <a:ext cx="4720998" cy="364573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1D762A3-EE06-8978-0D18-4A20F9DA597B}"/>
              </a:ext>
            </a:extLst>
          </p:cNvPr>
          <p:cNvSpPr txBox="1"/>
          <p:nvPr/>
        </p:nvSpPr>
        <p:spPr>
          <a:xfrm>
            <a:off x="556608" y="589002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Polimorfismo</a:t>
            </a:r>
            <a:endParaRPr lang="es-ES" sz="1050" b="1" dirty="0">
              <a:solidFill>
                <a:prstClr val="white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780D667-46B6-FAF2-A40A-BB7A0FF09E00}"/>
              </a:ext>
            </a:extLst>
          </p:cNvPr>
          <p:cNvSpPr txBox="1"/>
          <p:nvPr/>
        </p:nvSpPr>
        <p:spPr>
          <a:xfrm>
            <a:off x="628797" y="2397841"/>
            <a:ext cx="355017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chemeClr val="tx2"/>
                </a:solidFill>
              </a:rPr>
              <a:t>Polimorfismo significa </a:t>
            </a:r>
            <a:r>
              <a:rPr lang="es-ES" sz="2400" b="1" dirty="0">
                <a:solidFill>
                  <a:schemeClr val="tx2"/>
                </a:solidFill>
              </a:rPr>
              <a:t>de muchas formas</a:t>
            </a:r>
            <a:r>
              <a:rPr lang="es-ES" sz="2400" dirty="0">
                <a:solidFill>
                  <a:schemeClr val="tx2"/>
                </a:solidFill>
              </a:rPr>
              <a:t>. En nuestro caso llamamos polimorfismo cuando un método recibe un parámetro que abarca varios tipos.</a:t>
            </a:r>
            <a:endParaRPr lang="es-AR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693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94D15-4B70-9060-6EE0-7B0DD0D78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AD27347-A8FB-4BF5-8DD8-1EFEE942EF97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Diagrama de clases</a:t>
            </a:r>
            <a:endParaRPr lang="es-ES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9342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BA6D6-C28B-C81F-6475-54CD8009A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54698F93-B80A-B078-12DE-4972A5832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833" y="3270984"/>
            <a:ext cx="7834384" cy="2512326"/>
          </a:xfrm>
          <a:prstGeom prst="rect">
            <a:avLst/>
          </a:prstGeom>
        </p:spPr>
      </p:pic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9C259B65-37F7-4E59-14C0-B5024A9C5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311" y="5783310"/>
            <a:ext cx="3077428" cy="852843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23AE456-80BF-D189-BFBF-A00C99DF9215}"/>
              </a:ext>
            </a:extLst>
          </p:cNvPr>
          <p:cNvSpPr txBox="1"/>
          <p:nvPr/>
        </p:nvSpPr>
        <p:spPr>
          <a:xfrm>
            <a:off x="447560" y="619338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Repaso</a:t>
            </a:r>
            <a:endParaRPr lang="es-ES" sz="1050" b="1" dirty="0">
              <a:solidFill>
                <a:prstClr val="white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81E5EB-957C-DDED-F29C-F31F6285D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28" y="1623403"/>
            <a:ext cx="7980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Pct val="130000"/>
              <a:buFontTx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Este tipo de elementos normalmente se utilizan para representar conceptos o entidades del “</a:t>
            </a:r>
            <a:r>
              <a:rPr kumimoji="0" lang="es-AR" altLang="es-AR" sz="1800" b="1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</a:rPr>
              <a:t>negocio</a:t>
            </a: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”.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Pct val="130000"/>
              <a:buFontTx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Una clase define un </a:t>
            </a:r>
            <a:r>
              <a:rPr kumimoji="0" lang="es-AR" altLang="es-AR" sz="1800" b="1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</a:rPr>
              <a:t>grupo de objetos</a:t>
            </a: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</a:rPr>
              <a:t> </a:t>
            </a: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que comparten características, condiciones y significado.</a:t>
            </a:r>
          </a:p>
        </p:txBody>
      </p:sp>
    </p:spTree>
    <p:extLst>
      <p:ext uri="{BB962C8B-B14F-4D97-AF65-F5344CB8AC3E}">
        <p14:creationId xmlns:p14="http://schemas.microsoft.com/office/powerpoint/2010/main" val="47484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El contenido generado por IA puede ser incorrecto.">
            <a:extLst>
              <a:ext uri="{FF2B5EF4-FFF2-40B4-BE49-F238E27FC236}">
                <a16:creationId xmlns:a16="http://schemas.microsoft.com/office/drawing/2014/main" id="{F1F683D8-E7C6-7342-372B-6ACE4458B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036" y="4711076"/>
            <a:ext cx="4457700" cy="155257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D70C6FE-9B54-A9ED-3247-64152D3ADFAC}"/>
              </a:ext>
            </a:extLst>
          </p:cNvPr>
          <p:cNvSpPr txBox="1"/>
          <p:nvPr/>
        </p:nvSpPr>
        <p:spPr>
          <a:xfrm>
            <a:off x="375370" y="594349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Clases estáticas</a:t>
            </a:r>
            <a:endParaRPr lang="es-ES" sz="1050" b="1" dirty="0">
              <a:solidFill>
                <a:prstClr val="white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2EEFBD3-5977-42A2-AC18-3F5112CAC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499" y="1745545"/>
            <a:ext cx="848677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130000"/>
              <a:buFont typeface="Arial" panose="020B0604020202020204" pitchFamily="34" charset="0"/>
              <a:buChar char="•"/>
              <a:tabLst/>
            </a:pPr>
            <a:r>
              <a:rPr kumimoji="0" lang="es-AR" altLang="es-AR" sz="2400" b="1" i="0" u="none" strike="noStrike" cap="none" normalizeH="0" baseline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</a:rPr>
              <a:t>Aquella clase que se usa sin necesidad de realizar una instanciación de la misma.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130000"/>
              <a:buFont typeface="Arial" panose="020B0604020202020204" pitchFamily="34" charset="0"/>
              <a:buChar char="•"/>
              <a:tabLst/>
            </a:pPr>
            <a:r>
              <a:rPr kumimoji="0" lang="es-AR" altLang="es-AR" sz="2400" b="1" i="0" u="none" strike="noStrike" cap="none" normalizeH="0" baseline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</a:rPr>
              <a:t>Son adecuadas cuando no tienen que almacenar información, sino sólo realizar cálculos o algún proceso que no cambie.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130000"/>
              <a:buFont typeface="Arial" panose="020B0604020202020204" pitchFamily="34" charset="0"/>
              <a:buChar char="•"/>
              <a:tabLst/>
            </a:pPr>
            <a:r>
              <a:rPr kumimoji="0" lang="es-AR" altLang="es-AR" sz="2400" b="1" i="0" u="none" strike="noStrike" cap="none" normalizeH="0" baseline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</a:rPr>
              <a:t>Una característica estática se define como aquella que es compartida por cada clase y no instanciada para cada uno de los objetos de esa clase.</a:t>
            </a:r>
          </a:p>
        </p:txBody>
      </p:sp>
    </p:spTree>
    <p:extLst>
      <p:ext uri="{BB962C8B-B14F-4D97-AF65-F5344CB8AC3E}">
        <p14:creationId xmlns:p14="http://schemas.microsoft.com/office/powerpoint/2010/main" val="37201007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18F66-8D28-09E3-76F1-1C58EED89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91F21A01-BE2D-4FBE-5EF8-C7B696BEC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075" y="1689752"/>
            <a:ext cx="2960001" cy="404539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E033399-BFFE-F561-4E11-1D03F5390D80}"/>
              </a:ext>
            </a:extLst>
          </p:cNvPr>
          <p:cNvSpPr txBox="1"/>
          <p:nvPr/>
        </p:nvSpPr>
        <p:spPr>
          <a:xfrm>
            <a:off x="484461" y="632580"/>
            <a:ext cx="9009267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4000" b="1" dirty="0">
                <a:solidFill>
                  <a:schemeClr val="bg1"/>
                </a:solidFill>
                <a:ea typeface="+mn-lt"/>
                <a:cs typeface="+mn-lt"/>
              </a:rPr>
              <a:t>Relaciones</a:t>
            </a:r>
            <a:endParaRPr lang="es-ES" sz="105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20DA0C-4835-C780-243C-9814431ADB74}"/>
              </a:ext>
            </a:extLst>
          </p:cNvPr>
          <p:cNvSpPr txBox="1"/>
          <p:nvPr/>
        </p:nvSpPr>
        <p:spPr>
          <a:xfrm>
            <a:off x="836992" y="2240471"/>
            <a:ext cx="368738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200" b="1" dirty="0">
                <a:solidFill>
                  <a:schemeClr val="accent5"/>
                </a:solidFill>
              </a:rPr>
              <a:t>Una relación </a:t>
            </a:r>
            <a:r>
              <a:rPr lang="es-ES" sz="2200" b="1" i="1" dirty="0">
                <a:solidFill>
                  <a:schemeClr val="accent5"/>
                </a:solidFill>
              </a:rPr>
              <a:t>identifica una dependencia</a:t>
            </a:r>
            <a:r>
              <a:rPr lang="es-ES" sz="2200" dirty="0">
                <a:solidFill>
                  <a:schemeClr val="accent5"/>
                </a:solidFill>
              </a:rPr>
              <a:t>. </a:t>
            </a:r>
            <a:r>
              <a:rPr lang="es-ES" sz="2200" dirty="0"/>
              <a:t>Esta dependencia puede ser entre dos o más clases (más común) o una clase hacia sí misma (menos común, pero existen), este último tipo de dependencia se denomina </a:t>
            </a:r>
            <a:r>
              <a:rPr lang="es-ES" sz="2200" b="1" i="1" dirty="0">
                <a:solidFill>
                  <a:schemeClr val="accent5"/>
                </a:solidFill>
              </a:rPr>
              <a:t>dependencia reflexiva</a:t>
            </a:r>
            <a:r>
              <a:rPr lang="es-ES" sz="2200" dirty="0">
                <a:solidFill>
                  <a:schemeClr val="accent5"/>
                </a:solidFill>
              </a:rPr>
              <a:t>.</a:t>
            </a:r>
            <a:endParaRPr lang="es-AR" sz="2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821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00D00-0645-7699-DE60-EA7296DE2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05048661-ADFF-1107-BE4C-8FC498BD1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225" y="3652629"/>
            <a:ext cx="5534025" cy="192695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5F91139-3569-434F-1558-7C53A4312D97}"/>
              </a:ext>
            </a:extLst>
          </p:cNvPr>
          <p:cNvSpPr txBox="1"/>
          <p:nvPr/>
        </p:nvSpPr>
        <p:spPr>
          <a:xfrm>
            <a:off x="448366" y="570526"/>
            <a:ext cx="945042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4000" b="1" dirty="0">
                <a:solidFill>
                  <a:schemeClr val="bg1"/>
                </a:solidFill>
                <a:ea typeface="+mn-lt"/>
                <a:cs typeface="+mn-lt"/>
              </a:rPr>
              <a:t>Elementos de una relación</a:t>
            </a:r>
            <a:endParaRPr lang="es-ES" sz="1050" b="1" dirty="0">
              <a:solidFill>
                <a:schemeClr val="bg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27284B8-A7D8-0F0B-AFB7-D96F1F378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66" y="1574156"/>
            <a:ext cx="853370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Multiplicidad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AR" altLang="es-A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s-AR" altLang="es-A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Número de elementos de una clase que participan en una relación. Se puede indicar un número, un rango… Se utiliza </a:t>
            </a:r>
            <a:r>
              <a:rPr kumimoji="0" lang="es-AR" altLang="es-AR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‘n’</a:t>
            </a:r>
            <a:r>
              <a:rPr kumimoji="0" lang="es-AR" altLang="es-A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 </a:t>
            </a:r>
            <a:r>
              <a:rPr kumimoji="0" lang="es-AR" altLang="es-AR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‘</a:t>
            </a:r>
            <a:r>
              <a:rPr kumimoji="0" lang="es-AR" altLang="es-A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’* para identificar un número cualquiera.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8F2207D-43FE-6FC8-AC03-59DA6278A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66" y="3205372"/>
            <a:ext cx="299968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Nombre de la asociación</a:t>
            </a:r>
            <a:br>
              <a:rPr kumimoji="0" lang="es-AR" altLang="es-A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s-AR" altLang="es-A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Ayuda a entender la relación que tienen dos clases. Suelen utilizarse verbos como por ejemplo: “Una empresa </a:t>
            </a:r>
            <a:r>
              <a:rPr kumimoji="0" lang="es-AR" altLang="es-AR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contrata</a:t>
            </a:r>
            <a:r>
              <a:rPr kumimoji="0" lang="es-AR" altLang="es-A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s-AR" altLang="es-AR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n</a:t>
            </a:r>
            <a:r>
              <a:rPr kumimoji="0" lang="es-AR" altLang="es-A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empleados”.</a:t>
            </a:r>
          </a:p>
        </p:txBody>
      </p:sp>
    </p:spTree>
    <p:extLst>
      <p:ext uri="{BB962C8B-B14F-4D97-AF65-F5344CB8AC3E}">
        <p14:creationId xmlns:p14="http://schemas.microsoft.com/office/powerpoint/2010/main" val="4172611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A59DF-D50C-90C0-8D12-7CA914CA0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EA9340D1-6F74-DC3E-0947-A3435B219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047" y="3059460"/>
            <a:ext cx="7134225" cy="212407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BFC4B0C-08E5-A8B3-8674-8810084BE81E}"/>
              </a:ext>
            </a:extLst>
          </p:cNvPr>
          <p:cNvSpPr txBox="1"/>
          <p:nvPr/>
        </p:nvSpPr>
        <p:spPr>
          <a:xfrm>
            <a:off x="405747" y="601375"/>
            <a:ext cx="8696446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4000" b="1" dirty="0">
                <a:solidFill>
                  <a:schemeClr val="bg1"/>
                </a:solidFill>
                <a:ea typeface="+mn-lt"/>
                <a:cs typeface="+mn-lt"/>
              </a:rPr>
              <a:t>Asociación dirigida</a:t>
            </a:r>
            <a:endParaRPr lang="es-ES" sz="105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0B3759A-3F17-2452-C20C-2073F0E19C89}"/>
              </a:ext>
            </a:extLst>
          </p:cNvPr>
          <p:cNvSpPr txBox="1"/>
          <p:nvPr/>
        </p:nvSpPr>
        <p:spPr>
          <a:xfrm>
            <a:off x="2264116" y="2099581"/>
            <a:ext cx="51240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chemeClr val="tx2"/>
                </a:solidFill>
              </a:rPr>
              <a:t>La asociación directa indica cómo se debe recorrer la misma.</a:t>
            </a:r>
            <a:endParaRPr lang="es-AR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3577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496EF-07F8-62BE-6134-94A92418C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B5818EE0-5E28-3441-0578-A8AB49AB2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222" y="2999263"/>
            <a:ext cx="6038709" cy="330432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E809785-1A24-2BBE-8C82-A963CC578A11}"/>
              </a:ext>
            </a:extLst>
          </p:cNvPr>
          <p:cNvSpPr txBox="1"/>
          <p:nvPr/>
        </p:nvSpPr>
        <p:spPr>
          <a:xfrm>
            <a:off x="476440" y="554414"/>
            <a:ext cx="806278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4000" b="1" dirty="0">
                <a:solidFill>
                  <a:schemeClr val="bg1"/>
                </a:solidFill>
                <a:ea typeface="+mn-lt"/>
                <a:cs typeface="+mn-lt"/>
              </a:rPr>
              <a:t>Agregación</a:t>
            </a:r>
            <a:endParaRPr lang="es-ES" sz="105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6567438-E6CC-53AF-EA42-0C4C536E21B4}"/>
              </a:ext>
            </a:extLst>
          </p:cNvPr>
          <p:cNvSpPr txBox="1"/>
          <p:nvPr/>
        </p:nvSpPr>
        <p:spPr>
          <a:xfrm>
            <a:off x="724784" y="1811576"/>
            <a:ext cx="82235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dirty="0">
                <a:solidFill>
                  <a:schemeClr val="accent6">
                    <a:lumMod val="50000"/>
                  </a:schemeClr>
                </a:solidFill>
              </a:rPr>
              <a:t>Es una representación jerárquica que indica a un objeto y las partes que componen ese objeto. Es decir, representa relaciones en las que un objeto es parte de otro, pero aun así debe tener existencia en sí mismo.</a:t>
            </a:r>
            <a:endParaRPr lang="es-A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54118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C695F-A10F-D3EC-58B3-CB7730389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7BE796B-AC21-04F6-19CD-0C9A8A2AD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39" y="1939546"/>
            <a:ext cx="3952875" cy="3638550"/>
          </a:xfrm>
          <a:prstGeom prst="rect">
            <a:avLst/>
          </a:prstGeom>
        </p:spPr>
      </p:pic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7F5C9F96-F747-E1DC-EEFF-48571D739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189" y="2015390"/>
            <a:ext cx="5431383" cy="3111549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5B6DE49-839C-6D00-B266-1424B7BB9F4B}"/>
              </a:ext>
            </a:extLst>
          </p:cNvPr>
          <p:cNvSpPr txBox="1"/>
          <p:nvPr/>
        </p:nvSpPr>
        <p:spPr>
          <a:xfrm>
            <a:off x="439533" y="633573"/>
            <a:ext cx="1155356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3600" b="1" dirty="0">
                <a:solidFill>
                  <a:schemeClr val="bg1"/>
                </a:solidFill>
                <a:ea typeface="+mn-lt"/>
                <a:cs typeface="+mn-lt"/>
              </a:rPr>
              <a:t>Composición</a:t>
            </a:r>
            <a:endParaRPr lang="es-ES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811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6EAB8-FCFE-B499-1FB3-1C463F2C3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3EAB377-F4B6-5BB4-B113-CBC6A1EA3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985" y="4153682"/>
            <a:ext cx="6534150" cy="166687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C43A28E-4541-EBC2-86FB-D0D8F96FE76C}"/>
              </a:ext>
            </a:extLst>
          </p:cNvPr>
          <p:cNvSpPr txBox="1"/>
          <p:nvPr/>
        </p:nvSpPr>
        <p:spPr>
          <a:xfrm>
            <a:off x="535405" y="597387"/>
            <a:ext cx="61240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000" b="1" dirty="0">
                <a:solidFill>
                  <a:schemeClr val="bg1"/>
                </a:solidFill>
                <a:ea typeface="+mn-lt"/>
                <a:cs typeface="+mn-lt"/>
              </a:rPr>
              <a:t>Dependencia</a:t>
            </a:r>
            <a:endParaRPr lang="es-AR" sz="4000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EC8BEE4-2F7E-4464-F01B-9C457BD78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799" y="2099972"/>
            <a:ext cx="698633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24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</a:rPr>
              <a:t>Se utiliza este tipo de relación para representar que una clase requiere de otra para ofrecer sus funcionalidades.</a:t>
            </a:r>
            <a:endParaRPr kumimoji="0" lang="es-AR" altLang="es-AR" sz="24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24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552949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39AE5-0ADD-5978-CC07-229D76ADF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2F57398-5C46-8DB5-DC21-5962D8A14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620" y="2072540"/>
            <a:ext cx="4766054" cy="37365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9F4C6BE-2333-EA96-1235-431786FE99DB}"/>
              </a:ext>
            </a:extLst>
          </p:cNvPr>
          <p:cNvSpPr txBox="1"/>
          <p:nvPr/>
        </p:nvSpPr>
        <p:spPr>
          <a:xfrm>
            <a:off x="599575" y="581344"/>
            <a:ext cx="61240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000" b="1" dirty="0">
                <a:solidFill>
                  <a:schemeClr val="bg1"/>
                </a:solidFill>
                <a:ea typeface="+mn-lt"/>
                <a:cs typeface="+mn-lt"/>
              </a:rPr>
              <a:t>Interfaz</a:t>
            </a:r>
            <a:endParaRPr lang="es-AR" sz="40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2EC553E-8C6F-A08E-34CC-5E23B41517A1}"/>
              </a:ext>
            </a:extLst>
          </p:cNvPr>
          <p:cNvSpPr txBox="1"/>
          <p:nvPr/>
        </p:nvSpPr>
        <p:spPr>
          <a:xfrm>
            <a:off x="399791" y="2612152"/>
            <a:ext cx="398170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dirty="0">
                <a:solidFill>
                  <a:schemeClr val="accent6">
                    <a:lumMod val="50000"/>
                  </a:schemeClr>
                </a:solidFill>
              </a:rPr>
              <a:t>Una interfaz es una entidad que declara una </a:t>
            </a:r>
            <a:r>
              <a:rPr lang="es-ES" sz="2000" b="1" dirty="0">
                <a:solidFill>
                  <a:schemeClr val="accent2"/>
                </a:solidFill>
              </a:rPr>
              <a:t>serie de atributos, funciones y obligaciones. </a:t>
            </a:r>
            <a:r>
              <a:rPr lang="es-ES" sz="2000" b="1" dirty="0">
                <a:solidFill>
                  <a:schemeClr val="accent6">
                    <a:lumMod val="50000"/>
                  </a:schemeClr>
                </a:solidFill>
              </a:rPr>
              <a:t>Es una especie de contrato donde toda instancia asociada a una interfaz debe de implementar los servicios que indica aquella interfaz.</a:t>
            </a:r>
            <a:endParaRPr lang="es-A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15596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69F3D-A00B-D960-E3D6-118F720AA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El contenido generado por IA puede ser incorrecto.">
            <a:extLst>
              <a:ext uri="{FF2B5EF4-FFF2-40B4-BE49-F238E27FC236}">
                <a16:creationId xmlns:a16="http://schemas.microsoft.com/office/drawing/2014/main" id="{E9121A49-6D45-F9C5-5499-7FF5BAEFD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092" y="4622353"/>
            <a:ext cx="4796336" cy="124393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5A0FE49-33B6-01D4-57BF-569AA56B2527}"/>
              </a:ext>
            </a:extLst>
          </p:cNvPr>
          <p:cNvSpPr txBox="1"/>
          <p:nvPr/>
        </p:nvSpPr>
        <p:spPr>
          <a:xfrm>
            <a:off x="471237" y="610710"/>
            <a:ext cx="61240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b="1" dirty="0">
                <a:solidFill>
                  <a:schemeClr val="bg1"/>
                </a:solidFill>
                <a:ea typeface="+mn-lt"/>
                <a:cs typeface="+mn-lt"/>
              </a:rPr>
              <a:t>Clases abstractas</a:t>
            </a:r>
            <a:endParaRPr lang="es-AR" sz="36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E9C0AEC-30C9-34F3-4B8E-68F3A832A4BE}"/>
              </a:ext>
            </a:extLst>
          </p:cNvPr>
          <p:cNvSpPr txBox="1"/>
          <p:nvPr/>
        </p:nvSpPr>
        <p:spPr>
          <a:xfrm>
            <a:off x="568014" y="1990072"/>
            <a:ext cx="81944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chemeClr val="accent5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/>
              <a:t>Una clase que declara la existencia de métodos, pero no la implementación de dichos métodos (o sea, las llaves { } y las sentencias entre ellas), se considera una clase abstracta</a:t>
            </a:r>
            <a:r>
              <a:rPr lang="es-AR" sz="2400" dirty="0"/>
              <a:t>.</a:t>
            </a:r>
          </a:p>
          <a:p>
            <a:pPr marL="342900" indent="-342900" algn="just">
              <a:buClr>
                <a:schemeClr val="accent5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2400" dirty="0"/>
              <a:t>Una clase </a:t>
            </a:r>
            <a:r>
              <a:rPr lang="es-AR" sz="2400" b="1" dirty="0">
                <a:solidFill>
                  <a:schemeClr val="accent5"/>
                </a:solidFill>
              </a:rPr>
              <a:t>abstracta</a:t>
            </a:r>
            <a:r>
              <a:rPr lang="es-AR" sz="2400" dirty="0"/>
              <a:t> puede contener métodos no abstractos, pero al menos uno de los métodos debe ser declarado abstracto.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850814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50790-B93E-2AD7-F2C7-578A5D385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34EF553F-DD15-1529-519A-60FC26F0A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34" y="1719832"/>
            <a:ext cx="8762061" cy="357563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0683155-8CB9-8578-BF1A-0588DE38D695}"/>
              </a:ext>
            </a:extLst>
          </p:cNvPr>
          <p:cNvSpPr txBox="1"/>
          <p:nvPr/>
        </p:nvSpPr>
        <p:spPr>
          <a:xfrm>
            <a:off x="455195" y="613429"/>
            <a:ext cx="80070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000" b="1" dirty="0">
                <a:solidFill>
                  <a:schemeClr val="bg1"/>
                </a:solidFill>
                <a:ea typeface="+mn-lt"/>
                <a:cs typeface="+mn-lt"/>
              </a:rPr>
              <a:t>Clases abstractas vs. interfaz</a:t>
            </a:r>
            <a:endParaRPr lang="es-AR" sz="4000" b="1" dirty="0"/>
          </a:p>
        </p:txBody>
      </p:sp>
    </p:spTree>
    <p:extLst>
      <p:ext uri="{BB962C8B-B14F-4D97-AF65-F5344CB8AC3E}">
        <p14:creationId xmlns:p14="http://schemas.microsoft.com/office/powerpoint/2010/main" val="15905414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A48A-6CAB-C7DC-D1BC-C9E5F2C0F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47972BE-7075-A8DE-0552-741F45FE3C75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 dirty="0">
                <a:solidFill>
                  <a:schemeClr val="bg1"/>
                </a:solidFill>
                <a:effectLst/>
              </a:rPr>
              <a:t>Síntesis</a:t>
            </a:r>
            <a:endParaRPr lang="es-AR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7227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5C0DB-3D3B-4536-7C2F-A2DDC70BA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F8C1AAA-FC86-4C32-5441-2CA3A5477F5D}"/>
              </a:ext>
            </a:extLst>
          </p:cNvPr>
          <p:cNvSpPr txBox="1"/>
          <p:nvPr/>
        </p:nvSpPr>
        <p:spPr>
          <a:xfrm>
            <a:off x="1089598" y="1999080"/>
            <a:ext cx="7899657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AR" sz="2400" b="1" dirty="0">
                <a:solidFill>
                  <a:srgbClr val="7F7F7F"/>
                </a:solidFill>
                <a:ea typeface="+mn-lt"/>
                <a:cs typeface="+mn-lt"/>
              </a:rPr>
              <a:t>La POO y los diagramas de clase permiten diseñar software modular, claro y extensible.</a:t>
            </a:r>
            <a:endParaRPr lang="es-AR" b="1" dirty="0">
              <a:ea typeface="Calibri" panose="020F0502020204030204"/>
              <a:cs typeface="Calibri" panose="020F0502020204030204"/>
            </a:endParaRPr>
          </a:p>
          <a:p>
            <a:pPr algn="just"/>
            <a:endParaRPr lang="es-AR" sz="24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400" b="1" dirty="0">
                <a:solidFill>
                  <a:srgbClr val="7F7F7F"/>
                </a:solidFill>
                <a:ea typeface="+mn-lt"/>
                <a:cs typeface="+mn-lt"/>
              </a:rPr>
              <a:t>Buen modelado inicial = menos complejidad y menor consumo de recursos.</a:t>
            </a:r>
            <a:endParaRPr lang="es-AR" b="1" dirty="0">
              <a:ea typeface="Calibri" panose="020F0502020204030204"/>
              <a:cs typeface="Calibri" panose="020F0502020204030204"/>
            </a:endParaRPr>
          </a:p>
          <a:p>
            <a:pPr algn="just"/>
            <a:endParaRPr lang="es-AR" sz="24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400" b="1" dirty="0">
                <a:solidFill>
                  <a:srgbClr val="7F7F7F"/>
                </a:solidFill>
                <a:ea typeface="+mn-lt"/>
                <a:cs typeface="+mn-lt"/>
              </a:rPr>
              <a:t>Principios como abstracción, encapsulamiento, herencia y polimorfismo favorecen un desarrollo sostenible y eficiente.</a:t>
            </a:r>
            <a:endParaRPr lang="es-AR" b="1" dirty="0">
              <a:ea typeface="Calibri" panose="020F0502020204030204"/>
              <a:cs typeface="Calibri" panose="020F0502020204030204"/>
            </a:endParaRPr>
          </a:p>
          <a:p>
            <a:pPr algn="just"/>
            <a:endParaRPr lang="es-AR" sz="2400" b="1" dirty="0">
              <a:solidFill>
                <a:srgbClr val="7F7F7F"/>
              </a:solidFill>
              <a:ea typeface="Calibri"/>
              <a:cs typeface="Calibri"/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2291CA9D-96EE-9C50-7D18-F4806101C33C}"/>
              </a:ext>
            </a:extLst>
          </p:cNvPr>
          <p:cNvSpPr/>
          <p:nvPr/>
        </p:nvSpPr>
        <p:spPr>
          <a:xfrm>
            <a:off x="711549" y="3260999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BAC8143B-50E3-7C18-F9F8-D90CA2ABE25E}"/>
              </a:ext>
            </a:extLst>
          </p:cNvPr>
          <p:cNvSpPr/>
          <p:nvPr/>
        </p:nvSpPr>
        <p:spPr>
          <a:xfrm>
            <a:off x="711553" y="2181907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F609CD1-C02F-BE04-C160-212C3B29151F}"/>
              </a:ext>
            </a:extLst>
          </p:cNvPr>
          <p:cNvSpPr txBox="1"/>
          <p:nvPr/>
        </p:nvSpPr>
        <p:spPr>
          <a:xfrm>
            <a:off x="455195" y="613429"/>
            <a:ext cx="80070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S</a:t>
            </a:r>
            <a:r>
              <a:rPr lang="es-AR" sz="4000" b="1" dirty="0" err="1">
                <a:solidFill>
                  <a:schemeClr val="bg1"/>
                </a:solidFill>
                <a:ea typeface="+mn-lt"/>
                <a:cs typeface="+mn-lt"/>
              </a:rPr>
              <a:t>íntesis</a:t>
            </a:r>
            <a:endParaRPr lang="es-AR" sz="4000" b="1" dirty="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AFB0DFD-EC4E-4CBE-7682-74FED155901D}"/>
              </a:ext>
            </a:extLst>
          </p:cNvPr>
          <p:cNvSpPr/>
          <p:nvPr/>
        </p:nvSpPr>
        <p:spPr>
          <a:xfrm>
            <a:off x="711548" y="4355561"/>
            <a:ext cx="130628" cy="13062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052893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DD8B87C-C830-682A-4B7B-E9BA46DAD953}"/>
              </a:ext>
            </a:extLst>
          </p:cNvPr>
          <p:cNvSpPr/>
          <p:nvPr/>
        </p:nvSpPr>
        <p:spPr>
          <a:xfrm>
            <a:off x="-30822" y="0"/>
            <a:ext cx="5377970" cy="6858002"/>
          </a:xfrm>
          <a:prstGeom prst="rect">
            <a:avLst/>
          </a:prstGeom>
          <a:solidFill>
            <a:srgbClr val="E1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FF60EDB-6267-EFDB-1380-1704C3E89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27" b="14827"/>
          <a:stretch/>
        </p:blipFill>
        <p:spPr>
          <a:xfrm rot="16200000">
            <a:off x="3918106" y="1020714"/>
            <a:ext cx="6858001" cy="481657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B3135A7-4C40-FBEB-0B4B-542FE662277F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solidFill>
            <a:srgbClr val="4C4C4C">
              <a:alpha val="8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AB98000-0149-1801-9ECA-D5A25455BCCA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noFill/>
          <a:ln w="76200">
            <a:solidFill>
              <a:srgbClr val="F6A6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5BA26AD5-71CC-52AB-7D6C-4601C5C16AD7}"/>
              </a:ext>
            </a:extLst>
          </p:cNvPr>
          <p:cNvSpPr/>
          <p:nvPr/>
        </p:nvSpPr>
        <p:spPr>
          <a:xfrm>
            <a:off x="2109047" y="3983734"/>
            <a:ext cx="1493811" cy="568526"/>
          </a:xfrm>
          <a:custGeom>
            <a:avLst/>
            <a:gdLst>
              <a:gd name="connsiteX0" fmla="*/ 1346911 w 1493811"/>
              <a:gd name="connsiteY0" fmla="*/ 0 h 568526"/>
              <a:gd name="connsiteX1" fmla="*/ 43879 w 1493811"/>
              <a:gd name="connsiteY1" fmla="*/ 0 h 568526"/>
              <a:gd name="connsiteX2" fmla="*/ 0 w 1493811"/>
              <a:gd name="connsiteY2" fmla="*/ 43880 h 568526"/>
              <a:gd name="connsiteX3" fmla="*/ 0 w 1493811"/>
              <a:gd name="connsiteY3" fmla="*/ 524647 h 568526"/>
              <a:gd name="connsiteX4" fmla="*/ 13355 w 1493811"/>
              <a:gd name="connsiteY4" fmla="*/ 555172 h 568526"/>
              <a:gd name="connsiteX5" fmla="*/ 43879 w 1493811"/>
              <a:gd name="connsiteY5" fmla="*/ 568526 h 568526"/>
              <a:gd name="connsiteX6" fmla="*/ 1346911 w 1493811"/>
              <a:gd name="connsiteY6" fmla="*/ 568526 h 568526"/>
              <a:gd name="connsiteX7" fmla="*/ 1493812 w 1493811"/>
              <a:gd name="connsiteY7" fmla="*/ 360575 h 568526"/>
              <a:gd name="connsiteX8" fmla="*/ 1493812 w 1493811"/>
              <a:gd name="connsiteY8" fmla="*/ 207951 h 568526"/>
              <a:gd name="connsiteX9" fmla="*/ 1346911 w 1493811"/>
              <a:gd name="connsiteY9" fmla="*/ 0 h 568526"/>
              <a:gd name="connsiteX10" fmla="*/ 1066464 w 1493811"/>
              <a:gd name="connsiteY10" fmla="*/ 87759 h 568526"/>
              <a:gd name="connsiteX11" fmla="*/ 1127513 w 1493811"/>
              <a:gd name="connsiteY11" fmla="*/ 207951 h 568526"/>
              <a:gd name="connsiteX12" fmla="*/ 1127513 w 1493811"/>
              <a:gd name="connsiteY12" fmla="*/ 360575 h 568526"/>
              <a:gd name="connsiteX13" fmla="*/ 1066464 w 1493811"/>
              <a:gd name="connsiteY13" fmla="*/ 480767 h 568526"/>
              <a:gd name="connsiteX14" fmla="*/ 908116 w 1493811"/>
              <a:gd name="connsiteY14" fmla="*/ 480767 h 568526"/>
              <a:gd name="connsiteX15" fmla="*/ 934825 w 1493811"/>
              <a:gd name="connsiteY15" fmla="*/ 360575 h 568526"/>
              <a:gd name="connsiteX16" fmla="*/ 934825 w 1493811"/>
              <a:gd name="connsiteY16" fmla="*/ 207951 h 568526"/>
              <a:gd name="connsiteX17" fmla="*/ 908116 w 1493811"/>
              <a:gd name="connsiteY17" fmla="*/ 87759 h 568526"/>
              <a:gd name="connsiteX18" fmla="*/ 1066464 w 1493811"/>
              <a:gd name="connsiteY18" fmla="*/ 87759 h 568526"/>
              <a:gd name="connsiteX19" fmla="*/ 87759 w 1493811"/>
              <a:gd name="connsiteY19" fmla="*/ 87759 h 568526"/>
              <a:gd name="connsiteX20" fmla="*/ 787924 w 1493811"/>
              <a:gd name="connsiteY20" fmla="*/ 87759 h 568526"/>
              <a:gd name="connsiteX21" fmla="*/ 847066 w 1493811"/>
              <a:gd name="connsiteY21" fmla="*/ 207951 h 568526"/>
              <a:gd name="connsiteX22" fmla="*/ 847066 w 1493811"/>
              <a:gd name="connsiteY22" fmla="*/ 360575 h 568526"/>
              <a:gd name="connsiteX23" fmla="*/ 787924 w 1493811"/>
              <a:gd name="connsiteY23" fmla="*/ 480767 h 568526"/>
              <a:gd name="connsiteX24" fmla="*/ 87759 w 1493811"/>
              <a:gd name="connsiteY24" fmla="*/ 480767 h 568526"/>
              <a:gd name="connsiteX25" fmla="*/ 87759 w 1493811"/>
              <a:gd name="connsiteY25" fmla="*/ 87759 h 568526"/>
              <a:gd name="connsiteX26" fmla="*/ 1407961 w 1493811"/>
              <a:gd name="connsiteY26" fmla="*/ 360575 h 568526"/>
              <a:gd name="connsiteX27" fmla="*/ 1346911 w 1493811"/>
              <a:gd name="connsiteY27" fmla="*/ 480767 h 568526"/>
              <a:gd name="connsiteX28" fmla="*/ 1188563 w 1493811"/>
              <a:gd name="connsiteY28" fmla="*/ 480767 h 568526"/>
              <a:gd name="connsiteX29" fmla="*/ 1215272 w 1493811"/>
              <a:gd name="connsiteY29" fmla="*/ 360575 h 568526"/>
              <a:gd name="connsiteX30" fmla="*/ 1215272 w 1493811"/>
              <a:gd name="connsiteY30" fmla="*/ 207951 h 568526"/>
              <a:gd name="connsiteX31" fmla="*/ 1188563 w 1493811"/>
              <a:gd name="connsiteY31" fmla="*/ 87759 h 568526"/>
              <a:gd name="connsiteX32" fmla="*/ 1346911 w 1493811"/>
              <a:gd name="connsiteY32" fmla="*/ 87759 h 568526"/>
              <a:gd name="connsiteX33" fmla="*/ 1407961 w 1493811"/>
              <a:gd name="connsiteY33" fmla="*/ 207951 h 568526"/>
              <a:gd name="connsiteX34" fmla="*/ 1407961 w 1493811"/>
              <a:gd name="connsiteY34" fmla="*/ 360575 h 56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493811" h="568526">
                <a:moveTo>
                  <a:pt x="1346911" y="0"/>
                </a:moveTo>
                <a:lnTo>
                  <a:pt x="43879" y="0"/>
                </a:lnTo>
                <a:cubicBezTo>
                  <a:pt x="19078" y="0"/>
                  <a:pt x="0" y="19078"/>
                  <a:pt x="0" y="43880"/>
                </a:cubicBezTo>
                <a:lnTo>
                  <a:pt x="0" y="524647"/>
                </a:lnTo>
                <a:cubicBezTo>
                  <a:pt x="0" y="536093"/>
                  <a:pt x="3816" y="547540"/>
                  <a:pt x="13355" y="555172"/>
                </a:cubicBezTo>
                <a:cubicBezTo>
                  <a:pt x="20986" y="562803"/>
                  <a:pt x="32433" y="568526"/>
                  <a:pt x="43879" y="568526"/>
                </a:cubicBezTo>
                <a:lnTo>
                  <a:pt x="1346911" y="568526"/>
                </a:lnTo>
                <a:cubicBezTo>
                  <a:pt x="1428947" y="568526"/>
                  <a:pt x="1493812" y="476951"/>
                  <a:pt x="1493812" y="360575"/>
                </a:cubicBezTo>
                <a:lnTo>
                  <a:pt x="1493812" y="207951"/>
                </a:lnTo>
                <a:cubicBezTo>
                  <a:pt x="1493812" y="91575"/>
                  <a:pt x="1428947" y="0"/>
                  <a:pt x="1346911" y="0"/>
                </a:cubicBezTo>
                <a:close/>
                <a:moveTo>
                  <a:pt x="1066464" y="87759"/>
                </a:moveTo>
                <a:cubicBezTo>
                  <a:pt x="1095081" y="87759"/>
                  <a:pt x="1127513" y="139270"/>
                  <a:pt x="1127513" y="207951"/>
                </a:cubicBezTo>
                <a:lnTo>
                  <a:pt x="1127513" y="360575"/>
                </a:lnTo>
                <a:cubicBezTo>
                  <a:pt x="1127513" y="427349"/>
                  <a:pt x="1095081" y="480767"/>
                  <a:pt x="1066464" y="480767"/>
                </a:cubicBezTo>
                <a:lnTo>
                  <a:pt x="908116" y="480767"/>
                </a:lnTo>
                <a:cubicBezTo>
                  <a:pt x="925286" y="446426"/>
                  <a:pt x="934825" y="406363"/>
                  <a:pt x="934825" y="360575"/>
                </a:cubicBezTo>
                <a:lnTo>
                  <a:pt x="934825" y="207951"/>
                </a:lnTo>
                <a:cubicBezTo>
                  <a:pt x="934825" y="162163"/>
                  <a:pt x="925286" y="122100"/>
                  <a:pt x="908116" y="87759"/>
                </a:cubicBezTo>
                <a:lnTo>
                  <a:pt x="1066464" y="87759"/>
                </a:lnTo>
                <a:close/>
                <a:moveTo>
                  <a:pt x="87759" y="87759"/>
                </a:moveTo>
                <a:lnTo>
                  <a:pt x="787924" y="87759"/>
                </a:lnTo>
                <a:cubicBezTo>
                  <a:pt x="816541" y="87759"/>
                  <a:pt x="847066" y="139270"/>
                  <a:pt x="847066" y="207951"/>
                </a:cubicBezTo>
                <a:lnTo>
                  <a:pt x="847066" y="360575"/>
                </a:lnTo>
                <a:cubicBezTo>
                  <a:pt x="847066" y="427349"/>
                  <a:pt x="814633" y="480767"/>
                  <a:pt x="787924" y="480767"/>
                </a:cubicBezTo>
                <a:lnTo>
                  <a:pt x="87759" y="480767"/>
                </a:lnTo>
                <a:lnTo>
                  <a:pt x="87759" y="87759"/>
                </a:lnTo>
                <a:close/>
                <a:moveTo>
                  <a:pt x="1407961" y="360575"/>
                </a:moveTo>
                <a:cubicBezTo>
                  <a:pt x="1407961" y="427349"/>
                  <a:pt x="1375528" y="480767"/>
                  <a:pt x="1346911" y="480767"/>
                </a:cubicBezTo>
                <a:lnTo>
                  <a:pt x="1188563" y="480767"/>
                </a:lnTo>
                <a:cubicBezTo>
                  <a:pt x="1205733" y="446426"/>
                  <a:pt x="1215272" y="406363"/>
                  <a:pt x="1215272" y="360575"/>
                </a:cubicBezTo>
                <a:lnTo>
                  <a:pt x="1215272" y="207951"/>
                </a:lnTo>
                <a:cubicBezTo>
                  <a:pt x="1215272" y="162163"/>
                  <a:pt x="1205733" y="122100"/>
                  <a:pt x="1188563" y="87759"/>
                </a:cubicBezTo>
                <a:lnTo>
                  <a:pt x="1346911" y="87759"/>
                </a:lnTo>
                <a:cubicBezTo>
                  <a:pt x="1375528" y="87759"/>
                  <a:pt x="1407961" y="139270"/>
                  <a:pt x="1407961" y="207951"/>
                </a:cubicBezTo>
                <a:lnTo>
                  <a:pt x="1407961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D21CB0E9-B92C-3A4A-B769-17DA7A04C7AC}"/>
              </a:ext>
            </a:extLst>
          </p:cNvPr>
          <p:cNvSpPr/>
          <p:nvPr/>
        </p:nvSpPr>
        <p:spPr>
          <a:xfrm>
            <a:off x="1354003" y="3983734"/>
            <a:ext cx="1041214" cy="570433"/>
          </a:xfrm>
          <a:custGeom>
            <a:avLst/>
            <a:gdLst>
              <a:gd name="connsiteX0" fmla="*/ 894314 w 1041214"/>
              <a:gd name="connsiteY0" fmla="*/ 0 h 570433"/>
              <a:gd name="connsiteX1" fmla="*/ 45340 w 1041214"/>
              <a:gd name="connsiteY1" fmla="*/ 0 h 570433"/>
              <a:gd name="connsiteX2" fmla="*/ 7184 w 1041214"/>
              <a:gd name="connsiteY2" fmla="*/ 22894 h 570433"/>
              <a:gd name="connsiteX3" fmla="*/ 7184 w 1041214"/>
              <a:gd name="connsiteY3" fmla="*/ 66773 h 570433"/>
              <a:gd name="connsiteX4" fmla="*/ 7184 w 1041214"/>
              <a:gd name="connsiteY4" fmla="*/ 501753 h 570433"/>
              <a:gd name="connsiteX5" fmla="*/ 20539 w 1041214"/>
              <a:gd name="connsiteY5" fmla="*/ 562803 h 570433"/>
              <a:gd name="connsiteX6" fmla="*/ 43432 w 1041214"/>
              <a:gd name="connsiteY6" fmla="*/ 570434 h 570433"/>
              <a:gd name="connsiteX7" fmla="*/ 894314 w 1041214"/>
              <a:gd name="connsiteY7" fmla="*/ 570434 h 570433"/>
              <a:gd name="connsiteX8" fmla="*/ 1041215 w 1041214"/>
              <a:gd name="connsiteY8" fmla="*/ 362483 h 570433"/>
              <a:gd name="connsiteX9" fmla="*/ 1041215 w 1041214"/>
              <a:gd name="connsiteY9" fmla="*/ 209859 h 570433"/>
              <a:gd name="connsiteX10" fmla="*/ 894314 w 1041214"/>
              <a:gd name="connsiteY10" fmla="*/ 1908 h 570433"/>
              <a:gd name="connsiteX11" fmla="*/ 955364 w 1041214"/>
              <a:gd name="connsiteY11" fmla="*/ 360575 h 570433"/>
              <a:gd name="connsiteX12" fmla="*/ 894314 w 1041214"/>
              <a:gd name="connsiteY12" fmla="*/ 480767 h 570433"/>
              <a:gd name="connsiteX13" fmla="*/ 115929 w 1041214"/>
              <a:gd name="connsiteY13" fmla="*/ 480767 h 570433"/>
              <a:gd name="connsiteX14" fmla="*/ 150269 w 1041214"/>
              <a:gd name="connsiteY14" fmla="*/ 328143 h 570433"/>
              <a:gd name="connsiteX15" fmla="*/ 774122 w 1041214"/>
              <a:gd name="connsiteY15" fmla="*/ 328143 h 570433"/>
              <a:gd name="connsiteX16" fmla="*/ 818002 w 1041214"/>
              <a:gd name="connsiteY16" fmla="*/ 284263 h 570433"/>
              <a:gd name="connsiteX17" fmla="*/ 774122 w 1041214"/>
              <a:gd name="connsiteY17" fmla="*/ 240384 h 570433"/>
              <a:gd name="connsiteX18" fmla="*/ 150269 w 1041214"/>
              <a:gd name="connsiteY18" fmla="*/ 240384 h 570433"/>
              <a:gd name="connsiteX19" fmla="*/ 115929 w 1041214"/>
              <a:gd name="connsiteY19" fmla="*/ 87759 h 570433"/>
              <a:gd name="connsiteX20" fmla="*/ 894314 w 1041214"/>
              <a:gd name="connsiteY20" fmla="*/ 87759 h 570433"/>
              <a:gd name="connsiteX21" fmla="*/ 955364 w 1041214"/>
              <a:gd name="connsiteY21" fmla="*/ 207951 h 570433"/>
              <a:gd name="connsiteX22" fmla="*/ 955364 w 1041214"/>
              <a:gd name="connsiteY22" fmla="*/ 360575 h 570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41214" h="570433">
                <a:moveTo>
                  <a:pt x="894314" y="0"/>
                </a:moveTo>
                <a:lnTo>
                  <a:pt x="45340" y="0"/>
                </a:lnTo>
                <a:cubicBezTo>
                  <a:pt x="30078" y="0"/>
                  <a:pt x="14815" y="9539"/>
                  <a:pt x="7184" y="22894"/>
                </a:cubicBezTo>
                <a:cubicBezTo>
                  <a:pt x="-447" y="36248"/>
                  <a:pt x="-447" y="53419"/>
                  <a:pt x="7184" y="66773"/>
                </a:cubicBezTo>
                <a:cubicBezTo>
                  <a:pt x="81588" y="185057"/>
                  <a:pt x="81588" y="383469"/>
                  <a:pt x="7184" y="501753"/>
                </a:cubicBezTo>
                <a:cubicBezTo>
                  <a:pt x="-6171" y="522739"/>
                  <a:pt x="-447" y="549448"/>
                  <a:pt x="20539" y="562803"/>
                </a:cubicBezTo>
                <a:cubicBezTo>
                  <a:pt x="28170" y="566618"/>
                  <a:pt x="35801" y="570434"/>
                  <a:pt x="43432" y="570434"/>
                </a:cubicBezTo>
                <a:lnTo>
                  <a:pt x="894314" y="570434"/>
                </a:lnTo>
                <a:cubicBezTo>
                  <a:pt x="976349" y="570434"/>
                  <a:pt x="1041215" y="478859"/>
                  <a:pt x="1041215" y="362483"/>
                </a:cubicBezTo>
                <a:lnTo>
                  <a:pt x="1041215" y="209859"/>
                </a:lnTo>
                <a:cubicBezTo>
                  <a:pt x="1041215" y="93483"/>
                  <a:pt x="976349" y="1908"/>
                  <a:pt x="894314" y="1908"/>
                </a:cubicBezTo>
                <a:close/>
                <a:moveTo>
                  <a:pt x="955364" y="360575"/>
                </a:moveTo>
                <a:cubicBezTo>
                  <a:pt x="955364" y="427349"/>
                  <a:pt x="922931" y="480767"/>
                  <a:pt x="894314" y="480767"/>
                </a:cubicBezTo>
                <a:lnTo>
                  <a:pt x="115929" y="480767"/>
                </a:lnTo>
                <a:cubicBezTo>
                  <a:pt x="135007" y="433072"/>
                  <a:pt x="146454" y="381561"/>
                  <a:pt x="150269" y="328143"/>
                </a:cubicBezTo>
                <a:lnTo>
                  <a:pt x="774122" y="328143"/>
                </a:lnTo>
                <a:cubicBezTo>
                  <a:pt x="798923" y="328143"/>
                  <a:pt x="818002" y="309065"/>
                  <a:pt x="818002" y="284263"/>
                </a:cubicBezTo>
                <a:cubicBezTo>
                  <a:pt x="818002" y="259462"/>
                  <a:pt x="798923" y="240384"/>
                  <a:pt x="774122" y="240384"/>
                </a:cubicBezTo>
                <a:lnTo>
                  <a:pt x="150269" y="240384"/>
                </a:lnTo>
                <a:cubicBezTo>
                  <a:pt x="146454" y="186965"/>
                  <a:pt x="135007" y="135454"/>
                  <a:pt x="115929" y="87759"/>
                </a:cubicBezTo>
                <a:lnTo>
                  <a:pt x="894314" y="87759"/>
                </a:lnTo>
                <a:cubicBezTo>
                  <a:pt x="922931" y="87759"/>
                  <a:pt x="955364" y="139270"/>
                  <a:pt x="955364" y="207951"/>
                </a:cubicBezTo>
                <a:lnTo>
                  <a:pt x="955364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7D4F3068-400A-1AAD-3A7E-E85AD3AB46A7}"/>
              </a:ext>
            </a:extLst>
          </p:cNvPr>
          <p:cNvSpPr/>
          <p:nvPr/>
        </p:nvSpPr>
        <p:spPr>
          <a:xfrm>
            <a:off x="1542647" y="2860037"/>
            <a:ext cx="1764575" cy="1213364"/>
          </a:xfrm>
          <a:custGeom>
            <a:avLst/>
            <a:gdLst>
              <a:gd name="connsiteX0" fmla="*/ 1665296 w 1764575"/>
              <a:gd name="connsiteY0" fmla="*/ 927194 h 1213364"/>
              <a:gd name="connsiteX1" fmla="*/ 1751147 w 1764575"/>
              <a:gd name="connsiteY1" fmla="*/ 717335 h 1213364"/>
              <a:gd name="connsiteX2" fmla="*/ 1751147 w 1764575"/>
              <a:gd name="connsiteY2" fmla="*/ 656285 h 1213364"/>
              <a:gd name="connsiteX3" fmla="*/ 1720622 w 1764575"/>
              <a:gd name="connsiteY3" fmla="*/ 642930 h 1213364"/>
              <a:gd name="connsiteX4" fmla="*/ 1505040 w 1764575"/>
              <a:gd name="connsiteY4" fmla="*/ 642930 h 1213364"/>
              <a:gd name="connsiteX5" fmla="*/ 1505040 w 1764575"/>
              <a:gd name="connsiteY5" fmla="*/ 43880 h 1213364"/>
              <a:gd name="connsiteX6" fmla="*/ 1461161 w 1764575"/>
              <a:gd name="connsiteY6" fmla="*/ 0 h 1213364"/>
              <a:gd name="connsiteX7" fmla="*/ 264966 w 1764575"/>
              <a:gd name="connsiteY7" fmla="*/ 0 h 1213364"/>
              <a:gd name="connsiteX8" fmla="*/ 13136 w 1764575"/>
              <a:gd name="connsiteY8" fmla="*/ 13355 h 1213364"/>
              <a:gd name="connsiteX9" fmla="*/ 7413 w 1764575"/>
              <a:gd name="connsiteY9" fmla="*/ 68681 h 1213364"/>
              <a:gd name="connsiteX10" fmla="*/ 7413 w 1764575"/>
              <a:gd name="connsiteY10" fmla="*/ 662009 h 1213364"/>
              <a:gd name="connsiteX11" fmla="*/ 5505 w 1764575"/>
              <a:gd name="connsiteY11" fmla="*/ 707796 h 1213364"/>
              <a:gd name="connsiteX12" fmla="*/ 43661 w 1764575"/>
              <a:gd name="connsiteY12" fmla="*/ 730690 h 1213364"/>
              <a:gd name="connsiteX13" fmla="*/ 215363 w 1764575"/>
              <a:gd name="connsiteY13" fmla="*/ 730690 h 1213364"/>
              <a:gd name="connsiteX14" fmla="*/ 177207 w 1764575"/>
              <a:gd name="connsiteY14" fmla="*/ 850881 h 1213364"/>
              <a:gd name="connsiteX15" fmla="*/ 177207 w 1764575"/>
              <a:gd name="connsiteY15" fmla="*/ 1005414 h 1213364"/>
              <a:gd name="connsiteX16" fmla="*/ 385158 w 1764575"/>
              <a:gd name="connsiteY16" fmla="*/ 1213364 h 1213364"/>
              <a:gd name="connsiteX17" fmla="*/ 1720622 w 1764575"/>
              <a:gd name="connsiteY17" fmla="*/ 1213364 h 1213364"/>
              <a:gd name="connsiteX18" fmla="*/ 1760686 w 1764575"/>
              <a:gd name="connsiteY18" fmla="*/ 1186655 h 1213364"/>
              <a:gd name="connsiteX19" fmla="*/ 1751147 w 1764575"/>
              <a:gd name="connsiteY19" fmla="*/ 1138960 h 1213364"/>
              <a:gd name="connsiteX20" fmla="*/ 1665296 w 1764575"/>
              <a:gd name="connsiteY20" fmla="*/ 929101 h 1213364"/>
              <a:gd name="connsiteX21" fmla="*/ 160037 w 1764575"/>
              <a:gd name="connsiteY21" fmla="*/ 518923 h 1213364"/>
              <a:gd name="connsiteX22" fmla="*/ 1266565 w 1764575"/>
              <a:gd name="connsiteY22" fmla="*/ 518923 h 1213364"/>
              <a:gd name="connsiteX23" fmla="*/ 1310444 w 1764575"/>
              <a:gd name="connsiteY23" fmla="*/ 475044 h 1213364"/>
              <a:gd name="connsiteX24" fmla="*/ 1266565 w 1764575"/>
              <a:gd name="connsiteY24" fmla="*/ 431164 h 1213364"/>
              <a:gd name="connsiteX25" fmla="*/ 173392 w 1764575"/>
              <a:gd name="connsiteY25" fmla="*/ 431164 h 1213364"/>
              <a:gd name="connsiteX26" fmla="*/ 173392 w 1764575"/>
              <a:gd name="connsiteY26" fmla="*/ 299525 h 1213364"/>
              <a:gd name="connsiteX27" fmla="*/ 1266565 w 1764575"/>
              <a:gd name="connsiteY27" fmla="*/ 299525 h 1213364"/>
              <a:gd name="connsiteX28" fmla="*/ 1310444 w 1764575"/>
              <a:gd name="connsiteY28" fmla="*/ 255646 h 1213364"/>
              <a:gd name="connsiteX29" fmla="*/ 1266565 w 1764575"/>
              <a:gd name="connsiteY29" fmla="*/ 211766 h 1213364"/>
              <a:gd name="connsiteX30" fmla="*/ 160037 w 1764575"/>
              <a:gd name="connsiteY30" fmla="*/ 211766 h 1213364"/>
              <a:gd name="connsiteX31" fmla="*/ 118065 w 1764575"/>
              <a:gd name="connsiteY31" fmla="*/ 87759 h 1213364"/>
              <a:gd name="connsiteX32" fmla="*/ 1417281 w 1764575"/>
              <a:gd name="connsiteY32" fmla="*/ 87759 h 1213364"/>
              <a:gd name="connsiteX33" fmla="*/ 1417281 w 1764575"/>
              <a:gd name="connsiteY33" fmla="*/ 642930 h 1213364"/>
              <a:gd name="connsiteX34" fmla="*/ 118065 w 1764575"/>
              <a:gd name="connsiteY34" fmla="*/ 642930 h 1213364"/>
              <a:gd name="connsiteX35" fmla="*/ 160037 w 1764575"/>
              <a:gd name="connsiteY35" fmla="*/ 518923 h 1213364"/>
              <a:gd name="connsiteX36" fmla="*/ 385158 w 1764575"/>
              <a:gd name="connsiteY36" fmla="*/ 1123698 h 1213364"/>
              <a:gd name="connsiteX37" fmla="*/ 264966 w 1764575"/>
              <a:gd name="connsiteY37" fmla="*/ 1003506 h 1213364"/>
              <a:gd name="connsiteX38" fmla="*/ 264966 w 1764575"/>
              <a:gd name="connsiteY38" fmla="*/ 848973 h 1213364"/>
              <a:gd name="connsiteX39" fmla="*/ 385158 w 1764575"/>
              <a:gd name="connsiteY39" fmla="*/ 728782 h 1213364"/>
              <a:gd name="connsiteX40" fmla="*/ 1632863 w 1764575"/>
              <a:gd name="connsiteY40" fmla="*/ 728782 h 1213364"/>
              <a:gd name="connsiteX41" fmla="*/ 1581353 w 1764575"/>
              <a:gd name="connsiteY41" fmla="*/ 881406 h 1213364"/>
              <a:gd name="connsiteX42" fmla="*/ 484364 w 1764575"/>
              <a:gd name="connsiteY42" fmla="*/ 881406 h 1213364"/>
              <a:gd name="connsiteX43" fmla="*/ 440485 w 1764575"/>
              <a:gd name="connsiteY43" fmla="*/ 925286 h 1213364"/>
              <a:gd name="connsiteX44" fmla="*/ 484364 w 1764575"/>
              <a:gd name="connsiteY44" fmla="*/ 969165 h 1213364"/>
              <a:gd name="connsiteX45" fmla="*/ 1579445 w 1764575"/>
              <a:gd name="connsiteY45" fmla="*/ 969165 h 1213364"/>
              <a:gd name="connsiteX46" fmla="*/ 1630955 w 1764575"/>
              <a:gd name="connsiteY46" fmla="*/ 1121790 h 1213364"/>
              <a:gd name="connsiteX47" fmla="*/ 385158 w 1764575"/>
              <a:gd name="connsiteY47" fmla="*/ 1121790 h 121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764575" h="1213364">
                <a:moveTo>
                  <a:pt x="1665296" y="927194"/>
                </a:moveTo>
                <a:cubicBezTo>
                  <a:pt x="1665296" y="847066"/>
                  <a:pt x="1695821" y="774569"/>
                  <a:pt x="1751147" y="717335"/>
                </a:cubicBezTo>
                <a:cubicBezTo>
                  <a:pt x="1768318" y="700165"/>
                  <a:pt x="1768318" y="673455"/>
                  <a:pt x="1751147" y="656285"/>
                </a:cubicBezTo>
                <a:cubicBezTo>
                  <a:pt x="1743516" y="646746"/>
                  <a:pt x="1732069" y="642930"/>
                  <a:pt x="1720622" y="642930"/>
                </a:cubicBezTo>
                <a:lnTo>
                  <a:pt x="1505040" y="642930"/>
                </a:lnTo>
                <a:lnTo>
                  <a:pt x="1505040" y="43880"/>
                </a:lnTo>
                <a:cubicBezTo>
                  <a:pt x="1505040" y="19078"/>
                  <a:pt x="1485962" y="0"/>
                  <a:pt x="1461161" y="0"/>
                </a:cubicBezTo>
                <a:lnTo>
                  <a:pt x="264966" y="0"/>
                </a:lnTo>
                <a:cubicBezTo>
                  <a:pt x="105983" y="0"/>
                  <a:pt x="22040" y="4452"/>
                  <a:pt x="13136" y="13355"/>
                </a:cubicBezTo>
                <a:cubicBezTo>
                  <a:pt x="-2126" y="28617"/>
                  <a:pt x="-4034" y="51511"/>
                  <a:pt x="7413" y="68681"/>
                </a:cubicBezTo>
                <a:cubicBezTo>
                  <a:pt x="116158" y="232752"/>
                  <a:pt x="116158" y="497937"/>
                  <a:pt x="7413" y="662009"/>
                </a:cubicBezTo>
                <a:cubicBezTo>
                  <a:pt x="-2126" y="675363"/>
                  <a:pt x="-2126" y="692533"/>
                  <a:pt x="5505" y="707796"/>
                </a:cubicBezTo>
                <a:cubicBezTo>
                  <a:pt x="13136" y="721151"/>
                  <a:pt x="28399" y="730690"/>
                  <a:pt x="43661" y="730690"/>
                </a:cubicBezTo>
                <a:lnTo>
                  <a:pt x="215363" y="730690"/>
                </a:lnTo>
                <a:cubicBezTo>
                  <a:pt x="190562" y="765030"/>
                  <a:pt x="177207" y="805094"/>
                  <a:pt x="177207" y="850881"/>
                </a:cubicBezTo>
                <a:lnTo>
                  <a:pt x="177207" y="1005414"/>
                </a:lnTo>
                <a:cubicBezTo>
                  <a:pt x="177207" y="1119882"/>
                  <a:pt x="270690" y="1213364"/>
                  <a:pt x="385158" y="1213364"/>
                </a:cubicBezTo>
                <a:lnTo>
                  <a:pt x="1720622" y="1213364"/>
                </a:lnTo>
                <a:cubicBezTo>
                  <a:pt x="1737793" y="1213364"/>
                  <a:pt x="1754963" y="1203825"/>
                  <a:pt x="1760686" y="1186655"/>
                </a:cubicBezTo>
                <a:cubicBezTo>
                  <a:pt x="1768318" y="1169485"/>
                  <a:pt x="1764502" y="1152315"/>
                  <a:pt x="1751147" y="1138960"/>
                </a:cubicBezTo>
                <a:cubicBezTo>
                  <a:pt x="1695821" y="1083634"/>
                  <a:pt x="1665296" y="1009229"/>
                  <a:pt x="1665296" y="929101"/>
                </a:cubicBezTo>
                <a:close/>
                <a:moveTo>
                  <a:pt x="160037" y="518923"/>
                </a:moveTo>
                <a:lnTo>
                  <a:pt x="1266565" y="518923"/>
                </a:lnTo>
                <a:cubicBezTo>
                  <a:pt x="1291366" y="518923"/>
                  <a:pt x="1310444" y="499845"/>
                  <a:pt x="1310444" y="475044"/>
                </a:cubicBezTo>
                <a:cubicBezTo>
                  <a:pt x="1310444" y="450242"/>
                  <a:pt x="1291366" y="431164"/>
                  <a:pt x="1266565" y="431164"/>
                </a:cubicBezTo>
                <a:lnTo>
                  <a:pt x="173392" y="431164"/>
                </a:lnTo>
                <a:cubicBezTo>
                  <a:pt x="177207" y="387285"/>
                  <a:pt x="177207" y="343405"/>
                  <a:pt x="173392" y="299525"/>
                </a:cubicBezTo>
                <a:lnTo>
                  <a:pt x="1266565" y="299525"/>
                </a:lnTo>
                <a:cubicBezTo>
                  <a:pt x="1291366" y="299525"/>
                  <a:pt x="1310444" y="280447"/>
                  <a:pt x="1310444" y="255646"/>
                </a:cubicBezTo>
                <a:cubicBezTo>
                  <a:pt x="1310444" y="230844"/>
                  <a:pt x="1291366" y="211766"/>
                  <a:pt x="1266565" y="211766"/>
                </a:cubicBezTo>
                <a:lnTo>
                  <a:pt x="160037" y="211766"/>
                </a:lnTo>
                <a:cubicBezTo>
                  <a:pt x="150498" y="167887"/>
                  <a:pt x="137143" y="125915"/>
                  <a:pt x="118065" y="87759"/>
                </a:cubicBezTo>
                <a:lnTo>
                  <a:pt x="1417281" y="87759"/>
                </a:lnTo>
                <a:lnTo>
                  <a:pt x="1417281" y="642930"/>
                </a:lnTo>
                <a:lnTo>
                  <a:pt x="118065" y="642930"/>
                </a:lnTo>
                <a:cubicBezTo>
                  <a:pt x="135236" y="604774"/>
                  <a:pt x="150498" y="562803"/>
                  <a:pt x="160037" y="518923"/>
                </a:cubicBezTo>
                <a:close/>
                <a:moveTo>
                  <a:pt x="385158" y="1123698"/>
                </a:moveTo>
                <a:cubicBezTo>
                  <a:pt x="318385" y="1123698"/>
                  <a:pt x="264966" y="1070279"/>
                  <a:pt x="264966" y="1003506"/>
                </a:cubicBezTo>
                <a:lnTo>
                  <a:pt x="264966" y="848973"/>
                </a:lnTo>
                <a:cubicBezTo>
                  <a:pt x="264966" y="782200"/>
                  <a:pt x="318385" y="728782"/>
                  <a:pt x="385158" y="728782"/>
                </a:cubicBezTo>
                <a:lnTo>
                  <a:pt x="1632863" y="728782"/>
                </a:lnTo>
                <a:cubicBezTo>
                  <a:pt x="1604246" y="774569"/>
                  <a:pt x="1587076" y="827988"/>
                  <a:pt x="1581353" y="881406"/>
                </a:cubicBezTo>
                <a:lnTo>
                  <a:pt x="484364" y="881406"/>
                </a:lnTo>
                <a:cubicBezTo>
                  <a:pt x="459563" y="881406"/>
                  <a:pt x="440485" y="900484"/>
                  <a:pt x="440485" y="925286"/>
                </a:cubicBezTo>
                <a:cubicBezTo>
                  <a:pt x="440485" y="950087"/>
                  <a:pt x="459563" y="969165"/>
                  <a:pt x="484364" y="969165"/>
                </a:cubicBezTo>
                <a:lnTo>
                  <a:pt x="1579445" y="969165"/>
                </a:lnTo>
                <a:cubicBezTo>
                  <a:pt x="1585168" y="1024492"/>
                  <a:pt x="1602338" y="1076002"/>
                  <a:pt x="1630955" y="1121790"/>
                </a:cubicBezTo>
                <a:lnTo>
                  <a:pt x="385158" y="1121790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4C604BF-27CC-0AB6-ED8F-4C46731ADF22}"/>
              </a:ext>
            </a:extLst>
          </p:cNvPr>
          <p:cNvSpPr txBox="1"/>
          <p:nvPr/>
        </p:nvSpPr>
        <p:spPr>
          <a:xfrm>
            <a:off x="4009525" y="2673555"/>
            <a:ext cx="4159290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ES" sz="2000" dirty="0">
                <a:solidFill>
                  <a:schemeClr val="bg1"/>
                </a:solidFill>
              </a:rPr>
              <a:t>HSU, S.; CURRIE, A.; y BERGMAN, S. </a:t>
            </a:r>
            <a:r>
              <a:rPr lang="es-ES" sz="2000" i="1" dirty="0">
                <a:solidFill>
                  <a:schemeClr val="bg1"/>
                </a:solidFill>
              </a:rPr>
              <a:t>Construir software verde: un enfoque sostenible para el desarrollo y la operación de software</a:t>
            </a:r>
            <a:r>
              <a:rPr lang="es-ES" sz="2000" dirty="0">
                <a:solidFill>
                  <a:schemeClr val="bg1"/>
                </a:solidFill>
              </a:rPr>
              <a:t>. Barcelona: Marcombo, 2025.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ED7F5F4-A574-CA23-2CDF-5BDAAF16B18E}"/>
              </a:ext>
            </a:extLst>
          </p:cNvPr>
          <p:cNvSpPr/>
          <p:nvPr/>
        </p:nvSpPr>
        <p:spPr>
          <a:xfrm>
            <a:off x="1446049" y="184224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E4696E-CA28-96BB-4B35-22F4027C4739}"/>
              </a:ext>
            </a:extLst>
          </p:cNvPr>
          <p:cNvSpPr txBox="1"/>
          <p:nvPr/>
        </p:nvSpPr>
        <p:spPr>
          <a:xfrm>
            <a:off x="1355464" y="1193601"/>
            <a:ext cx="7411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es-AR" sz="3600" b="1" dirty="0">
                <a:solidFill>
                  <a:schemeClr val="bg1"/>
                </a:solidFill>
              </a:rPr>
              <a:t>Bibliografía </a:t>
            </a:r>
            <a:r>
              <a:rPr lang="es-AR" sz="3600" dirty="0">
                <a:solidFill>
                  <a:schemeClr val="bg1"/>
                </a:solidFill>
              </a:rPr>
              <a:t>utilizada para este recurso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5C11561-5277-DDC7-0B64-90992CBE1AA7}"/>
              </a:ext>
            </a:extLst>
          </p:cNvPr>
          <p:cNvSpPr/>
          <p:nvPr/>
        </p:nvSpPr>
        <p:spPr>
          <a:xfrm>
            <a:off x="6465665" y="559716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49819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 dirty="0">
                <a:solidFill>
                  <a:schemeClr val="bg1"/>
                </a:solidFill>
                <a:effectLst/>
              </a:rPr>
              <a:t>¡Muchas gracias!</a:t>
            </a:r>
            <a:r>
              <a:rPr lang="es-AR" sz="6600" b="0" i="0" dirty="0">
                <a:solidFill>
                  <a:schemeClr val="bg1"/>
                </a:solidFill>
                <a:effectLst/>
              </a:rPr>
              <a:t>​</a:t>
            </a:r>
            <a:endParaRPr lang="es-AR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9649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IRT - PPT">
      <a:dk1>
        <a:srgbClr val="494847"/>
      </a:dk1>
      <a:lt1>
        <a:srgbClr val="FFFFFF"/>
      </a:lt1>
      <a:dk2>
        <a:srgbClr val="62A730"/>
      </a:dk2>
      <a:lt2>
        <a:srgbClr val="0E1B2B"/>
      </a:lt2>
      <a:accent1>
        <a:srgbClr val="04A4CA"/>
      </a:accent1>
      <a:accent2>
        <a:srgbClr val="9F79AE"/>
      </a:accent2>
      <a:accent3>
        <a:srgbClr val="CC122B"/>
      </a:accent3>
      <a:accent4>
        <a:srgbClr val="E96920"/>
      </a:accent4>
      <a:accent5>
        <a:srgbClr val="F1A20D"/>
      </a:accent5>
      <a:accent6>
        <a:srgbClr val="FFFFFF"/>
      </a:accent6>
      <a:hlink>
        <a:srgbClr val="C9122A"/>
      </a:hlink>
      <a:folHlink>
        <a:srgbClr val="494A49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F098A7DE-A46E-344A-A14C-BAD293D7C40B}"/>
    </a:ext>
  </a:extLst>
</a:theme>
</file>

<file path=ppt/theme/theme2.xml><?xml version="1.0" encoding="utf-8"?>
<a:theme xmlns:a="http://schemas.openxmlformats.org/drawingml/2006/main" name="1_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1BB692B7-E3C2-4F4B-AB4D-F7A92AB8677F}"/>
    </a:ext>
  </a:extLst>
</a:theme>
</file>

<file path=ppt/theme/theme3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8C92D704EFF064BA8390B1F0BCDA6A5" ma:contentTypeVersion="19" ma:contentTypeDescription="Crear nuevo documento." ma:contentTypeScope="" ma:versionID="2ca7b30a8b21261bae43d849cd732259">
  <xsd:schema xmlns:xsd="http://www.w3.org/2001/XMLSchema" xmlns:xs="http://www.w3.org/2001/XMLSchema" xmlns:p="http://schemas.microsoft.com/office/2006/metadata/properties" xmlns:ns2="232756c5-2869-4da6-aa3d-6ef32daae75e" xmlns:ns3="b5f0631a-2ac1-434a-9e75-b23938e5739a" targetNamespace="http://schemas.microsoft.com/office/2006/metadata/properties" ma:root="true" ma:fieldsID="1cf8f755b6fc91a6ab28aee5ac077d21" ns2:_="" ns3:_="">
    <xsd:import namespace="232756c5-2869-4da6-aa3d-6ef32daae75e"/>
    <xsd:import namespace="b5f0631a-2ac1-434a-9e75-b23938e573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2756c5-2869-4da6-aa3d-6ef32daae7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f0631a-2ac1-434a-9e75-b23938e5739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e9c1aa3-7ebd-4368-a771-30b49c08b8be}" ma:internalName="TaxCatchAll" ma:showField="CatchAllData" ma:web="b5f0631a-2ac1-434a-9e75-b23938e573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5f0631a-2ac1-434a-9e75-b23938e5739a" xsi:nil="true"/>
    <lcf76f155ced4ddcb4097134ff3c332f xmlns="232756c5-2869-4da6-aa3d-6ef32daae75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138D084-BA7E-443E-A554-F8A46FD7CBB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2C34BE-D40D-40B4-A303-F89083FD93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2756c5-2869-4da6-aa3d-6ef32daae75e"/>
    <ds:schemaRef ds:uri="b5f0631a-2ac1-434a-9e75-b23938e573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1803CA-FEBB-4A0D-BD4D-E9503F1B167C}">
  <ds:schemaRefs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b5f0631a-2ac1-434a-9e75-b23938e5739a"/>
    <ds:schemaRef ds:uri="232756c5-2869-4da6-aa3d-6ef32daae75e"/>
    <ds:schemaRef ds:uri="http://purl.org/dc/dcmitype/"/>
    <ds:schemaRef ds:uri="http://purl.org/dc/terms/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344979d0-d31d-4c57-8ba0-491aff4acaed}" enabled="0" method="" siteId="{344979d0-d31d-4c57-8ba0-491aff4acae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58</TotalTime>
  <Words>750</Words>
  <Application>Microsoft Office PowerPoint</Application>
  <PresentationFormat>Panorámica</PresentationFormat>
  <Paragraphs>76</Paragraphs>
  <Slides>35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3</vt:i4>
      </vt:variant>
      <vt:variant>
        <vt:lpstr>Títulos de diapositiva</vt:lpstr>
      </vt:variant>
      <vt:variant>
        <vt:i4>35</vt:i4>
      </vt:variant>
    </vt:vector>
  </HeadingPairs>
  <TitlesOfParts>
    <vt:vector size="38" baseType="lpstr">
      <vt:lpstr>Tema de Office</vt:lpstr>
      <vt:lpstr>1_Office Theme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RODRIGUEZ SOFIA MERCEDES</dc:creator>
  <cp:lastModifiedBy>ADDESSO CAMILA</cp:lastModifiedBy>
  <cp:revision>453</cp:revision>
  <dcterms:created xsi:type="dcterms:W3CDTF">2022-08-30T18:57:15Z</dcterms:created>
  <dcterms:modified xsi:type="dcterms:W3CDTF">2025-10-14T18:33:17Z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0x010100D8C92D704EFF064BA8390B1F0BCDA6A5</vt:lpwstr>
  </property>
  <property fmtid="{D5CDD505-2E9C-101B-9397-08002B2CF9AE}" pid="3" name="MediaServiceImageTags">
    <vt:lpwstr/>
  </property>
</Properties>
</file>